
<file path=[Content_Types].xml><?xml version="1.0" encoding="utf-8"?>
<Types xmlns="http://schemas.openxmlformats.org/package/2006/content-types">
  <Default Extension="fntdata" ContentType="application/x-fontdata"/>
  <Default Extension="gif" ContentType="image/gi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Lst>
  <p:sldSz cx="12192000" cy="6858000"/>
  <p:notesSz cx="6858000" cy="12192000"/>
  <p:embeddedFontLst>
    <p:embeddedFont>
      <p:font typeface="Hedvig Letters Sans" panose="020B0604020202020204" charset="0"/>
      <p:regular r:id="rId16"/>
    </p:embeddedFont>
    <p:embeddedFont>
      <p:font typeface="Liter" panose="020B0604020202020204" charset="0"/>
      <p:regular r:id="rId17"/>
    </p:embeddedFont>
    <p:embeddedFont>
      <p:font typeface="Quattrocento Sans" panose="020B0502050000020003" pitchFamily="3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608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laspacciatricedilibri.blogspot.com/2017/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7"/>
        </a:solidFill>
        <a:effectLst/>
      </p:bgPr>
    </p:bg>
    <p:spTree>
      <p:nvGrpSpPr>
        <p:cNvPr id="1" name=""/>
        <p:cNvGrpSpPr/>
        <p:nvPr/>
      </p:nvGrpSpPr>
      <p:grpSpPr>
        <a:xfrm>
          <a:off x="0" y="0"/>
          <a:ext cx="0" cy="0"/>
          <a:chOff x="0" y="0"/>
          <a:chExt cx="0" cy="0"/>
        </a:xfrm>
      </p:grpSpPr>
      <p:pic>
        <p:nvPicPr>
          <p:cNvPr id="2" name="Image 0" descr="https://kimi-web-img.moonshot.cn/img/imgcdn.stablediffusionweb.com/5e3dd1e2131a2bb97f143adc155fb92e8f6dea9a.jpg"/>
          <p:cNvPicPr>
            <a:picLocks noChangeAspect="1"/>
          </p:cNvPicPr>
          <p:nvPr/>
        </p:nvPicPr>
        <p:blipFill>
          <a:blip r:embed="rId3">
            <a:alphaModFix amt="20000"/>
          </a:blip>
          <a:srcRect t="13839" b="13839"/>
          <a:stretch/>
        </p:blipFill>
        <p:spPr>
          <a:xfrm>
            <a:off x="0" y="0"/>
            <a:ext cx="12192000" cy="6858000"/>
          </a:xfrm>
          <a:prstGeom prst="roundRect">
            <a:avLst>
              <a:gd name="adj" fmla="val 0"/>
            </a:avLst>
          </a:prstGeom>
        </p:spPr>
      </p:pic>
      <p:sp>
        <p:nvSpPr>
          <p:cNvPr id="3" name="Shape 0"/>
          <p:cNvSpPr/>
          <p:nvPr/>
        </p:nvSpPr>
        <p:spPr>
          <a:xfrm>
            <a:off x="12700" y="1270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F5F5F7">
                  <a:alpha val="90000"/>
                </a:srgbClr>
              </a:gs>
              <a:gs pos="50000">
                <a:srgbClr val="F5F5F7">
                  <a:alpha val="70000"/>
                </a:srgbClr>
              </a:gs>
              <a:gs pos="100000">
                <a:srgbClr val="000000">
                  <a:alpha val="0"/>
                </a:srgbClr>
              </a:gs>
            </a:gsLst>
            <a:lin ang="2700000" scaled="1"/>
          </a:gradFill>
          <a:ln/>
        </p:spPr>
      </p:sp>
      <p:sp>
        <p:nvSpPr>
          <p:cNvPr id="4" name="Shape 1"/>
          <p:cNvSpPr/>
          <p:nvPr/>
        </p:nvSpPr>
        <p:spPr>
          <a:xfrm>
            <a:off x="5046941" y="1124902"/>
            <a:ext cx="2093595" cy="502920"/>
          </a:xfrm>
          <a:custGeom>
            <a:avLst/>
            <a:gdLst/>
            <a:ahLst/>
            <a:cxnLst/>
            <a:rect l="l" t="t" r="r" b="b"/>
            <a:pathLst>
              <a:path w="2093595" h="502920">
                <a:moveTo>
                  <a:pt x="251460" y="0"/>
                </a:moveTo>
                <a:lnTo>
                  <a:pt x="1842135" y="0"/>
                </a:lnTo>
                <a:cubicBezTo>
                  <a:pt x="1981013" y="0"/>
                  <a:pt x="2093595" y="112582"/>
                  <a:pt x="2093595" y="251460"/>
                </a:cubicBezTo>
                <a:lnTo>
                  <a:pt x="2093595" y="251460"/>
                </a:lnTo>
                <a:cubicBezTo>
                  <a:pt x="2093595" y="390338"/>
                  <a:pt x="1981013" y="502920"/>
                  <a:pt x="1842135" y="502920"/>
                </a:cubicBezTo>
                <a:lnTo>
                  <a:pt x="251460" y="502920"/>
                </a:lnTo>
                <a:cubicBezTo>
                  <a:pt x="112675" y="502920"/>
                  <a:pt x="0" y="390245"/>
                  <a:pt x="0" y="251460"/>
                </a:cubicBezTo>
                <a:lnTo>
                  <a:pt x="0" y="251460"/>
                </a:lnTo>
                <a:cubicBezTo>
                  <a:pt x="0" y="112675"/>
                  <a:pt x="112675" y="0"/>
                  <a:pt x="251460" y="0"/>
                </a:cubicBezTo>
                <a:close/>
              </a:path>
            </a:pathLst>
          </a:custGeom>
          <a:solidFill>
            <a:srgbClr val="FFFFFF">
              <a:alpha val="90196"/>
            </a:srgbClr>
          </a:solidFill>
          <a:ln w="10160">
            <a:solidFill>
              <a:srgbClr val="FFFFFF">
                <a:alpha val="50196"/>
              </a:srgbClr>
            </a:solidFill>
            <a:prstDash val="solid"/>
          </a:ln>
          <a:effectLst>
            <a:outerShdw blurRad="142875" dist="95250" dir="5400000" algn="bl" rotWithShape="0">
              <a:srgbClr val="000000">
                <a:alpha val="10196"/>
              </a:srgbClr>
            </a:outerShdw>
          </a:effectLst>
        </p:spPr>
      </p:sp>
      <p:sp>
        <p:nvSpPr>
          <p:cNvPr id="5" name="Shape 2"/>
          <p:cNvSpPr/>
          <p:nvPr/>
        </p:nvSpPr>
        <p:spPr>
          <a:xfrm>
            <a:off x="5307925" y="1262063"/>
            <a:ext cx="228600" cy="228600"/>
          </a:xfrm>
          <a:custGeom>
            <a:avLst/>
            <a:gdLst/>
            <a:ahLst/>
            <a:cxnLst/>
            <a:rect l="l" t="t" r="r" b="b"/>
            <a:pathLst>
              <a:path w="228600" h="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0071E3"/>
          </a:solidFill>
          <a:ln/>
        </p:spPr>
      </p:sp>
      <p:sp>
        <p:nvSpPr>
          <p:cNvPr id="6" name="Text 3"/>
          <p:cNvSpPr/>
          <p:nvPr/>
        </p:nvSpPr>
        <p:spPr>
          <a:xfrm>
            <a:off x="5636538" y="1243013"/>
            <a:ext cx="1314450" cy="266700"/>
          </a:xfrm>
          <a:prstGeom prst="rect">
            <a:avLst/>
          </a:prstGeom>
          <a:noFill/>
          <a:ln/>
        </p:spPr>
        <p:txBody>
          <a:bodyPr wrap="square" lIns="0" tIns="0" rIns="0" bIns="0" rtlCol="0" anchor="ctr"/>
          <a:lstStyle/>
          <a:p>
            <a:pPr algn="ctr">
              <a:lnSpc>
                <a:spcPct val="130000"/>
              </a:lnSpc>
            </a:pPr>
            <a:r>
              <a:rPr lang="en-US" sz="1350" kern="0" spc="34" dirty="0">
                <a:solidFill>
                  <a:srgbClr val="86868B"/>
                </a:solidFill>
                <a:latin typeface="Liter" pitchFamily="34" charset="0"/>
                <a:ea typeface="Liter" pitchFamily="34" charset="-122"/>
                <a:cs typeface="Liter" pitchFamily="34" charset="-120"/>
              </a:rPr>
              <a:t>NLP POWERED</a:t>
            </a:r>
            <a:endParaRPr lang="en-US" sz="1600" dirty="0"/>
          </a:p>
        </p:txBody>
      </p:sp>
      <p:sp>
        <p:nvSpPr>
          <p:cNvPr id="7" name="Text 4"/>
          <p:cNvSpPr/>
          <p:nvPr/>
        </p:nvSpPr>
        <p:spPr>
          <a:xfrm>
            <a:off x="2666524" y="1936433"/>
            <a:ext cx="6858000" cy="2286000"/>
          </a:xfrm>
          <a:prstGeom prst="rect">
            <a:avLst/>
          </a:prstGeom>
          <a:noFill/>
          <a:ln/>
        </p:spPr>
        <p:txBody>
          <a:bodyPr wrap="square" lIns="0" tIns="0" rIns="0" bIns="0" rtlCol="0" anchor="ctr"/>
          <a:lstStyle/>
          <a:p>
            <a:pPr algn="ctr">
              <a:lnSpc>
                <a:spcPct val="100000"/>
              </a:lnSpc>
            </a:pPr>
            <a:r>
              <a:rPr lang="en-US" sz="7200" b="1" dirty="0">
                <a:solidFill>
                  <a:srgbClr val="1D1D1F"/>
                </a:solidFill>
                <a:latin typeface="Liter" pitchFamily="34" charset="0"/>
                <a:ea typeface="Liter" pitchFamily="34" charset="-122"/>
                <a:cs typeface="Liter" pitchFamily="34" charset="-120"/>
              </a:rPr>
              <a:t>AI Text Analysis</a:t>
            </a:r>
            <a:endParaRPr lang="en-US" sz="1600" dirty="0"/>
          </a:p>
          <a:p>
            <a:pPr algn="ctr">
              <a:lnSpc>
                <a:spcPct val="100000"/>
              </a:lnSpc>
            </a:pPr>
            <a:r>
              <a:rPr lang="en-US" sz="7200" b="1" dirty="0">
                <a:solidFill>
                  <a:srgbClr val="1D1D1F"/>
                </a:solidFill>
                <a:latin typeface="Liter" pitchFamily="34" charset="0"/>
                <a:ea typeface="Liter" pitchFamily="34" charset="-122"/>
                <a:cs typeface="Liter" pitchFamily="34" charset="-120"/>
              </a:rPr>
              <a:t>Platform</a:t>
            </a:r>
            <a:endParaRPr lang="en-US" sz="1600" dirty="0"/>
          </a:p>
        </p:txBody>
      </p:sp>
      <p:sp>
        <p:nvSpPr>
          <p:cNvPr id="8" name="Text 5"/>
          <p:cNvSpPr/>
          <p:nvPr/>
        </p:nvSpPr>
        <p:spPr>
          <a:xfrm>
            <a:off x="2442924" y="4451033"/>
            <a:ext cx="7305675" cy="371475"/>
          </a:xfrm>
          <a:prstGeom prst="rect">
            <a:avLst/>
          </a:prstGeom>
          <a:noFill/>
          <a:ln/>
        </p:spPr>
        <p:txBody>
          <a:bodyPr wrap="square" lIns="0" tIns="0" rIns="0" bIns="0" rtlCol="0" anchor="ctr"/>
          <a:lstStyle/>
          <a:p>
            <a:pPr algn="ctr">
              <a:lnSpc>
                <a:spcPct val="140000"/>
              </a:lnSpc>
            </a:pPr>
            <a:r>
              <a:rPr lang="en-US" sz="1800" dirty="0">
                <a:solidFill>
                  <a:srgbClr val="86868B"/>
                </a:solidFill>
                <a:latin typeface="Hedvig Letters Sans" pitchFamily="34" charset="0"/>
                <a:ea typeface="Hedvig Letters Sans" pitchFamily="34" charset="-122"/>
                <a:cs typeface="Hedvig Letters Sans" pitchFamily="34" charset="-120"/>
              </a:rPr>
              <a:t>Professional NLP Dashboard for Topic Modeling &amp; Sentiment Analysis</a:t>
            </a:r>
            <a:endParaRPr lang="en-US" sz="1600" dirty="0"/>
          </a:p>
        </p:txBody>
      </p:sp>
      <p:sp>
        <p:nvSpPr>
          <p:cNvPr id="9" name="Shape 6"/>
          <p:cNvSpPr/>
          <p:nvPr/>
        </p:nvSpPr>
        <p:spPr>
          <a:xfrm>
            <a:off x="3383042" y="5279707"/>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10196"/>
            </a:srgbClr>
          </a:solidFill>
          <a:ln/>
        </p:spPr>
      </p:sp>
      <p:sp>
        <p:nvSpPr>
          <p:cNvPr id="10" name="Shape 7"/>
          <p:cNvSpPr/>
          <p:nvPr/>
        </p:nvSpPr>
        <p:spPr>
          <a:xfrm>
            <a:off x="3516392" y="5413057"/>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0071E3"/>
          </a:solidFill>
          <a:ln/>
        </p:spPr>
      </p:sp>
      <p:sp>
        <p:nvSpPr>
          <p:cNvPr id="11" name="Text 8"/>
          <p:cNvSpPr/>
          <p:nvPr/>
        </p:nvSpPr>
        <p:spPr>
          <a:xfrm>
            <a:off x="3916442" y="5394007"/>
            <a:ext cx="1381125" cy="228600"/>
          </a:xfrm>
          <a:prstGeom prst="rect">
            <a:avLst/>
          </a:prstGeom>
          <a:noFill/>
          <a:ln/>
        </p:spPr>
        <p:txBody>
          <a:bodyPr wrap="square" lIns="0" tIns="0" rIns="0" bIns="0" rtlCol="0" anchor="ctr"/>
          <a:lstStyle/>
          <a:p>
            <a:pPr algn="ctr">
              <a:lnSpc>
                <a:spcPct val="130000"/>
              </a:lnSpc>
            </a:pPr>
            <a:r>
              <a:rPr lang="en-US" sz="1200" dirty="0">
                <a:solidFill>
                  <a:srgbClr val="86868B"/>
                </a:solidFill>
                <a:latin typeface="Liter" pitchFamily="34" charset="0"/>
                <a:ea typeface="Liter" pitchFamily="34" charset="-122"/>
                <a:cs typeface="Liter" pitchFamily="34" charset="-120"/>
              </a:rPr>
              <a:t>Real-time Analytics</a:t>
            </a:r>
            <a:endParaRPr lang="en-US" sz="1600" dirty="0"/>
          </a:p>
        </p:txBody>
      </p:sp>
      <p:sp>
        <p:nvSpPr>
          <p:cNvPr id="12" name="Shape 9"/>
          <p:cNvSpPr/>
          <p:nvPr/>
        </p:nvSpPr>
        <p:spPr>
          <a:xfrm>
            <a:off x="5561172" y="5279707"/>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10196"/>
            </a:srgbClr>
          </a:solidFill>
          <a:ln/>
        </p:spPr>
      </p:sp>
      <p:sp>
        <p:nvSpPr>
          <p:cNvPr id="13" name="Shape 10"/>
          <p:cNvSpPr/>
          <p:nvPr/>
        </p:nvSpPr>
        <p:spPr>
          <a:xfrm>
            <a:off x="5670709" y="5413057"/>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0071E3"/>
          </a:solidFill>
          <a:ln/>
        </p:spPr>
      </p:sp>
      <p:sp>
        <p:nvSpPr>
          <p:cNvPr id="14" name="Text 11"/>
          <p:cNvSpPr/>
          <p:nvPr/>
        </p:nvSpPr>
        <p:spPr>
          <a:xfrm>
            <a:off x="6094572" y="5394007"/>
            <a:ext cx="923925" cy="228600"/>
          </a:xfrm>
          <a:prstGeom prst="rect">
            <a:avLst/>
          </a:prstGeom>
          <a:noFill/>
          <a:ln/>
        </p:spPr>
        <p:txBody>
          <a:bodyPr wrap="square" lIns="0" tIns="0" rIns="0" bIns="0" rtlCol="0" anchor="ctr"/>
          <a:lstStyle/>
          <a:p>
            <a:pPr algn="ctr">
              <a:lnSpc>
                <a:spcPct val="130000"/>
              </a:lnSpc>
            </a:pPr>
            <a:r>
              <a:rPr lang="en-US" sz="1200" dirty="0">
                <a:solidFill>
                  <a:srgbClr val="86868B"/>
                </a:solidFill>
                <a:latin typeface="Liter" pitchFamily="34" charset="0"/>
                <a:ea typeface="Liter" pitchFamily="34" charset="-122"/>
                <a:cs typeface="Liter" pitchFamily="34" charset="-120"/>
              </a:rPr>
              <a:t>ML Powered</a:t>
            </a:r>
            <a:endParaRPr lang="en-US" sz="1600" dirty="0"/>
          </a:p>
        </p:txBody>
      </p:sp>
      <p:sp>
        <p:nvSpPr>
          <p:cNvPr id="15" name="Shape 12"/>
          <p:cNvSpPr/>
          <p:nvPr/>
        </p:nvSpPr>
        <p:spPr>
          <a:xfrm>
            <a:off x="7285077" y="5279707"/>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10196"/>
            </a:srgbClr>
          </a:solidFill>
          <a:ln/>
        </p:spPr>
      </p:sp>
      <p:sp>
        <p:nvSpPr>
          <p:cNvPr id="16" name="Shape 13"/>
          <p:cNvSpPr/>
          <p:nvPr/>
        </p:nvSpPr>
        <p:spPr>
          <a:xfrm>
            <a:off x="7418427" y="5413057"/>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0071E3"/>
          </a:solidFill>
          <a:ln/>
        </p:spPr>
      </p:sp>
      <p:sp>
        <p:nvSpPr>
          <p:cNvPr id="17" name="Text 14"/>
          <p:cNvSpPr/>
          <p:nvPr/>
        </p:nvSpPr>
        <p:spPr>
          <a:xfrm>
            <a:off x="7818477" y="5394007"/>
            <a:ext cx="1028700" cy="228600"/>
          </a:xfrm>
          <a:prstGeom prst="rect">
            <a:avLst/>
          </a:prstGeom>
          <a:noFill/>
          <a:ln/>
        </p:spPr>
        <p:txBody>
          <a:bodyPr wrap="square" lIns="0" tIns="0" rIns="0" bIns="0" rtlCol="0" anchor="ctr"/>
          <a:lstStyle/>
          <a:p>
            <a:pPr algn="ctr">
              <a:lnSpc>
                <a:spcPct val="130000"/>
              </a:lnSpc>
            </a:pPr>
            <a:r>
              <a:rPr lang="en-US" sz="1200" dirty="0">
                <a:solidFill>
                  <a:srgbClr val="86868B"/>
                </a:solidFill>
                <a:latin typeface="Liter" pitchFamily="34" charset="0"/>
                <a:ea typeface="Liter" pitchFamily="34" charset="-122"/>
                <a:cs typeface="Liter" pitchFamily="34" charset="-120"/>
              </a:rPr>
              <a:t>Web Interface</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Navigation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Overview</a:t>
            </a:r>
            <a:endParaRPr lang="en-US" sz="1600" dirty="0"/>
          </a:p>
        </p:txBody>
      </p:sp>
      <p:sp>
        <p:nvSpPr>
          <p:cNvPr id="4" name="Shape 2"/>
          <p:cNvSpPr/>
          <p:nvPr/>
        </p:nvSpPr>
        <p:spPr>
          <a:xfrm>
            <a:off x="384810" y="1413510"/>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617220" y="164592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6" name="Text 4"/>
          <p:cNvSpPr/>
          <p:nvPr/>
        </p:nvSpPr>
        <p:spPr>
          <a:xfrm>
            <a:off x="560070" y="164592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303020" y="1645920"/>
            <a:ext cx="38195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Project Overview</a:t>
            </a:r>
            <a:endParaRPr lang="en-US" sz="1600" dirty="0"/>
          </a:p>
        </p:txBody>
      </p:sp>
      <p:sp>
        <p:nvSpPr>
          <p:cNvPr id="8" name="Text 6"/>
          <p:cNvSpPr/>
          <p:nvPr/>
        </p:nvSpPr>
        <p:spPr>
          <a:xfrm>
            <a:off x="1303020" y="1988820"/>
            <a:ext cx="380047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AI-driven text analytics system objectives and outcomes</a:t>
            </a:r>
            <a:endParaRPr lang="en-US" sz="1600" dirty="0"/>
          </a:p>
        </p:txBody>
      </p:sp>
      <p:sp>
        <p:nvSpPr>
          <p:cNvPr id="9" name="Shape 7"/>
          <p:cNvSpPr/>
          <p:nvPr/>
        </p:nvSpPr>
        <p:spPr>
          <a:xfrm>
            <a:off x="384810" y="2628900"/>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10" name="Shape 8"/>
          <p:cNvSpPr/>
          <p:nvPr/>
        </p:nvSpPr>
        <p:spPr>
          <a:xfrm>
            <a:off x="617220" y="286131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11" name="Text 9"/>
          <p:cNvSpPr/>
          <p:nvPr/>
        </p:nvSpPr>
        <p:spPr>
          <a:xfrm>
            <a:off x="560070" y="286131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02</a:t>
            </a:r>
            <a:endParaRPr lang="en-US" sz="1600" dirty="0"/>
          </a:p>
        </p:txBody>
      </p:sp>
      <p:sp>
        <p:nvSpPr>
          <p:cNvPr id="12" name="Text 10"/>
          <p:cNvSpPr/>
          <p:nvPr/>
        </p:nvSpPr>
        <p:spPr>
          <a:xfrm>
            <a:off x="1303020" y="2861310"/>
            <a:ext cx="27527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Dataset &amp; Key Insights</a:t>
            </a:r>
            <a:endParaRPr lang="en-US" sz="1600" dirty="0"/>
          </a:p>
        </p:txBody>
      </p:sp>
      <p:sp>
        <p:nvSpPr>
          <p:cNvPr id="13" name="Text 11"/>
          <p:cNvSpPr/>
          <p:nvPr/>
        </p:nvSpPr>
        <p:spPr>
          <a:xfrm>
            <a:off x="1303020" y="3204210"/>
            <a:ext cx="273367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Data composition and analytical findings</a:t>
            </a:r>
            <a:endParaRPr lang="en-US" sz="1600" dirty="0"/>
          </a:p>
        </p:txBody>
      </p:sp>
      <p:sp>
        <p:nvSpPr>
          <p:cNvPr id="14" name="Shape 12"/>
          <p:cNvSpPr/>
          <p:nvPr/>
        </p:nvSpPr>
        <p:spPr>
          <a:xfrm>
            <a:off x="384810" y="3844291"/>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15" name="Shape 13"/>
          <p:cNvSpPr/>
          <p:nvPr/>
        </p:nvSpPr>
        <p:spPr>
          <a:xfrm>
            <a:off x="617220" y="40767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16" name="Text 14"/>
          <p:cNvSpPr/>
          <p:nvPr/>
        </p:nvSpPr>
        <p:spPr>
          <a:xfrm>
            <a:off x="560070" y="40767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03</a:t>
            </a:r>
            <a:endParaRPr lang="en-US" sz="1600" dirty="0"/>
          </a:p>
        </p:txBody>
      </p:sp>
      <p:sp>
        <p:nvSpPr>
          <p:cNvPr id="17" name="Text 15"/>
          <p:cNvSpPr/>
          <p:nvPr/>
        </p:nvSpPr>
        <p:spPr>
          <a:xfrm>
            <a:off x="1303020" y="4076700"/>
            <a:ext cx="29051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Data Processing Pipeline</a:t>
            </a:r>
            <a:endParaRPr lang="en-US" sz="1600" dirty="0"/>
          </a:p>
        </p:txBody>
      </p:sp>
      <p:sp>
        <p:nvSpPr>
          <p:cNvPr id="18" name="Text 16"/>
          <p:cNvSpPr/>
          <p:nvPr/>
        </p:nvSpPr>
        <p:spPr>
          <a:xfrm>
            <a:off x="1303020" y="4419600"/>
            <a:ext cx="288607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EDA, preprocessing, and feature extraction</a:t>
            </a:r>
            <a:endParaRPr lang="en-US" sz="1600" dirty="0"/>
          </a:p>
        </p:txBody>
      </p:sp>
      <p:sp>
        <p:nvSpPr>
          <p:cNvPr id="19" name="Shape 17"/>
          <p:cNvSpPr/>
          <p:nvPr/>
        </p:nvSpPr>
        <p:spPr>
          <a:xfrm>
            <a:off x="384810" y="5059680"/>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20" name="Shape 18"/>
          <p:cNvSpPr/>
          <p:nvPr/>
        </p:nvSpPr>
        <p:spPr>
          <a:xfrm>
            <a:off x="617220" y="529209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21" name="Text 19"/>
          <p:cNvSpPr/>
          <p:nvPr/>
        </p:nvSpPr>
        <p:spPr>
          <a:xfrm>
            <a:off x="560070" y="529209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04</a:t>
            </a:r>
            <a:endParaRPr lang="en-US" sz="1600" dirty="0"/>
          </a:p>
        </p:txBody>
      </p:sp>
      <p:sp>
        <p:nvSpPr>
          <p:cNvPr id="22" name="Text 20"/>
          <p:cNvSpPr/>
          <p:nvPr/>
        </p:nvSpPr>
        <p:spPr>
          <a:xfrm>
            <a:off x="1303020" y="5292090"/>
            <a:ext cx="28670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Model Architecture</a:t>
            </a:r>
            <a:endParaRPr lang="en-US" sz="1600" dirty="0"/>
          </a:p>
        </p:txBody>
      </p:sp>
      <p:sp>
        <p:nvSpPr>
          <p:cNvPr id="23" name="Text 21"/>
          <p:cNvSpPr/>
          <p:nvPr/>
        </p:nvSpPr>
        <p:spPr>
          <a:xfrm>
            <a:off x="1303020" y="5634990"/>
            <a:ext cx="284797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System design and component integration</a:t>
            </a:r>
            <a:endParaRPr lang="en-US" sz="1600" dirty="0"/>
          </a:p>
        </p:txBody>
      </p:sp>
      <p:sp>
        <p:nvSpPr>
          <p:cNvPr id="24" name="Shape 22"/>
          <p:cNvSpPr/>
          <p:nvPr/>
        </p:nvSpPr>
        <p:spPr>
          <a:xfrm>
            <a:off x="6214110" y="1413510"/>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25" name="Shape 23"/>
          <p:cNvSpPr/>
          <p:nvPr/>
        </p:nvSpPr>
        <p:spPr>
          <a:xfrm>
            <a:off x="6446520" y="164592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26" name="Text 24"/>
          <p:cNvSpPr/>
          <p:nvPr/>
        </p:nvSpPr>
        <p:spPr>
          <a:xfrm>
            <a:off x="6389370" y="164592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05</a:t>
            </a:r>
            <a:endParaRPr lang="en-US" sz="1600" dirty="0"/>
          </a:p>
        </p:txBody>
      </p:sp>
      <p:sp>
        <p:nvSpPr>
          <p:cNvPr id="27" name="Text 25"/>
          <p:cNvSpPr/>
          <p:nvPr/>
        </p:nvSpPr>
        <p:spPr>
          <a:xfrm>
            <a:off x="7132320" y="1645920"/>
            <a:ext cx="329565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Training &amp; Evaluation</a:t>
            </a:r>
            <a:endParaRPr lang="en-US" sz="1600" dirty="0"/>
          </a:p>
        </p:txBody>
      </p:sp>
      <p:sp>
        <p:nvSpPr>
          <p:cNvPr id="28" name="Text 26"/>
          <p:cNvSpPr/>
          <p:nvPr/>
        </p:nvSpPr>
        <p:spPr>
          <a:xfrm>
            <a:off x="7132320" y="1988820"/>
            <a:ext cx="327660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Model training process and performance metrics</a:t>
            </a:r>
            <a:endParaRPr lang="en-US" sz="1600" dirty="0"/>
          </a:p>
        </p:txBody>
      </p:sp>
      <p:sp>
        <p:nvSpPr>
          <p:cNvPr id="29" name="Shape 27"/>
          <p:cNvSpPr/>
          <p:nvPr/>
        </p:nvSpPr>
        <p:spPr>
          <a:xfrm>
            <a:off x="6214110" y="2628900"/>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30" name="Shape 28"/>
          <p:cNvSpPr/>
          <p:nvPr/>
        </p:nvSpPr>
        <p:spPr>
          <a:xfrm>
            <a:off x="6446520" y="286131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31" name="Text 29"/>
          <p:cNvSpPr/>
          <p:nvPr/>
        </p:nvSpPr>
        <p:spPr>
          <a:xfrm>
            <a:off x="6389370" y="286131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06</a:t>
            </a:r>
            <a:endParaRPr lang="en-US" sz="1600" dirty="0"/>
          </a:p>
        </p:txBody>
      </p:sp>
      <p:sp>
        <p:nvSpPr>
          <p:cNvPr id="32" name="Text 30"/>
          <p:cNvSpPr/>
          <p:nvPr/>
        </p:nvSpPr>
        <p:spPr>
          <a:xfrm>
            <a:off x="7132320" y="2861310"/>
            <a:ext cx="360997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Results &amp; Impact</a:t>
            </a:r>
            <a:endParaRPr lang="en-US" sz="1600" dirty="0"/>
          </a:p>
        </p:txBody>
      </p:sp>
      <p:sp>
        <p:nvSpPr>
          <p:cNvPr id="33" name="Text 31"/>
          <p:cNvSpPr/>
          <p:nvPr/>
        </p:nvSpPr>
        <p:spPr>
          <a:xfrm>
            <a:off x="7132320" y="3204210"/>
            <a:ext cx="35909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Successful outcomes and performance achievements</a:t>
            </a:r>
            <a:endParaRPr lang="en-US" sz="1600" dirty="0"/>
          </a:p>
        </p:txBody>
      </p:sp>
      <p:sp>
        <p:nvSpPr>
          <p:cNvPr id="34" name="Shape 32"/>
          <p:cNvSpPr/>
          <p:nvPr/>
        </p:nvSpPr>
        <p:spPr>
          <a:xfrm>
            <a:off x="6214110" y="3844291"/>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35" name="Shape 33"/>
          <p:cNvSpPr/>
          <p:nvPr/>
        </p:nvSpPr>
        <p:spPr>
          <a:xfrm>
            <a:off x="6446520" y="40767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36" name="Text 34"/>
          <p:cNvSpPr/>
          <p:nvPr/>
        </p:nvSpPr>
        <p:spPr>
          <a:xfrm>
            <a:off x="6389370" y="40767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07</a:t>
            </a:r>
            <a:endParaRPr lang="en-US" sz="1600" dirty="0"/>
          </a:p>
        </p:txBody>
      </p:sp>
      <p:sp>
        <p:nvSpPr>
          <p:cNvPr id="37" name="Text 35"/>
          <p:cNvSpPr/>
          <p:nvPr/>
        </p:nvSpPr>
        <p:spPr>
          <a:xfrm>
            <a:off x="7132320" y="4076700"/>
            <a:ext cx="258127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User Interface</a:t>
            </a:r>
            <a:endParaRPr lang="en-US" sz="1600" dirty="0"/>
          </a:p>
        </p:txBody>
      </p:sp>
      <p:sp>
        <p:nvSpPr>
          <p:cNvPr id="38" name="Text 36"/>
          <p:cNvSpPr/>
          <p:nvPr/>
        </p:nvSpPr>
        <p:spPr>
          <a:xfrm>
            <a:off x="7132320" y="4419600"/>
            <a:ext cx="25622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Interactive web application showcase</a:t>
            </a:r>
            <a:endParaRPr lang="en-US" sz="1600" dirty="0"/>
          </a:p>
        </p:txBody>
      </p:sp>
      <p:sp>
        <p:nvSpPr>
          <p:cNvPr id="39" name="Shape 37"/>
          <p:cNvSpPr/>
          <p:nvPr/>
        </p:nvSpPr>
        <p:spPr>
          <a:xfrm>
            <a:off x="6214110" y="5059680"/>
            <a:ext cx="5589270" cy="1055370"/>
          </a:xfrm>
          <a:custGeom>
            <a:avLst/>
            <a:gdLst/>
            <a:ahLst/>
            <a:cxnLst/>
            <a:rect l="l" t="t" r="r" b="b"/>
            <a:pathLst>
              <a:path w="5589270" h="1055370">
                <a:moveTo>
                  <a:pt x="228604" y="0"/>
                </a:moveTo>
                <a:lnTo>
                  <a:pt x="5360666" y="0"/>
                </a:lnTo>
                <a:cubicBezTo>
                  <a:pt x="5486921" y="0"/>
                  <a:pt x="5589270" y="102349"/>
                  <a:pt x="5589270" y="228604"/>
                </a:cubicBezTo>
                <a:lnTo>
                  <a:pt x="5589270" y="826766"/>
                </a:lnTo>
                <a:cubicBezTo>
                  <a:pt x="5589270" y="953021"/>
                  <a:pt x="5486921" y="1055370"/>
                  <a:pt x="5360666" y="1055370"/>
                </a:cubicBezTo>
                <a:lnTo>
                  <a:pt x="228604" y="1055370"/>
                </a:lnTo>
                <a:cubicBezTo>
                  <a:pt x="102349" y="1055370"/>
                  <a:pt x="0" y="953021"/>
                  <a:pt x="0" y="826766"/>
                </a:cubicBezTo>
                <a:lnTo>
                  <a:pt x="0" y="228604"/>
                </a:lnTo>
                <a:cubicBezTo>
                  <a:pt x="0" y="102434"/>
                  <a:pt x="102434" y="0"/>
                  <a:pt x="228604" y="0"/>
                </a:cubicBezTo>
                <a:close/>
              </a:path>
            </a:pathLst>
          </a:custGeom>
          <a:solidFill>
            <a:srgbClr val="FFFFFF">
              <a:alpha val="85098"/>
            </a:srgbClr>
          </a:solidFill>
          <a:ln w="10160">
            <a:solidFill>
              <a:srgbClr val="FFFFFF">
                <a:alpha val="30196"/>
              </a:srgbClr>
            </a:solidFill>
            <a:prstDash val="solid"/>
          </a:ln>
        </p:spPr>
      </p:sp>
      <p:sp>
        <p:nvSpPr>
          <p:cNvPr id="40" name="Shape 38"/>
          <p:cNvSpPr/>
          <p:nvPr/>
        </p:nvSpPr>
        <p:spPr>
          <a:xfrm>
            <a:off x="6446520" y="529209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solidFill>
          <a:ln/>
        </p:spPr>
      </p:sp>
      <p:sp>
        <p:nvSpPr>
          <p:cNvPr id="41" name="Text 39"/>
          <p:cNvSpPr/>
          <p:nvPr/>
        </p:nvSpPr>
        <p:spPr>
          <a:xfrm>
            <a:off x="6389370" y="529209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08</a:t>
            </a:r>
            <a:endParaRPr lang="en-US" sz="1600" dirty="0"/>
          </a:p>
        </p:txBody>
      </p:sp>
      <p:sp>
        <p:nvSpPr>
          <p:cNvPr id="42" name="Text 40"/>
          <p:cNvSpPr/>
          <p:nvPr/>
        </p:nvSpPr>
        <p:spPr>
          <a:xfrm>
            <a:off x="7132320" y="5292090"/>
            <a:ext cx="201930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Conclusion</a:t>
            </a:r>
            <a:endParaRPr lang="en-US" sz="1600" dirty="0"/>
          </a:p>
        </p:txBody>
      </p:sp>
      <p:sp>
        <p:nvSpPr>
          <p:cNvPr id="43" name="Text 41"/>
          <p:cNvSpPr/>
          <p:nvPr/>
        </p:nvSpPr>
        <p:spPr>
          <a:xfrm>
            <a:off x="7132320" y="5634990"/>
            <a:ext cx="20002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Quattrocento Sans" pitchFamily="34" charset="0"/>
                <a:ea typeface="Quattrocento Sans" pitchFamily="34" charset="-122"/>
                <a:cs typeface="Quattrocento Sans" pitchFamily="34" charset="-120"/>
              </a:rPr>
              <a:t>Summary and key takeaways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53135" y="353135"/>
            <a:ext cx="11547528" cy="176568"/>
          </a:xfrm>
          <a:prstGeom prst="rect">
            <a:avLst/>
          </a:prstGeom>
          <a:noFill/>
          <a:ln/>
        </p:spPr>
        <p:txBody>
          <a:bodyPr wrap="square" lIns="0" tIns="0" rIns="0" bIns="0" rtlCol="0" anchor="ctr"/>
          <a:lstStyle/>
          <a:p>
            <a:pPr>
              <a:lnSpc>
                <a:spcPct val="120000"/>
              </a:lnSpc>
            </a:pPr>
            <a:r>
              <a:rPr lang="en-US" sz="973" kern="0" spc="97" dirty="0">
                <a:solidFill>
                  <a:srgbClr val="0071E3"/>
                </a:solidFill>
                <a:latin typeface="Liter" pitchFamily="34" charset="0"/>
                <a:ea typeface="Liter" pitchFamily="34" charset="-122"/>
                <a:cs typeface="Liter" pitchFamily="34" charset="-120"/>
              </a:rPr>
              <a:t>Introduction</a:t>
            </a:r>
            <a:endParaRPr lang="en-US" sz="1600" dirty="0"/>
          </a:p>
        </p:txBody>
      </p:sp>
      <p:sp>
        <p:nvSpPr>
          <p:cNvPr id="3" name="Text 1"/>
          <p:cNvSpPr/>
          <p:nvPr/>
        </p:nvSpPr>
        <p:spPr>
          <a:xfrm>
            <a:off x="353135" y="600330"/>
            <a:ext cx="11697610" cy="423762"/>
          </a:xfrm>
          <a:prstGeom prst="rect">
            <a:avLst/>
          </a:prstGeom>
          <a:noFill/>
          <a:ln/>
        </p:spPr>
        <p:txBody>
          <a:bodyPr wrap="square" lIns="0" tIns="0" rIns="0" bIns="0" rtlCol="0" anchor="ctr"/>
          <a:lstStyle/>
          <a:p>
            <a:pPr>
              <a:lnSpc>
                <a:spcPct val="80000"/>
              </a:lnSpc>
            </a:pPr>
            <a:r>
              <a:rPr lang="en-US" sz="3337" b="1" dirty="0">
                <a:solidFill>
                  <a:srgbClr val="1D1D1F"/>
                </a:solidFill>
                <a:latin typeface="Liter" pitchFamily="34" charset="0"/>
                <a:ea typeface="Liter" pitchFamily="34" charset="-122"/>
                <a:cs typeface="Liter" pitchFamily="34" charset="-120"/>
              </a:rPr>
              <a:t>Project Overview</a:t>
            </a:r>
            <a:endParaRPr lang="en-US" sz="1600" dirty="0"/>
          </a:p>
        </p:txBody>
      </p:sp>
      <p:sp>
        <p:nvSpPr>
          <p:cNvPr id="4" name="Shape 2"/>
          <p:cNvSpPr/>
          <p:nvPr/>
        </p:nvSpPr>
        <p:spPr>
          <a:xfrm>
            <a:off x="356667" y="1239505"/>
            <a:ext cx="6804919" cy="1843367"/>
          </a:xfrm>
          <a:custGeom>
            <a:avLst/>
            <a:gdLst/>
            <a:ahLst/>
            <a:cxnLst/>
            <a:rect l="l" t="t" r="r" b="b"/>
            <a:pathLst>
              <a:path w="6804919" h="1843367">
                <a:moveTo>
                  <a:pt x="211877" y="0"/>
                </a:moveTo>
                <a:lnTo>
                  <a:pt x="6593043" y="0"/>
                </a:lnTo>
                <a:cubicBezTo>
                  <a:pt x="6710059" y="0"/>
                  <a:pt x="6804919" y="94860"/>
                  <a:pt x="6804919" y="211877"/>
                </a:cubicBezTo>
                <a:lnTo>
                  <a:pt x="6804919" y="1631490"/>
                </a:lnTo>
                <a:cubicBezTo>
                  <a:pt x="6804919" y="1748506"/>
                  <a:pt x="6710059" y="1843367"/>
                  <a:pt x="6593043" y="1843367"/>
                </a:cubicBezTo>
                <a:lnTo>
                  <a:pt x="211877" y="1843367"/>
                </a:lnTo>
                <a:cubicBezTo>
                  <a:pt x="94939" y="1843367"/>
                  <a:pt x="0" y="1748428"/>
                  <a:pt x="0" y="1631490"/>
                </a:cubicBezTo>
                <a:lnTo>
                  <a:pt x="0" y="211877"/>
                </a:lnTo>
                <a:cubicBezTo>
                  <a:pt x="0" y="94939"/>
                  <a:pt x="94939" y="0"/>
                  <a:pt x="211877"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572079" y="1454918"/>
            <a:ext cx="353135" cy="353135"/>
          </a:xfrm>
          <a:custGeom>
            <a:avLst/>
            <a:gdLst/>
            <a:ahLst/>
            <a:cxnLst/>
            <a:rect l="l" t="t" r="r" b="b"/>
            <a:pathLst>
              <a:path w="353135" h="353135">
                <a:moveTo>
                  <a:pt x="105941" y="0"/>
                </a:moveTo>
                <a:lnTo>
                  <a:pt x="247195" y="0"/>
                </a:lnTo>
                <a:cubicBezTo>
                  <a:pt x="305665" y="0"/>
                  <a:pt x="353135" y="47470"/>
                  <a:pt x="353135" y="105941"/>
                </a:cubicBezTo>
                <a:lnTo>
                  <a:pt x="353135" y="247195"/>
                </a:lnTo>
                <a:cubicBezTo>
                  <a:pt x="353135" y="305665"/>
                  <a:pt x="305665" y="353135"/>
                  <a:pt x="247195" y="353135"/>
                </a:cubicBezTo>
                <a:lnTo>
                  <a:pt x="105941" y="353135"/>
                </a:lnTo>
                <a:cubicBezTo>
                  <a:pt x="47470" y="353135"/>
                  <a:pt x="0" y="305665"/>
                  <a:pt x="0" y="247195"/>
                </a:cubicBezTo>
                <a:lnTo>
                  <a:pt x="0" y="105941"/>
                </a:lnTo>
                <a:cubicBezTo>
                  <a:pt x="0" y="47470"/>
                  <a:pt x="47470" y="0"/>
                  <a:pt x="105941" y="0"/>
                </a:cubicBezTo>
                <a:close/>
              </a:path>
            </a:pathLst>
          </a:custGeom>
          <a:solidFill>
            <a:srgbClr val="0071E3">
              <a:alpha val="10196"/>
            </a:srgbClr>
          </a:solidFill>
          <a:ln/>
        </p:spPr>
      </p:sp>
      <p:sp>
        <p:nvSpPr>
          <p:cNvPr id="6" name="Shape 4"/>
          <p:cNvSpPr/>
          <p:nvPr/>
        </p:nvSpPr>
        <p:spPr>
          <a:xfrm>
            <a:off x="671399" y="1552031"/>
            <a:ext cx="158911" cy="158911"/>
          </a:xfrm>
          <a:custGeom>
            <a:avLst/>
            <a:gdLst/>
            <a:ahLst/>
            <a:cxnLst/>
            <a:rect l="l" t="t" r="r" b="b"/>
            <a:pathLst>
              <a:path w="158911" h="158911">
                <a:moveTo>
                  <a:pt x="139047" y="79455"/>
                </a:moveTo>
                <a:cubicBezTo>
                  <a:pt x="139047" y="46566"/>
                  <a:pt x="112345" y="19864"/>
                  <a:pt x="79455" y="19864"/>
                </a:cubicBezTo>
                <a:cubicBezTo>
                  <a:pt x="46566" y="19864"/>
                  <a:pt x="19864" y="46566"/>
                  <a:pt x="19864" y="79455"/>
                </a:cubicBezTo>
                <a:cubicBezTo>
                  <a:pt x="19864" y="112345"/>
                  <a:pt x="46566" y="139047"/>
                  <a:pt x="79455" y="139047"/>
                </a:cubicBezTo>
                <a:cubicBezTo>
                  <a:pt x="112345" y="139047"/>
                  <a:pt x="139047" y="112345"/>
                  <a:pt x="139047" y="79455"/>
                </a:cubicBezTo>
                <a:close/>
                <a:moveTo>
                  <a:pt x="0" y="79455"/>
                </a:moveTo>
                <a:cubicBezTo>
                  <a:pt x="0" y="35603"/>
                  <a:pt x="35603" y="0"/>
                  <a:pt x="79455" y="0"/>
                </a:cubicBezTo>
                <a:cubicBezTo>
                  <a:pt x="123308" y="0"/>
                  <a:pt x="158911" y="35603"/>
                  <a:pt x="158911" y="79455"/>
                </a:cubicBezTo>
                <a:cubicBezTo>
                  <a:pt x="158911" y="123308"/>
                  <a:pt x="123308" y="158911"/>
                  <a:pt x="79455" y="158911"/>
                </a:cubicBezTo>
                <a:cubicBezTo>
                  <a:pt x="35603" y="158911"/>
                  <a:pt x="0" y="123308"/>
                  <a:pt x="0" y="79455"/>
                </a:cubicBezTo>
                <a:close/>
                <a:moveTo>
                  <a:pt x="79455" y="104285"/>
                </a:moveTo>
                <a:cubicBezTo>
                  <a:pt x="93159" y="104285"/>
                  <a:pt x="104285" y="93159"/>
                  <a:pt x="104285" y="79455"/>
                </a:cubicBezTo>
                <a:cubicBezTo>
                  <a:pt x="104285" y="65752"/>
                  <a:pt x="93159" y="54626"/>
                  <a:pt x="79455" y="54626"/>
                </a:cubicBezTo>
                <a:cubicBezTo>
                  <a:pt x="65752" y="54626"/>
                  <a:pt x="54626" y="65752"/>
                  <a:pt x="54626" y="79455"/>
                </a:cubicBezTo>
                <a:cubicBezTo>
                  <a:pt x="54626" y="93159"/>
                  <a:pt x="65752" y="104285"/>
                  <a:pt x="79455" y="104285"/>
                </a:cubicBezTo>
                <a:close/>
                <a:moveTo>
                  <a:pt x="79455" y="34762"/>
                </a:moveTo>
                <a:cubicBezTo>
                  <a:pt x="104123" y="34762"/>
                  <a:pt x="124149" y="54788"/>
                  <a:pt x="124149" y="79455"/>
                </a:cubicBezTo>
                <a:cubicBezTo>
                  <a:pt x="124149" y="104123"/>
                  <a:pt x="104123" y="124149"/>
                  <a:pt x="79455" y="124149"/>
                </a:cubicBezTo>
                <a:cubicBezTo>
                  <a:pt x="54788" y="124149"/>
                  <a:pt x="34762" y="104123"/>
                  <a:pt x="34762" y="79455"/>
                </a:cubicBezTo>
                <a:cubicBezTo>
                  <a:pt x="34762" y="54788"/>
                  <a:pt x="54788" y="34762"/>
                  <a:pt x="79455" y="34762"/>
                </a:cubicBezTo>
                <a:close/>
                <a:moveTo>
                  <a:pt x="69524" y="79455"/>
                </a:moveTo>
                <a:cubicBezTo>
                  <a:pt x="69524" y="73974"/>
                  <a:pt x="73974" y="69524"/>
                  <a:pt x="79455" y="69524"/>
                </a:cubicBezTo>
                <a:cubicBezTo>
                  <a:pt x="84937" y="69524"/>
                  <a:pt x="89387" y="73974"/>
                  <a:pt x="89387" y="79455"/>
                </a:cubicBezTo>
                <a:cubicBezTo>
                  <a:pt x="89387" y="84937"/>
                  <a:pt x="84937" y="89387"/>
                  <a:pt x="79455" y="89387"/>
                </a:cubicBezTo>
                <a:cubicBezTo>
                  <a:pt x="73974" y="89387"/>
                  <a:pt x="69524" y="84937"/>
                  <a:pt x="69524" y="79455"/>
                </a:cubicBezTo>
                <a:close/>
              </a:path>
            </a:pathLst>
          </a:custGeom>
          <a:solidFill>
            <a:srgbClr val="0071E3"/>
          </a:solidFill>
          <a:ln/>
        </p:spPr>
      </p:sp>
      <p:sp>
        <p:nvSpPr>
          <p:cNvPr id="7" name="Text 5"/>
          <p:cNvSpPr/>
          <p:nvPr/>
        </p:nvSpPr>
        <p:spPr>
          <a:xfrm>
            <a:off x="1031155" y="1490232"/>
            <a:ext cx="997608" cy="282508"/>
          </a:xfrm>
          <a:prstGeom prst="rect">
            <a:avLst/>
          </a:prstGeom>
          <a:noFill/>
          <a:ln/>
        </p:spPr>
        <p:txBody>
          <a:bodyPr wrap="square" lIns="0" tIns="0" rIns="0" bIns="0" rtlCol="0" anchor="ctr"/>
          <a:lstStyle/>
          <a:p>
            <a:pPr>
              <a:lnSpc>
                <a:spcPct val="110000"/>
              </a:lnSpc>
            </a:pPr>
            <a:r>
              <a:rPr lang="en-US" sz="1668" b="1" dirty="0">
                <a:solidFill>
                  <a:srgbClr val="1D1D1F"/>
                </a:solidFill>
                <a:latin typeface="Liter" pitchFamily="34" charset="0"/>
                <a:ea typeface="Liter" pitchFamily="34" charset="-122"/>
                <a:cs typeface="Liter" pitchFamily="34" charset="-120"/>
              </a:rPr>
              <a:t>Objective</a:t>
            </a:r>
            <a:endParaRPr lang="en-US" sz="1600" dirty="0"/>
          </a:p>
        </p:txBody>
      </p:sp>
      <p:sp>
        <p:nvSpPr>
          <p:cNvPr id="8" name="Text 6"/>
          <p:cNvSpPr/>
          <p:nvPr/>
        </p:nvSpPr>
        <p:spPr>
          <a:xfrm>
            <a:off x="572079" y="1949308"/>
            <a:ext cx="6444721" cy="918152"/>
          </a:xfrm>
          <a:prstGeom prst="rect">
            <a:avLst/>
          </a:prstGeom>
          <a:noFill/>
          <a:ln/>
        </p:spPr>
        <p:txBody>
          <a:bodyPr wrap="square" lIns="0" tIns="0" rIns="0" bIns="0" rtlCol="0" anchor="ctr"/>
          <a:lstStyle/>
          <a:p>
            <a:pPr>
              <a:lnSpc>
                <a:spcPct val="140000"/>
              </a:lnSpc>
            </a:pPr>
            <a:r>
              <a:rPr lang="en-US" sz="1112" dirty="0">
                <a:solidFill>
                  <a:srgbClr val="1D1D1F"/>
                </a:solidFill>
                <a:latin typeface="Quattrocento Sans" pitchFamily="34" charset="0"/>
                <a:ea typeface="Quattrocento Sans" pitchFamily="34" charset="-122"/>
                <a:cs typeface="Quattrocento Sans" pitchFamily="34" charset="-120"/>
              </a:rPr>
              <a:t>Design and deploy an </a:t>
            </a:r>
            <a:r>
              <a:rPr lang="en-US" sz="1112" b="1" dirty="0">
                <a:solidFill>
                  <a:srgbClr val="1D1D1F"/>
                </a:solidFill>
                <a:latin typeface="Quattrocento Sans" pitchFamily="34" charset="0"/>
                <a:ea typeface="Quattrocento Sans" pitchFamily="34" charset="-122"/>
                <a:cs typeface="Quattrocento Sans" pitchFamily="34" charset="-120"/>
              </a:rPr>
              <a:t>AI-driven text analytics system</a:t>
            </a:r>
            <a:r>
              <a:rPr lang="en-US" sz="1112" dirty="0">
                <a:solidFill>
                  <a:srgbClr val="1D1D1F"/>
                </a:solidFill>
                <a:latin typeface="Quattrocento Sans" pitchFamily="34" charset="0"/>
                <a:ea typeface="Quattrocento Sans" pitchFamily="34" charset="-122"/>
                <a:cs typeface="Quattrocento Sans" pitchFamily="34" charset="-120"/>
              </a:rPr>
              <a:t> that automatically processes unstructured textual data by performing cleaning, feature extraction, topic modeling, and sentiment analysis. The system delivers actionable insights through an interactive web application, enabling efficient interpretation and decision-making from large volumes of text data.</a:t>
            </a:r>
            <a:endParaRPr lang="en-US" sz="1600" dirty="0"/>
          </a:p>
        </p:txBody>
      </p:sp>
      <p:sp>
        <p:nvSpPr>
          <p:cNvPr id="9" name="Shape 7"/>
          <p:cNvSpPr/>
          <p:nvPr/>
        </p:nvSpPr>
        <p:spPr>
          <a:xfrm>
            <a:off x="356667" y="3266502"/>
            <a:ext cx="6804919" cy="3361849"/>
          </a:xfrm>
          <a:custGeom>
            <a:avLst/>
            <a:gdLst/>
            <a:ahLst/>
            <a:cxnLst/>
            <a:rect l="l" t="t" r="r" b="b"/>
            <a:pathLst>
              <a:path w="6804919" h="3361849">
                <a:moveTo>
                  <a:pt x="211897" y="0"/>
                </a:moveTo>
                <a:lnTo>
                  <a:pt x="6593022" y="0"/>
                </a:lnTo>
                <a:cubicBezTo>
                  <a:pt x="6710050" y="0"/>
                  <a:pt x="6804919" y="94870"/>
                  <a:pt x="6804919" y="211897"/>
                </a:cubicBezTo>
                <a:lnTo>
                  <a:pt x="6804919" y="3149952"/>
                </a:lnTo>
                <a:cubicBezTo>
                  <a:pt x="6804919" y="3266979"/>
                  <a:pt x="6710050" y="3361849"/>
                  <a:pt x="6593022" y="3361849"/>
                </a:cubicBezTo>
                <a:lnTo>
                  <a:pt x="211897" y="3361849"/>
                </a:lnTo>
                <a:cubicBezTo>
                  <a:pt x="94870" y="3361849"/>
                  <a:pt x="0" y="3266979"/>
                  <a:pt x="0" y="3149952"/>
                </a:cubicBezTo>
                <a:lnTo>
                  <a:pt x="0" y="211897"/>
                </a:lnTo>
                <a:cubicBezTo>
                  <a:pt x="0" y="94870"/>
                  <a:pt x="94870" y="0"/>
                  <a:pt x="211897" y="0"/>
                </a:cubicBezTo>
                <a:close/>
              </a:path>
            </a:pathLst>
          </a:custGeom>
          <a:solidFill>
            <a:srgbClr val="FFFFFF">
              <a:alpha val="85098"/>
            </a:srgbClr>
          </a:solidFill>
          <a:ln w="10160">
            <a:solidFill>
              <a:srgbClr val="FFFFFF">
                <a:alpha val="30196"/>
              </a:srgbClr>
            </a:solidFill>
            <a:prstDash val="solid"/>
          </a:ln>
        </p:spPr>
      </p:sp>
      <p:sp>
        <p:nvSpPr>
          <p:cNvPr id="10" name="Shape 8"/>
          <p:cNvSpPr/>
          <p:nvPr/>
        </p:nvSpPr>
        <p:spPr>
          <a:xfrm>
            <a:off x="572079" y="3481915"/>
            <a:ext cx="353135" cy="353135"/>
          </a:xfrm>
          <a:custGeom>
            <a:avLst/>
            <a:gdLst/>
            <a:ahLst/>
            <a:cxnLst/>
            <a:rect l="l" t="t" r="r" b="b"/>
            <a:pathLst>
              <a:path w="353135" h="353135">
                <a:moveTo>
                  <a:pt x="105941" y="0"/>
                </a:moveTo>
                <a:lnTo>
                  <a:pt x="247195" y="0"/>
                </a:lnTo>
                <a:cubicBezTo>
                  <a:pt x="305665" y="0"/>
                  <a:pt x="353135" y="47470"/>
                  <a:pt x="353135" y="105941"/>
                </a:cubicBezTo>
                <a:lnTo>
                  <a:pt x="353135" y="247195"/>
                </a:lnTo>
                <a:cubicBezTo>
                  <a:pt x="353135" y="305665"/>
                  <a:pt x="305665" y="353135"/>
                  <a:pt x="247195" y="353135"/>
                </a:cubicBezTo>
                <a:lnTo>
                  <a:pt x="105941" y="353135"/>
                </a:lnTo>
                <a:cubicBezTo>
                  <a:pt x="47470" y="353135"/>
                  <a:pt x="0" y="305665"/>
                  <a:pt x="0" y="247195"/>
                </a:cubicBezTo>
                <a:lnTo>
                  <a:pt x="0" y="105941"/>
                </a:lnTo>
                <a:cubicBezTo>
                  <a:pt x="0" y="47470"/>
                  <a:pt x="47470" y="0"/>
                  <a:pt x="105941" y="0"/>
                </a:cubicBezTo>
                <a:close/>
              </a:path>
            </a:pathLst>
          </a:custGeom>
          <a:solidFill>
            <a:srgbClr val="0071E3">
              <a:alpha val="10196"/>
            </a:srgbClr>
          </a:solidFill>
          <a:ln/>
        </p:spPr>
      </p:sp>
      <p:sp>
        <p:nvSpPr>
          <p:cNvPr id="11" name="Shape 9"/>
          <p:cNvSpPr/>
          <p:nvPr/>
        </p:nvSpPr>
        <p:spPr>
          <a:xfrm>
            <a:off x="671399" y="3579028"/>
            <a:ext cx="158911" cy="158911"/>
          </a:xfrm>
          <a:custGeom>
            <a:avLst/>
            <a:gdLst/>
            <a:ahLst/>
            <a:cxnLst/>
            <a:rect l="l" t="t" r="r" b="b"/>
            <a:pathLst>
              <a:path w="158911" h="158911">
                <a:moveTo>
                  <a:pt x="44787" y="0"/>
                </a:moveTo>
                <a:lnTo>
                  <a:pt x="114310" y="0"/>
                </a:lnTo>
                <a:cubicBezTo>
                  <a:pt x="122535" y="0"/>
                  <a:pt x="129239" y="6766"/>
                  <a:pt x="128929" y="14960"/>
                </a:cubicBezTo>
                <a:cubicBezTo>
                  <a:pt x="128867" y="16605"/>
                  <a:pt x="128805" y="18250"/>
                  <a:pt x="128712" y="19864"/>
                </a:cubicBezTo>
                <a:lnTo>
                  <a:pt x="144106" y="19864"/>
                </a:lnTo>
                <a:cubicBezTo>
                  <a:pt x="152207" y="19864"/>
                  <a:pt x="159345" y="26568"/>
                  <a:pt x="158725" y="35320"/>
                </a:cubicBezTo>
                <a:cubicBezTo>
                  <a:pt x="156397" y="67506"/>
                  <a:pt x="139947" y="85197"/>
                  <a:pt x="122101" y="94446"/>
                </a:cubicBezTo>
                <a:cubicBezTo>
                  <a:pt x="117197" y="96992"/>
                  <a:pt x="112200" y="98885"/>
                  <a:pt x="107451" y="100281"/>
                </a:cubicBezTo>
                <a:cubicBezTo>
                  <a:pt x="101182" y="109158"/>
                  <a:pt x="94664" y="113845"/>
                  <a:pt x="89481" y="116359"/>
                </a:cubicBezTo>
                <a:lnTo>
                  <a:pt x="89481" y="139047"/>
                </a:lnTo>
                <a:lnTo>
                  <a:pt x="109344" y="139047"/>
                </a:lnTo>
                <a:cubicBezTo>
                  <a:pt x="114838" y="139047"/>
                  <a:pt x="119276" y="143485"/>
                  <a:pt x="119276" y="148979"/>
                </a:cubicBezTo>
                <a:cubicBezTo>
                  <a:pt x="119276" y="154473"/>
                  <a:pt x="114838" y="158911"/>
                  <a:pt x="109344" y="158911"/>
                </a:cubicBezTo>
                <a:lnTo>
                  <a:pt x="49753" y="158911"/>
                </a:lnTo>
                <a:cubicBezTo>
                  <a:pt x="44259" y="158911"/>
                  <a:pt x="39821" y="154473"/>
                  <a:pt x="39821" y="148979"/>
                </a:cubicBezTo>
                <a:cubicBezTo>
                  <a:pt x="39821" y="143485"/>
                  <a:pt x="44259" y="139047"/>
                  <a:pt x="49753" y="139047"/>
                </a:cubicBezTo>
                <a:lnTo>
                  <a:pt x="69617" y="139047"/>
                </a:lnTo>
                <a:lnTo>
                  <a:pt x="69617" y="116359"/>
                </a:lnTo>
                <a:cubicBezTo>
                  <a:pt x="64651" y="113969"/>
                  <a:pt x="58474" y="109531"/>
                  <a:pt x="52453" y="101368"/>
                </a:cubicBezTo>
                <a:cubicBezTo>
                  <a:pt x="46742" y="99878"/>
                  <a:pt x="40535" y="97612"/>
                  <a:pt x="34482" y="94198"/>
                </a:cubicBezTo>
                <a:cubicBezTo>
                  <a:pt x="17691" y="84794"/>
                  <a:pt x="2545" y="67072"/>
                  <a:pt x="372" y="35258"/>
                </a:cubicBezTo>
                <a:cubicBezTo>
                  <a:pt x="-217" y="26537"/>
                  <a:pt x="6890" y="19833"/>
                  <a:pt x="14991" y="19833"/>
                </a:cubicBezTo>
                <a:lnTo>
                  <a:pt x="30386" y="19833"/>
                </a:lnTo>
                <a:cubicBezTo>
                  <a:pt x="30292" y="18219"/>
                  <a:pt x="30230" y="16605"/>
                  <a:pt x="30168" y="14929"/>
                </a:cubicBezTo>
                <a:cubicBezTo>
                  <a:pt x="29858" y="6704"/>
                  <a:pt x="36562" y="-31"/>
                  <a:pt x="44787" y="-31"/>
                </a:cubicBezTo>
                <a:close/>
                <a:moveTo>
                  <a:pt x="31503" y="34762"/>
                </a:moveTo>
                <a:lnTo>
                  <a:pt x="15239" y="34762"/>
                </a:lnTo>
                <a:cubicBezTo>
                  <a:pt x="17164" y="61050"/>
                  <a:pt x="29237" y="74210"/>
                  <a:pt x="41683" y="81194"/>
                </a:cubicBezTo>
                <a:cubicBezTo>
                  <a:pt x="37214" y="69617"/>
                  <a:pt x="33520" y="54501"/>
                  <a:pt x="31503" y="34762"/>
                </a:cubicBezTo>
                <a:close/>
                <a:moveTo>
                  <a:pt x="117942" y="79704"/>
                </a:moveTo>
                <a:cubicBezTo>
                  <a:pt x="130512" y="72317"/>
                  <a:pt x="141871" y="59188"/>
                  <a:pt x="143796" y="34762"/>
                </a:cubicBezTo>
                <a:lnTo>
                  <a:pt x="127563" y="34762"/>
                </a:lnTo>
                <a:cubicBezTo>
                  <a:pt x="125639" y="53663"/>
                  <a:pt x="122163" y="68344"/>
                  <a:pt x="117942" y="79704"/>
                </a:cubicBezTo>
                <a:close/>
              </a:path>
            </a:pathLst>
          </a:custGeom>
          <a:solidFill>
            <a:srgbClr val="0071E3"/>
          </a:solidFill>
          <a:ln/>
        </p:spPr>
      </p:sp>
      <p:sp>
        <p:nvSpPr>
          <p:cNvPr id="12" name="Text 10"/>
          <p:cNvSpPr/>
          <p:nvPr/>
        </p:nvSpPr>
        <p:spPr>
          <a:xfrm>
            <a:off x="1031155" y="3517229"/>
            <a:ext cx="1474340" cy="282508"/>
          </a:xfrm>
          <a:prstGeom prst="rect">
            <a:avLst/>
          </a:prstGeom>
          <a:noFill/>
          <a:ln/>
        </p:spPr>
        <p:txBody>
          <a:bodyPr wrap="square" lIns="0" tIns="0" rIns="0" bIns="0" rtlCol="0" anchor="ctr"/>
          <a:lstStyle/>
          <a:p>
            <a:pPr>
              <a:lnSpc>
                <a:spcPct val="110000"/>
              </a:lnSpc>
            </a:pPr>
            <a:r>
              <a:rPr lang="en-US" sz="1668" b="1" dirty="0">
                <a:solidFill>
                  <a:srgbClr val="1D1D1F"/>
                </a:solidFill>
                <a:latin typeface="Liter" pitchFamily="34" charset="0"/>
                <a:ea typeface="Liter" pitchFamily="34" charset="-122"/>
                <a:cs typeface="Liter" pitchFamily="34" charset="-120"/>
              </a:rPr>
              <a:t>Key Outcomes</a:t>
            </a:r>
            <a:endParaRPr lang="en-US" sz="1600" dirty="0"/>
          </a:p>
        </p:txBody>
      </p:sp>
      <p:sp>
        <p:nvSpPr>
          <p:cNvPr id="13" name="Shape 11"/>
          <p:cNvSpPr/>
          <p:nvPr/>
        </p:nvSpPr>
        <p:spPr>
          <a:xfrm>
            <a:off x="572079" y="4011618"/>
            <a:ext cx="6374094" cy="706271"/>
          </a:xfrm>
          <a:custGeom>
            <a:avLst/>
            <a:gdLst/>
            <a:ahLst/>
            <a:cxnLst/>
            <a:rect l="l" t="t" r="r" b="b"/>
            <a:pathLst>
              <a:path w="6374094" h="706271">
                <a:moveTo>
                  <a:pt x="141254" y="0"/>
                </a:moveTo>
                <a:lnTo>
                  <a:pt x="6232840" y="0"/>
                </a:lnTo>
                <a:cubicBezTo>
                  <a:pt x="6310852" y="0"/>
                  <a:pt x="6374094" y="63242"/>
                  <a:pt x="6374094" y="141254"/>
                </a:cubicBezTo>
                <a:lnTo>
                  <a:pt x="6374094" y="565017"/>
                </a:lnTo>
                <a:cubicBezTo>
                  <a:pt x="6374094" y="643029"/>
                  <a:pt x="6310852" y="706271"/>
                  <a:pt x="6232840" y="706271"/>
                </a:cubicBezTo>
                <a:lnTo>
                  <a:pt x="141254" y="706271"/>
                </a:lnTo>
                <a:cubicBezTo>
                  <a:pt x="63294" y="706271"/>
                  <a:pt x="0" y="642977"/>
                  <a:pt x="0" y="565017"/>
                </a:cubicBezTo>
                <a:lnTo>
                  <a:pt x="0" y="141254"/>
                </a:lnTo>
                <a:cubicBezTo>
                  <a:pt x="0" y="63242"/>
                  <a:pt x="63242" y="0"/>
                  <a:pt x="141254" y="0"/>
                </a:cubicBezTo>
                <a:close/>
              </a:path>
            </a:pathLst>
          </a:custGeom>
          <a:solidFill>
            <a:srgbClr val="FFFFFF">
              <a:alpha val="60000"/>
            </a:srgbClr>
          </a:solidFill>
          <a:ln/>
        </p:spPr>
      </p:sp>
      <p:sp>
        <p:nvSpPr>
          <p:cNvPr id="14" name="Shape 12"/>
          <p:cNvSpPr/>
          <p:nvPr/>
        </p:nvSpPr>
        <p:spPr>
          <a:xfrm>
            <a:off x="713334" y="4152873"/>
            <a:ext cx="282508" cy="282508"/>
          </a:xfrm>
          <a:custGeom>
            <a:avLst/>
            <a:gdLst/>
            <a:ahLst/>
            <a:cxnLst/>
            <a:rect l="l" t="t" r="r" b="b"/>
            <a:pathLst>
              <a:path w="282508" h="282508">
                <a:moveTo>
                  <a:pt x="70627" y="0"/>
                </a:moveTo>
                <a:lnTo>
                  <a:pt x="211881" y="0"/>
                </a:lnTo>
                <a:cubicBezTo>
                  <a:pt x="250861" y="0"/>
                  <a:pt x="282508" y="31647"/>
                  <a:pt x="282508" y="70627"/>
                </a:cubicBezTo>
                <a:lnTo>
                  <a:pt x="282508" y="211881"/>
                </a:lnTo>
                <a:cubicBezTo>
                  <a:pt x="282508" y="250861"/>
                  <a:pt x="250861" y="282508"/>
                  <a:pt x="211881" y="282508"/>
                </a:cubicBezTo>
                <a:lnTo>
                  <a:pt x="70627" y="282508"/>
                </a:lnTo>
                <a:cubicBezTo>
                  <a:pt x="31647" y="282508"/>
                  <a:pt x="0" y="250861"/>
                  <a:pt x="0" y="211881"/>
                </a:cubicBezTo>
                <a:lnTo>
                  <a:pt x="0" y="70627"/>
                </a:lnTo>
                <a:cubicBezTo>
                  <a:pt x="0" y="31621"/>
                  <a:pt x="31621" y="0"/>
                  <a:pt x="70627" y="0"/>
                </a:cubicBezTo>
                <a:close/>
              </a:path>
            </a:pathLst>
          </a:custGeom>
          <a:solidFill>
            <a:srgbClr val="0071E3"/>
          </a:solidFill>
          <a:ln/>
        </p:spPr>
      </p:sp>
      <p:sp>
        <p:nvSpPr>
          <p:cNvPr id="15" name="Text 13"/>
          <p:cNvSpPr/>
          <p:nvPr/>
        </p:nvSpPr>
        <p:spPr>
          <a:xfrm>
            <a:off x="682434" y="4152873"/>
            <a:ext cx="344307" cy="282508"/>
          </a:xfrm>
          <a:prstGeom prst="rect">
            <a:avLst/>
          </a:prstGeom>
          <a:noFill/>
          <a:ln/>
        </p:spPr>
        <p:txBody>
          <a:bodyPr wrap="square" lIns="0" tIns="0" rIns="0" bIns="0" rtlCol="0" anchor="ctr"/>
          <a:lstStyle/>
          <a:p>
            <a:pPr algn="ctr">
              <a:lnSpc>
                <a:spcPct val="120000"/>
              </a:lnSpc>
            </a:pPr>
            <a:r>
              <a:rPr lang="en-US" sz="973"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6" name="Text 14"/>
          <p:cNvSpPr/>
          <p:nvPr/>
        </p:nvSpPr>
        <p:spPr>
          <a:xfrm>
            <a:off x="1137096" y="4152873"/>
            <a:ext cx="3619638" cy="211881"/>
          </a:xfrm>
          <a:prstGeom prst="rect">
            <a:avLst/>
          </a:prstGeom>
          <a:noFill/>
          <a:ln/>
        </p:spPr>
        <p:txBody>
          <a:bodyPr wrap="square" lIns="0" tIns="0" rIns="0" bIns="0" rtlCol="0" anchor="ctr"/>
          <a:lstStyle/>
          <a:p>
            <a:pPr>
              <a:lnSpc>
                <a:spcPct val="130000"/>
              </a:lnSpc>
            </a:pPr>
            <a:r>
              <a:rPr lang="en-US" sz="1112" b="1" dirty="0">
                <a:solidFill>
                  <a:srgbClr val="1D1D1F"/>
                </a:solidFill>
                <a:latin typeface="Liter" pitchFamily="34" charset="0"/>
                <a:ea typeface="Liter" pitchFamily="34" charset="-122"/>
                <a:cs typeface="Liter" pitchFamily="34" charset="-120"/>
              </a:rPr>
              <a:t>Automated Extraction</a:t>
            </a:r>
            <a:endParaRPr lang="en-US" sz="1600" dirty="0"/>
          </a:p>
        </p:txBody>
      </p:sp>
      <p:sp>
        <p:nvSpPr>
          <p:cNvPr id="17" name="Text 15"/>
          <p:cNvSpPr/>
          <p:nvPr/>
        </p:nvSpPr>
        <p:spPr>
          <a:xfrm>
            <a:off x="1137096" y="4400068"/>
            <a:ext cx="3610810" cy="176568"/>
          </a:xfrm>
          <a:prstGeom prst="rect">
            <a:avLst/>
          </a:prstGeom>
          <a:noFill/>
          <a:ln/>
        </p:spPr>
        <p:txBody>
          <a:bodyPr wrap="square" lIns="0" tIns="0" rIns="0" bIns="0" rtlCol="0" anchor="ctr"/>
          <a:lstStyle/>
          <a:p>
            <a:pPr>
              <a:lnSpc>
                <a:spcPct val="120000"/>
              </a:lnSpc>
            </a:pPr>
            <a:r>
              <a:rPr lang="en-US" sz="973" dirty="0">
                <a:solidFill>
                  <a:srgbClr val="86868B"/>
                </a:solidFill>
                <a:latin typeface="Quattrocento Sans" pitchFamily="34" charset="0"/>
                <a:ea typeface="Quattrocento Sans" pitchFamily="34" charset="-122"/>
                <a:cs typeface="Quattrocento Sans" pitchFamily="34" charset="-120"/>
              </a:rPr>
              <a:t>Topics and sentiments from unstructured text using ML techniques</a:t>
            </a:r>
            <a:endParaRPr lang="en-US" sz="1600" dirty="0"/>
          </a:p>
        </p:txBody>
      </p:sp>
      <p:sp>
        <p:nvSpPr>
          <p:cNvPr id="18" name="Shape 16"/>
          <p:cNvSpPr/>
          <p:nvPr/>
        </p:nvSpPr>
        <p:spPr>
          <a:xfrm>
            <a:off x="572079" y="4859145"/>
            <a:ext cx="6374094" cy="706271"/>
          </a:xfrm>
          <a:custGeom>
            <a:avLst/>
            <a:gdLst/>
            <a:ahLst/>
            <a:cxnLst/>
            <a:rect l="l" t="t" r="r" b="b"/>
            <a:pathLst>
              <a:path w="6374094" h="706271">
                <a:moveTo>
                  <a:pt x="141254" y="0"/>
                </a:moveTo>
                <a:lnTo>
                  <a:pt x="6232840" y="0"/>
                </a:lnTo>
                <a:cubicBezTo>
                  <a:pt x="6310852" y="0"/>
                  <a:pt x="6374094" y="63242"/>
                  <a:pt x="6374094" y="141254"/>
                </a:cubicBezTo>
                <a:lnTo>
                  <a:pt x="6374094" y="565017"/>
                </a:lnTo>
                <a:cubicBezTo>
                  <a:pt x="6374094" y="643029"/>
                  <a:pt x="6310852" y="706271"/>
                  <a:pt x="6232840" y="706271"/>
                </a:cubicBezTo>
                <a:lnTo>
                  <a:pt x="141254" y="706271"/>
                </a:lnTo>
                <a:cubicBezTo>
                  <a:pt x="63294" y="706271"/>
                  <a:pt x="0" y="642977"/>
                  <a:pt x="0" y="565017"/>
                </a:cubicBezTo>
                <a:lnTo>
                  <a:pt x="0" y="141254"/>
                </a:lnTo>
                <a:cubicBezTo>
                  <a:pt x="0" y="63242"/>
                  <a:pt x="63242" y="0"/>
                  <a:pt x="141254" y="0"/>
                </a:cubicBezTo>
                <a:close/>
              </a:path>
            </a:pathLst>
          </a:custGeom>
          <a:solidFill>
            <a:srgbClr val="FFFFFF">
              <a:alpha val="60000"/>
            </a:srgbClr>
          </a:solidFill>
          <a:ln/>
        </p:spPr>
      </p:sp>
      <p:sp>
        <p:nvSpPr>
          <p:cNvPr id="19" name="Shape 17"/>
          <p:cNvSpPr/>
          <p:nvPr/>
        </p:nvSpPr>
        <p:spPr>
          <a:xfrm>
            <a:off x="713334" y="5000399"/>
            <a:ext cx="282508" cy="282508"/>
          </a:xfrm>
          <a:custGeom>
            <a:avLst/>
            <a:gdLst/>
            <a:ahLst/>
            <a:cxnLst/>
            <a:rect l="l" t="t" r="r" b="b"/>
            <a:pathLst>
              <a:path w="282508" h="282508">
                <a:moveTo>
                  <a:pt x="70627" y="0"/>
                </a:moveTo>
                <a:lnTo>
                  <a:pt x="211881" y="0"/>
                </a:lnTo>
                <a:cubicBezTo>
                  <a:pt x="250861" y="0"/>
                  <a:pt x="282508" y="31647"/>
                  <a:pt x="282508" y="70627"/>
                </a:cubicBezTo>
                <a:lnTo>
                  <a:pt x="282508" y="211881"/>
                </a:lnTo>
                <a:cubicBezTo>
                  <a:pt x="282508" y="250861"/>
                  <a:pt x="250861" y="282508"/>
                  <a:pt x="211881" y="282508"/>
                </a:cubicBezTo>
                <a:lnTo>
                  <a:pt x="70627" y="282508"/>
                </a:lnTo>
                <a:cubicBezTo>
                  <a:pt x="31647" y="282508"/>
                  <a:pt x="0" y="250861"/>
                  <a:pt x="0" y="211881"/>
                </a:cubicBezTo>
                <a:lnTo>
                  <a:pt x="0" y="70627"/>
                </a:lnTo>
                <a:cubicBezTo>
                  <a:pt x="0" y="31621"/>
                  <a:pt x="31621" y="0"/>
                  <a:pt x="70627" y="0"/>
                </a:cubicBezTo>
                <a:close/>
              </a:path>
            </a:pathLst>
          </a:custGeom>
          <a:solidFill>
            <a:srgbClr val="0071E3"/>
          </a:solidFill>
          <a:ln/>
        </p:spPr>
      </p:sp>
      <p:sp>
        <p:nvSpPr>
          <p:cNvPr id="20" name="Text 18"/>
          <p:cNvSpPr/>
          <p:nvPr/>
        </p:nvSpPr>
        <p:spPr>
          <a:xfrm>
            <a:off x="682434" y="5000399"/>
            <a:ext cx="344307" cy="282508"/>
          </a:xfrm>
          <a:prstGeom prst="rect">
            <a:avLst/>
          </a:prstGeom>
          <a:noFill/>
          <a:ln/>
        </p:spPr>
        <p:txBody>
          <a:bodyPr wrap="square" lIns="0" tIns="0" rIns="0" bIns="0" rtlCol="0" anchor="ctr"/>
          <a:lstStyle/>
          <a:p>
            <a:pPr algn="ctr">
              <a:lnSpc>
                <a:spcPct val="120000"/>
              </a:lnSpc>
            </a:pPr>
            <a:r>
              <a:rPr lang="en-US" sz="973"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1" name="Text 19"/>
          <p:cNvSpPr/>
          <p:nvPr/>
        </p:nvSpPr>
        <p:spPr>
          <a:xfrm>
            <a:off x="1137096" y="5000399"/>
            <a:ext cx="2763285" cy="211881"/>
          </a:xfrm>
          <a:prstGeom prst="rect">
            <a:avLst/>
          </a:prstGeom>
          <a:noFill/>
          <a:ln/>
        </p:spPr>
        <p:txBody>
          <a:bodyPr wrap="square" lIns="0" tIns="0" rIns="0" bIns="0" rtlCol="0" anchor="ctr"/>
          <a:lstStyle/>
          <a:p>
            <a:pPr>
              <a:lnSpc>
                <a:spcPct val="130000"/>
              </a:lnSpc>
            </a:pPr>
            <a:r>
              <a:rPr lang="en-US" sz="1112" b="1" dirty="0">
                <a:solidFill>
                  <a:srgbClr val="1D1D1F"/>
                </a:solidFill>
                <a:latin typeface="Liter" pitchFamily="34" charset="0"/>
                <a:ea typeface="Liter" pitchFamily="34" charset="-122"/>
                <a:cs typeface="Liter" pitchFamily="34" charset="-120"/>
              </a:rPr>
              <a:t>Interactive Web App</a:t>
            </a:r>
            <a:endParaRPr lang="en-US" sz="1600" dirty="0"/>
          </a:p>
        </p:txBody>
      </p:sp>
      <p:sp>
        <p:nvSpPr>
          <p:cNvPr id="22" name="Text 20"/>
          <p:cNvSpPr/>
          <p:nvPr/>
        </p:nvSpPr>
        <p:spPr>
          <a:xfrm>
            <a:off x="1137096" y="5247593"/>
            <a:ext cx="2754456" cy="176568"/>
          </a:xfrm>
          <a:prstGeom prst="rect">
            <a:avLst/>
          </a:prstGeom>
          <a:noFill/>
          <a:ln/>
        </p:spPr>
        <p:txBody>
          <a:bodyPr wrap="square" lIns="0" tIns="0" rIns="0" bIns="0" rtlCol="0" anchor="ctr"/>
          <a:lstStyle/>
          <a:p>
            <a:pPr>
              <a:lnSpc>
                <a:spcPct val="120000"/>
              </a:lnSpc>
            </a:pPr>
            <a:r>
              <a:rPr lang="en-US" sz="973" dirty="0">
                <a:solidFill>
                  <a:srgbClr val="86868B"/>
                </a:solidFill>
                <a:latin typeface="Quattrocento Sans" pitchFamily="34" charset="0"/>
                <a:ea typeface="Quattrocento Sans" pitchFamily="34" charset="-122"/>
                <a:cs typeface="Quattrocento Sans" pitchFamily="34" charset="-120"/>
              </a:rPr>
              <a:t>Real-time text analysis and visualization of insights</a:t>
            </a:r>
            <a:endParaRPr lang="en-US" sz="1600" dirty="0"/>
          </a:p>
        </p:txBody>
      </p:sp>
      <p:sp>
        <p:nvSpPr>
          <p:cNvPr id="23" name="Shape 21"/>
          <p:cNvSpPr/>
          <p:nvPr/>
        </p:nvSpPr>
        <p:spPr>
          <a:xfrm>
            <a:off x="572079" y="5706670"/>
            <a:ext cx="6374094" cy="706271"/>
          </a:xfrm>
          <a:custGeom>
            <a:avLst/>
            <a:gdLst/>
            <a:ahLst/>
            <a:cxnLst/>
            <a:rect l="l" t="t" r="r" b="b"/>
            <a:pathLst>
              <a:path w="6374094" h="706271">
                <a:moveTo>
                  <a:pt x="141254" y="0"/>
                </a:moveTo>
                <a:lnTo>
                  <a:pt x="6232840" y="0"/>
                </a:lnTo>
                <a:cubicBezTo>
                  <a:pt x="6310852" y="0"/>
                  <a:pt x="6374094" y="63242"/>
                  <a:pt x="6374094" y="141254"/>
                </a:cubicBezTo>
                <a:lnTo>
                  <a:pt x="6374094" y="565017"/>
                </a:lnTo>
                <a:cubicBezTo>
                  <a:pt x="6374094" y="643029"/>
                  <a:pt x="6310852" y="706271"/>
                  <a:pt x="6232840" y="706271"/>
                </a:cubicBezTo>
                <a:lnTo>
                  <a:pt x="141254" y="706271"/>
                </a:lnTo>
                <a:cubicBezTo>
                  <a:pt x="63294" y="706271"/>
                  <a:pt x="0" y="642977"/>
                  <a:pt x="0" y="565017"/>
                </a:cubicBezTo>
                <a:lnTo>
                  <a:pt x="0" y="141254"/>
                </a:lnTo>
                <a:cubicBezTo>
                  <a:pt x="0" y="63242"/>
                  <a:pt x="63242" y="0"/>
                  <a:pt x="141254" y="0"/>
                </a:cubicBezTo>
                <a:close/>
              </a:path>
            </a:pathLst>
          </a:custGeom>
          <a:solidFill>
            <a:srgbClr val="FFFFFF">
              <a:alpha val="60000"/>
            </a:srgbClr>
          </a:solidFill>
          <a:ln/>
        </p:spPr>
      </p:sp>
      <p:sp>
        <p:nvSpPr>
          <p:cNvPr id="24" name="Shape 22"/>
          <p:cNvSpPr/>
          <p:nvPr/>
        </p:nvSpPr>
        <p:spPr>
          <a:xfrm>
            <a:off x="713334" y="5847924"/>
            <a:ext cx="282508" cy="282508"/>
          </a:xfrm>
          <a:custGeom>
            <a:avLst/>
            <a:gdLst/>
            <a:ahLst/>
            <a:cxnLst/>
            <a:rect l="l" t="t" r="r" b="b"/>
            <a:pathLst>
              <a:path w="282508" h="282508">
                <a:moveTo>
                  <a:pt x="70627" y="0"/>
                </a:moveTo>
                <a:lnTo>
                  <a:pt x="211881" y="0"/>
                </a:lnTo>
                <a:cubicBezTo>
                  <a:pt x="250861" y="0"/>
                  <a:pt x="282508" y="31647"/>
                  <a:pt x="282508" y="70627"/>
                </a:cubicBezTo>
                <a:lnTo>
                  <a:pt x="282508" y="211881"/>
                </a:lnTo>
                <a:cubicBezTo>
                  <a:pt x="282508" y="250861"/>
                  <a:pt x="250861" y="282508"/>
                  <a:pt x="211881" y="282508"/>
                </a:cubicBezTo>
                <a:lnTo>
                  <a:pt x="70627" y="282508"/>
                </a:lnTo>
                <a:cubicBezTo>
                  <a:pt x="31647" y="282508"/>
                  <a:pt x="0" y="250861"/>
                  <a:pt x="0" y="211881"/>
                </a:cubicBezTo>
                <a:lnTo>
                  <a:pt x="0" y="70627"/>
                </a:lnTo>
                <a:cubicBezTo>
                  <a:pt x="0" y="31621"/>
                  <a:pt x="31621" y="0"/>
                  <a:pt x="70627" y="0"/>
                </a:cubicBezTo>
                <a:close/>
              </a:path>
            </a:pathLst>
          </a:custGeom>
          <a:solidFill>
            <a:srgbClr val="0071E3"/>
          </a:solidFill>
          <a:ln/>
        </p:spPr>
      </p:sp>
      <p:sp>
        <p:nvSpPr>
          <p:cNvPr id="25" name="Text 23"/>
          <p:cNvSpPr/>
          <p:nvPr/>
        </p:nvSpPr>
        <p:spPr>
          <a:xfrm>
            <a:off x="682434" y="5847924"/>
            <a:ext cx="344307" cy="282508"/>
          </a:xfrm>
          <a:prstGeom prst="rect">
            <a:avLst/>
          </a:prstGeom>
          <a:noFill/>
          <a:ln/>
        </p:spPr>
        <p:txBody>
          <a:bodyPr wrap="square" lIns="0" tIns="0" rIns="0" bIns="0" rtlCol="0" anchor="ctr"/>
          <a:lstStyle/>
          <a:p>
            <a:pPr algn="ctr">
              <a:lnSpc>
                <a:spcPct val="120000"/>
              </a:lnSpc>
            </a:pPr>
            <a:r>
              <a:rPr lang="en-US" sz="973"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6" name="Text 24"/>
          <p:cNvSpPr/>
          <p:nvPr/>
        </p:nvSpPr>
        <p:spPr>
          <a:xfrm>
            <a:off x="1137096" y="5847924"/>
            <a:ext cx="3231189" cy="211881"/>
          </a:xfrm>
          <a:prstGeom prst="rect">
            <a:avLst/>
          </a:prstGeom>
          <a:noFill/>
          <a:ln/>
        </p:spPr>
        <p:txBody>
          <a:bodyPr wrap="square" lIns="0" tIns="0" rIns="0" bIns="0" rtlCol="0" anchor="ctr"/>
          <a:lstStyle/>
          <a:p>
            <a:pPr>
              <a:lnSpc>
                <a:spcPct val="130000"/>
              </a:lnSpc>
            </a:pPr>
            <a:r>
              <a:rPr lang="en-US" sz="1112" b="1" dirty="0">
                <a:solidFill>
                  <a:srgbClr val="1D1D1F"/>
                </a:solidFill>
                <a:latin typeface="Liter" pitchFamily="34" charset="0"/>
                <a:ea typeface="Liter" pitchFamily="34" charset="-122"/>
                <a:cs typeface="Liter" pitchFamily="34" charset="-120"/>
              </a:rPr>
              <a:t>Improved Performance</a:t>
            </a:r>
            <a:endParaRPr lang="en-US" sz="1600" dirty="0"/>
          </a:p>
        </p:txBody>
      </p:sp>
      <p:sp>
        <p:nvSpPr>
          <p:cNvPr id="27" name="Text 25"/>
          <p:cNvSpPr/>
          <p:nvPr/>
        </p:nvSpPr>
        <p:spPr>
          <a:xfrm>
            <a:off x="1137096" y="6095118"/>
            <a:ext cx="3222361" cy="176568"/>
          </a:xfrm>
          <a:prstGeom prst="rect">
            <a:avLst/>
          </a:prstGeom>
          <a:noFill/>
          <a:ln/>
        </p:spPr>
        <p:txBody>
          <a:bodyPr wrap="square" lIns="0" tIns="0" rIns="0" bIns="0" rtlCol="0" anchor="ctr"/>
          <a:lstStyle/>
          <a:p>
            <a:pPr>
              <a:lnSpc>
                <a:spcPct val="120000"/>
              </a:lnSpc>
            </a:pPr>
            <a:r>
              <a:rPr lang="en-US" sz="973" dirty="0">
                <a:solidFill>
                  <a:srgbClr val="86868B"/>
                </a:solidFill>
                <a:latin typeface="Quattrocento Sans" pitchFamily="34" charset="0"/>
                <a:ea typeface="Quattrocento Sans" pitchFamily="34" charset="-122"/>
                <a:cs typeface="Quattrocento Sans" pitchFamily="34" charset="-120"/>
              </a:rPr>
              <a:t>Enhanced accuracy, efficiency, and scalability in processing</a:t>
            </a:r>
            <a:endParaRPr lang="en-US" sz="1600" dirty="0"/>
          </a:p>
        </p:txBody>
      </p:sp>
      <p:pic>
        <p:nvPicPr>
          <p:cNvPr id="28" name="Image 0" descr="https://kimi-web-img.moonshot.cn/img/proceedingsoftheieee.ieee.org/311668674eb4c5f2e7da28640e5216ce9faf7ac0.jpg"/>
          <p:cNvPicPr>
            <a:picLocks noChangeAspect="1"/>
          </p:cNvPicPr>
          <p:nvPr/>
        </p:nvPicPr>
        <p:blipFill>
          <a:blip r:embed="rId3"/>
          <a:srcRect l="21021" r="21021"/>
          <a:stretch/>
        </p:blipFill>
        <p:spPr>
          <a:xfrm>
            <a:off x="7373357" y="1235974"/>
            <a:ext cx="4467163" cy="4431849"/>
          </a:xfrm>
          <a:prstGeom prst="roundRect">
            <a:avLst>
              <a:gd name="adj" fmla="val 4781"/>
            </a:avLst>
          </a:prstGeom>
        </p:spPr>
      </p:pic>
      <p:sp>
        <p:nvSpPr>
          <p:cNvPr id="29" name="Shape 26"/>
          <p:cNvSpPr/>
          <p:nvPr/>
        </p:nvSpPr>
        <p:spPr>
          <a:xfrm>
            <a:off x="7376888" y="5844502"/>
            <a:ext cx="1410776" cy="783961"/>
          </a:xfrm>
          <a:custGeom>
            <a:avLst/>
            <a:gdLst/>
            <a:ahLst/>
            <a:cxnLst/>
            <a:rect l="l" t="t" r="r" b="b"/>
            <a:pathLst>
              <a:path w="1410776" h="783961">
                <a:moveTo>
                  <a:pt x="141254" y="0"/>
                </a:moveTo>
                <a:lnTo>
                  <a:pt x="1269522" y="0"/>
                </a:lnTo>
                <a:cubicBezTo>
                  <a:pt x="1347534" y="0"/>
                  <a:pt x="1410776" y="63242"/>
                  <a:pt x="1410776" y="141254"/>
                </a:cubicBezTo>
                <a:lnTo>
                  <a:pt x="1410776" y="642707"/>
                </a:lnTo>
                <a:cubicBezTo>
                  <a:pt x="1410776" y="720667"/>
                  <a:pt x="1347482" y="783961"/>
                  <a:pt x="1269522" y="783961"/>
                </a:cubicBezTo>
                <a:lnTo>
                  <a:pt x="141254" y="783961"/>
                </a:lnTo>
                <a:cubicBezTo>
                  <a:pt x="63242" y="783961"/>
                  <a:pt x="0" y="720719"/>
                  <a:pt x="0" y="642707"/>
                </a:cubicBezTo>
                <a:lnTo>
                  <a:pt x="0" y="141254"/>
                </a:lnTo>
                <a:cubicBezTo>
                  <a:pt x="0" y="63294"/>
                  <a:pt x="63294" y="0"/>
                  <a:pt x="141254" y="0"/>
                </a:cubicBezTo>
                <a:close/>
              </a:path>
            </a:pathLst>
          </a:custGeom>
          <a:solidFill>
            <a:srgbClr val="FFFFFF">
              <a:alpha val="85098"/>
            </a:srgbClr>
          </a:solidFill>
          <a:ln w="10160">
            <a:solidFill>
              <a:srgbClr val="FFFFFF">
                <a:alpha val="30196"/>
              </a:srgbClr>
            </a:solidFill>
            <a:prstDash val="solid"/>
          </a:ln>
        </p:spPr>
      </p:sp>
      <p:sp>
        <p:nvSpPr>
          <p:cNvPr id="30" name="Text 27"/>
          <p:cNvSpPr/>
          <p:nvPr/>
        </p:nvSpPr>
        <p:spPr>
          <a:xfrm>
            <a:off x="7455461" y="5989288"/>
            <a:ext cx="1253631" cy="317822"/>
          </a:xfrm>
          <a:prstGeom prst="rect">
            <a:avLst/>
          </a:prstGeom>
          <a:noFill/>
          <a:ln/>
        </p:spPr>
        <p:txBody>
          <a:bodyPr wrap="square" lIns="0" tIns="0" rIns="0" bIns="0" rtlCol="0" anchor="ctr"/>
          <a:lstStyle/>
          <a:p>
            <a:pPr algn="ctr">
              <a:lnSpc>
                <a:spcPct val="100000"/>
              </a:lnSpc>
            </a:pPr>
            <a:r>
              <a:rPr lang="en-US" sz="2085" b="1" dirty="0">
                <a:solidFill>
                  <a:srgbClr val="0071E3"/>
                </a:solidFill>
                <a:latin typeface="Liter" pitchFamily="34" charset="0"/>
                <a:ea typeface="Liter" pitchFamily="34" charset="-122"/>
                <a:cs typeface="Liter" pitchFamily="34" charset="-120"/>
              </a:rPr>
              <a:t>NLP</a:t>
            </a:r>
            <a:endParaRPr lang="en-US" sz="1600" dirty="0"/>
          </a:p>
        </p:txBody>
      </p:sp>
      <p:sp>
        <p:nvSpPr>
          <p:cNvPr id="31" name="Text 28"/>
          <p:cNvSpPr/>
          <p:nvPr/>
        </p:nvSpPr>
        <p:spPr>
          <a:xfrm>
            <a:off x="7495189" y="6342423"/>
            <a:ext cx="1174175" cy="141254"/>
          </a:xfrm>
          <a:prstGeom prst="rect">
            <a:avLst/>
          </a:prstGeom>
          <a:noFill/>
          <a:ln/>
        </p:spPr>
        <p:txBody>
          <a:bodyPr wrap="square" lIns="0" tIns="0" rIns="0" bIns="0" rtlCol="0" anchor="ctr"/>
          <a:lstStyle/>
          <a:p>
            <a:pPr algn="ctr">
              <a:lnSpc>
                <a:spcPct val="110000"/>
              </a:lnSpc>
            </a:pPr>
            <a:r>
              <a:rPr lang="en-US" sz="834" dirty="0">
                <a:solidFill>
                  <a:srgbClr val="86868B"/>
                </a:solidFill>
                <a:latin typeface="Quattrocento Sans" pitchFamily="34" charset="0"/>
                <a:ea typeface="Quattrocento Sans" pitchFamily="34" charset="-122"/>
                <a:cs typeface="Quattrocento Sans" pitchFamily="34" charset="-120"/>
              </a:rPr>
              <a:t>Processing</a:t>
            </a:r>
            <a:endParaRPr lang="en-US" sz="1600" dirty="0"/>
          </a:p>
        </p:txBody>
      </p:sp>
      <p:sp>
        <p:nvSpPr>
          <p:cNvPr id="32" name="Shape 29"/>
          <p:cNvSpPr/>
          <p:nvPr/>
        </p:nvSpPr>
        <p:spPr>
          <a:xfrm>
            <a:off x="8901551" y="5844502"/>
            <a:ext cx="1410776" cy="783961"/>
          </a:xfrm>
          <a:custGeom>
            <a:avLst/>
            <a:gdLst/>
            <a:ahLst/>
            <a:cxnLst/>
            <a:rect l="l" t="t" r="r" b="b"/>
            <a:pathLst>
              <a:path w="1410776" h="783961">
                <a:moveTo>
                  <a:pt x="141254" y="0"/>
                </a:moveTo>
                <a:lnTo>
                  <a:pt x="1269522" y="0"/>
                </a:lnTo>
                <a:cubicBezTo>
                  <a:pt x="1347534" y="0"/>
                  <a:pt x="1410776" y="63242"/>
                  <a:pt x="1410776" y="141254"/>
                </a:cubicBezTo>
                <a:lnTo>
                  <a:pt x="1410776" y="642707"/>
                </a:lnTo>
                <a:cubicBezTo>
                  <a:pt x="1410776" y="720667"/>
                  <a:pt x="1347482" y="783961"/>
                  <a:pt x="1269522" y="783961"/>
                </a:cubicBezTo>
                <a:lnTo>
                  <a:pt x="141254" y="783961"/>
                </a:lnTo>
                <a:cubicBezTo>
                  <a:pt x="63242" y="783961"/>
                  <a:pt x="0" y="720719"/>
                  <a:pt x="0" y="642707"/>
                </a:cubicBezTo>
                <a:lnTo>
                  <a:pt x="0" y="141254"/>
                </a:lnTo>
                <a:cubicBezTo>
                  <a:pt x="0" y="63294"/>
                  <a:pt x="63294" y="0"/>
                  <a:pt x="141254" y="0"/>
                </a:cubicBezTo>
                <a:close/>
              </a:path>
            </a:pathLst>
          </a:custGeom>
          <a:solidFill>
            <a:srgbClr val="FFFFFF">
              <a:alpha val="85098"/>
            </a:srgbClr>
          </a:solidFill>
          <a:ln w="10160">
            <a:solidFill>
              <a:srgbClr val="FFFFFF">
                <a:alpha val="30196"/>
              </a:srgbClr>
            </a:solidFill>
            <a:prstDash val="solid"/>
          </a:ln>
        </p:spPr>
      </p:sp>
      <p:sp>
        <p:nvSpPr>
          <p:cNvPr id="33" name="Text 30"/>
          <p:cNvSpPr/>
          <p:nvPr/>
        </p:nvSpPr>
        <p:spPr>
          <a:xfrm>
            <a:off x="8980123" y="5989288"/>
            <a:ext cx="1253631" cy="317822"/>
          </a:xfrm>
          <a:prstGeom prst="rect">
            <a:avLst/>
          </a:prstGeom>
          <a:noFill/>
          <a:ln/>
        </p:spPr>
        <p:txBody>
          <a:bodyPr wrap="square" lIns="0" tIns="0" rIns="0" bIns="0" rtlCol="0" anchor="ctr"/>
          <a:lstStyle/>
          <a:p>
            <a:pPr algn="ctr">
              <a:lnSpc>
                <a:spcPct val="100000"/>
              </a:lnSpc>
            </a:pPr>
            <a:r>
              <a:rPr lang="en-US" sz="2085" b="1" dirty="0">
                <a:solidFill>
                  <a:srgbClr val="0071E3"/>
                </a:solidFill>
                <a:latin typeface="Liter" pitchFamily="34" charset="0"/>
                <a:ea typeface="Liter" pitchFamily="34" charset="-122"/>
                <a:cs typeface="Liter" pitchFamily="34" charset="-120"/>
              </a:rPr>
              <a:t>NMF</a:t>
            </a:r>
            <a:endParaRPr lang="en-US" sz="1600" dirty="0"/>
          </a:p>
        </p:txBody>
      </p:sp>
      <p:sp>
        <p:nvSpPr>
          <p:cNvPr id="34" name="Text 31"/>
          <p:cNvSpPr/>
          <p:nvPr/>
        </p:nvSpPr>
        <p:spPr>
          <a:xfrm>
            <a:off x="9019851" y="6342423"/>
            <a:ext cx="1174175" cy="141254"/>
          </a:xfrm>
          <a:prstGeom prst="rect">
            <a:avLst/>
          </a:prstGeom>
          <a:noFill/>
          <a:ln/>
        </p:spPr>
        <p:txBody>
          <a:bodyPr wrap="square" lIns="0" tIns="0" rIns="0" bIns="0" rtlCol="0" anchor="ctr"/>
          <a:lstStyle/>
          <a:p>
            <a:pPr algn="ctr">
              <a:lnSpc>
                <a:spcPct val="110000"/>
              </a:lnSpc>
            </a:pPr>
            <a:r>
              <a:rPr lang="en-US" sz="834" dirty="0">
                <a:solidFill>
                  <a:srgbClr val="86868B"/>
                </a:solidFill>
                <a:latin typeface="Quattrocento Sans" pitchFamily="34" charset="0"/>
                <a:ea typeface="Quattrocento Sans" pitchFamily="34" charset="-122"/>
                <a:cs typeface="Quattrocento Sans" pitchFamily="34" charset="-120"/>
              </a:rPr>
              <a:t>Topic Model</a:t>
            </a:r>
            <a:endParaRPr lang="en-US" sz="1600" dirty="0"/>
          </a:p>
        </p:txBody>
      </p:sp>
      <p:sp>
        <p:nvSpPr>
          <p:cNvPr id="35" name="Shape 32"/>
          <p:cNvSpPr/>
          <p:nvPr/>
        </p:nvSpPr>
        <p:spPr>
          <a:xfrm>
            <a:off x="10426323" y="5844502"/>
            <a:ext cx="1410776" cy="783961"/>
          </a:xfrm>
          <a:custGeom>
            <a:avLst/>
            <a:gdLst/>
            <a:ahLst/>
            <a:cxnLst/>
            <a:rect l="l" t="t" r="r" b="b"/>
            <a:pathLst>
              <a:path w="1410776" h="783961">
                <a:moveTo>
                  <a:pt x="141254" y="0"/>
                </a:moveTo>
                <a:lnTo>
                  <a:pt x="1269522" y="0"/>
                </a:lnTo>
                <a:cubicBezTo>
                  <a:pt x="1347534" y="0"/>
                  <a:pt x="1410776" y="63242"/>
                  <a:pt x="1410776" y="141254"/>
                </a:cubicBezTo>
                <a:lnTo>
                  <a:pt x="1410776" y="642707"/>
                </a:lnTo>
                <a:cubicBezTo>
                  <a:pt x="1410776" y="720667"/>
                  <a:pt x="1347482" y="783961"/>
                  <a:pt x="1269522" y="783961"/>
                </a:cubicBezTo>
                <a:lnTo>
                  <a:pt x="141254" y="783961"/>
                </a:lnTo>
                <a:cubicBezTo>
                  <a:pt x="63242" y="783961"/>
                  <a:pt x="0" y="720719"/>
                  <a:pt x="0" y="642707"/>
                </a:cubicBezTo>
                <a:lnTo>
                  <a:pt x="0" y="141254"/>
                </a:lnTo>
                <a:cubicBezTo>
                  <a:pt x="0" y="63294"/>
                  <a:pt x="63294" y="0"/>
                  <a:pt x="141254" y="0"/>
                </a:cubicBezTo>
                <a:close/>
              </a:path>
            </a:pathLst>
          </a:custGeom>
          <a:solidFill>
            <a:srgbClr val="FFFFFF">
              <a:alpha val="85098"/>
            </a:srgbClr>
          </a:solidFill>
          <a:ln w="10160">
            <a:solidFill>
              <a:srgbClr val="FFFFFF">
                <a:alpha val="30196"/>
              </a:srgbClr>
            </a:solidFill>
            <a:prstDash val="solid"/>
          </a:ln>
        </p:spPr>
      </p:sp>
      <p:sp>
        <p:nvSpPr>
          <p:cNvPr id="36" name="Text 33"/>
          <p:cNvSpPr/>
          <p:nvPr/>
        </p:nvSpPr>
        <p:spPr>
          <a:xfrm>
            <a:off x="10504896" y="5989288"/>
            <a:ext cx="1253631" cy="317822"/>
          </a:xfrm>
          <a:prstGeom prst="rect">
            <a:avLst/>
          </a:prstGeom>
          <a:noFill/>
          <a:ln/>
        </p:spPr>
        <p:txBody>
          <a:bodyPr wrap="square" lIns="0" tIns="0" rIns="0" bIns="0" rtlCol="0" anchor="ctr"/>
          <a:lstStyle/>
          <a:p>
            <a:pPr algn="ctr">
              <a:lnSpc>
                <a:spcPct val="100000"/>
              </a:lnSpc>
            </a:pPr>
            <a:r>
              <a:rPr lang="en-US" sz="2085" b="1" dirty="0">
                <a:solidFill>
                  <a:srgbClr val="0071E3"/>
                </a:solidFill>
                <a:latin typeface="Liter" pitchFamily="34" charset="0"/>
                <a:ea typeface="Liter" pitchFamily="34" charset="-122"/>
                <a:cs typeface="Liter" pitchFamily="34" charset="-120"/>
              </a:rPr>
              <a:t>ML</a:t>
            </a:r>
            <a:endParaRPr lang="en-US" sz="1600" dirty="0"/>
          </a:p>
        </p:txBody>
      </p:sp>
      <p:sp>
        <p:nvSpPr>
          <p:cNvPr id="37" name="Text 34"/>
          <p:cNvSpPr/>
          <p:nvPr/>
        </p:nvSpPr>
        <p:spPr>
          <a:xfrm>
            <a:off x="10544624" y="6342423"/>
            <a:ext cx="1174175" cy="141254"/>
          </a:xfrm>
          <a:prstGeom prst="rect">
            <a:avLst/>
          </a:prstGeom>
          <a:noFill/>
          <a:ln/>
        </p:spPr>
        <p:txBody>
          <a:bodyPr wrap="square" lIns="0" tIns="0" rIns="0" bIns="0" rtlCol="0" anchor="ctr"/>
          <a:lstStyle/>
          <a:p>
            <a:pPr algn="ctr">
              <a:lnSpc>
                <a:spcPct val="110000"/>
              </a:lnSpc>
            </a:pPr>
            <a:r>
              <a:rPr lang="en-US" sz="834" dirty="0">
                <a:solidFill>
                  <a:srgbClr val="86868B"/>
                </a:solidFill>
                <a:latin typeface="Quattrocento Sans" pitchFamily="34" charset="0"/>
                <a:ea typeface="Quattrocento Sans" pitchFamily="34" charset="-122"/>
                <a:cs typeface="Quattrocento Sans" pitchFamily="34" charset="-120"/>
              </a:rPr>
              <a:t>Classification</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Data Foundation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Dataset Overview &amp; Key Insights</a:t>
            </a:r>
            <a:endParaRPr lang="en-US" sz="1600" dirty="0"/>
          </a:p>
        </p:txBody>
      </p:sp>
      <p:sp>
        <p:nvSpPr>
          <p:cNvPr id="4" name="Shape 2"/>
          <p:cNvSpPr/>
          <p:nvPr/>
        </p:nvSpPr>
        <p:spPr>
          <a:xfrm>
            <a:off x="384810" y="1337310"/>
            <a:ext cx="5589270" cy="5141595"/>
          </a:xfrm>
          <a:custGeom>
            <a:avLst/>
            <a:gdLst/>
            <a:ahLst/>
            <a:cxnLst/>
            <a:rect l="l" t="t" r="r" b="b"/>
            <a:pathLst>
              <a:path w="5589270" h="5141595">
                <a:moveTo>
                  <a:pt x="228595" y="0"/>
                </a:moveTo>
                <a:lnTo>
                  <a:pt x="5360675" y="0"/>
                </a:lnTo>
                <a:cubicBezTo>
                  <a:pt x="5486924" y="0"/>
                  <a:pt x="5589270" y="102346"/>
                  <a:pt x="5589270" y="228595"/>
                </a:cubicBezTo>
                <a:lnTo>
                  <a:pt x="5589270" y="4913000"/>
                </a:lnTo>
                <a:cubicBezTo>
                  <a:pt x="5589270" y="5039249"/>
                  <a:pt x="5486924" y="5141595"/>
                  <a:pt x="5360675" y="5141595"/>
                </a:cubicBezTo>
                <a:lnTo>
                  <a:pt x="228595" y="5141595"/>
                </a:lnTo>
                <a:cubicBezTo>
                  <a:pt x="102346" y="5141595"/>
                  <a:pt x="0" y="5039249"/>
                  <a:pt x="0" y="4913000"/>
                </a:cubicBezTo>
                <a:lnTo>
                  <a:pt x="0" y="228595"/>
                </a:lnTo>
                <a:cubicBezTo>
                  <a:pt x="0" y="102346"/>
                  <a:pt x="102346" y="0"/>
                  <a:pt x="228595"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617220" y="156972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6" name="Shape 4"/>
          <p:cNvSpPr/>
          <p:nvPr/>
        </p:nvSpPr>
        <p:spPr>
          <a:xfrm>
            <a:off x="735092" y="1674495"/>
            <a:ext cx="150019" cy="171450"/>
          </a:xfrm>
          <a:custGeom>
            <a:avLst/>
            <a:gdLst/>
            <a:ahLst/>
            <a:cxnLst/>
            <a:rect l="l" t="t" r="r" b="b"/>
            <a:pathLst>
              <a:path w="150019" h="171450">
                <a:moveTo>
                  <a:pt x="150019" y="68915"/>
                </a:moveTo>
                <a:cubicBezTo>
                  <a:pt x="145063" y="72197"/>
                  <a:pt x="139370" y="74842"/>
                  <a:pt x="133443" y="76952"/>
                </a:cubicBezTo>
                <a:cubicBezTo>
                  <a:pt x="117704" y="82577"/>
                  <a:pt x="97043" y="85725"/>
                  <a:pt x="75009" y="85725"/>
                </a:cubicBezTo>
                <a:cubicBezTo>
                  <a:pt x="52975" y="85725"/>
                  <a:pt x="32281" y="82544"/>
                  <a:pt x="16576" y="76952"/>
                </a:cubicBezTo>
                <a:cubicBezTo>
                  <a:pt x="10682" y="74842"/>
                  <a:pt x="4956" y="72197"/>
                  <a:pt x="0" y="68915"/>
                </a:cubicBezTo>
                <a:lnTo>
                  <a:pt x="0" y="96441"/>
                </a:lnTo>
                <a:cubicBezTo>
                  <a:pt x="0" y="111242"/>
                  <a:pt x="33587" y="123230"/>
                  <a:pt x="75009" y="123230"/>
                </a:cubicBezTo>
                <a:cubicBezTo>
                  <a:pt x="116432" y="123230"/>
                  <a:pt x="150019" y="111242"/>
                  <a:pt x="150019" y="96441"/>
                </a:cubicBezTo>
                <a:lnTo>
                  <a:pt x="150019" y="68915"/>
                </a:lnTo>
                <a:close/>
                <a:moveTo>
                  <a:pt x="150019" y="42863"/>
                </a:moveTo>
                <a:lnTo>
                  <a:pt x="150019" y="26789"/>
                </a:lnTo>
                <a:cubicBezTo>
                  <a:pt x="150019" y="11988"/>
                  <a:pt x="116432" y="0"/>
                  <a:pt x="75009" y="0"/>
                </a:cubicBezTo>
                <a:cubicBezTo>
                  <a:pt x="33587" y="0"/>
                  <a:pt x="0" y="11988"/>
                  <a:pt x="0" y="26789"/>
                </a:cubicBezTo>
                <a:lnTo>
                  <a:pt x="0" y="42863"/>
                </a:lnTo>
                <a:cubicBezTo>
                  <a:pt x="0" y="57663"/>
                  <a:pt x="33587" y="69652"/>
                  <a:pt x="75009" y="69652"/>
                </a:cubicBezTo>
                <a:cubicBezTo>
                  <a:pt x="116432" y="69652"/>
                  <a:pt x="150019" y="57663"/>
                  <a:pt x="150019" y="42863"/>
                </a:cubicBezTo>
                <a:close/>
                <a:moveTo>
                  <a:pt x="133443" y="130530"/>
                </a:moveTo>
                <a:cubicBezTo>
                  <a:pt x="117738" y="136122"/>
                  <a:pt x="97077" y="139303"/>
                  <a:pt x="75009" y="139303"/>
                </a:cubicBezTo>
                <a:cubicBezTo>
                  <a:pt x="52942" y="139303"/>
                  <a:pt x="32281" y="136122"/>
                  <a:pt x="16576" y="130530"/>
                </a:cubicBezTo>
                <a:cubicBezTo>
                  <a:pt x="10682" y="128420"/>
                  <a:pt x="4956" y="125775"/>
                  <a:pt x="0" y="122493"/>
                </a:cubicBezTo>
                <a:lnTo>
                  <a:pt x="0" y="144661"/>
                </a:lnTo>
                <a:cubicBezTo>
                  <a:pt x="0" y="159462"/>
                  <a:pt x="33587" y="171450"/>
                  <a:pt x="75009" y="171450"/>
                </a:cubicBezTo>
                <a:cubicBezTo>
                  <a:pt x="116432" y="171450"/>
                  <a:pt x="150019" y="159462"/>
                  <a:pt x="150019" y="144661"/>
                </a:cubicBezTo>
                <a:lnTo>
                  <a:pt x="150019" y="122493"/>
                </a:lnTo>
                <a:cubicBezTo>
                  <a:pt x="145063" y="125775"/>
                  <a:pt x="139370" y="128420"/>
                  <a:pt x="133443" y="130530"/>
                </a:cubicBezTo>
                <a:close/>
              </a:path>
            </a:pathLst>
          </a:custGeom>
          <a:solidFill>
            <a:srgbClr val="0071E3"/>
          </a:solidFill>
          <a:ln/>
        </p:spPr>
      </p:sp>
      <p:sp>
        <p:nvSpPr>
          <p:cNvPr id="7" name="Text 5"/>
          <p:cNvSpPr/>
          <p:nvPr/>
        </p:nvSpPr>
        <p:spPr>
          <a:xfrm>
            <a:off x="1112520" y="1607820"/>
            <a:ext cx="189547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Dataset Overview</a:t>
            </a:r>
            <a:endParaRPr lang="en-US" sz="1600" dirty="0"/>
          </a:p>
        </p:txBody>
      </p:sp>
      <p:sp>
        <p:nvSpPr>
          <p:cNvPr id="8" name="Text 6"/>
          <p:cNvSpPr/>
          <p:nvPr/>
        </p:nvSpPr>
        <p:spPr>
          <a:xfrm>
            <a:off x="617220" y="2141220"/>
            <a:ext cx="5200650" cy="742950"/>
          </a:xfrm>
          <a:prstGeom prst="rect">
            <a:avLst/>
          </a:prstGeom>
          <a:noFill/>
          <a:ln/>
        </p:spPr>
        <p:txBody>
          <a:bodyPr wrap="square" lIns="0" tIns="0" rIns="0" bIns="0" rtlCol="0" anchor="ctr"/>
          <a:lstStyle/>
          <a:p>
            <a:pPr>
              <a:lnSpc>
                <a:spcPct val="140000"/>
              </a:lnSpc>
            </a:pPr>
            <a:r>
              <a:rPr lang="en-US" sz="1200" dirty="0">
                <a:solidFill>
                  <a:srgbClr val="1D1D1F"/>
                </a:solidFill>
                <a:latin typeface="Quattrocento Sans" pitchFamily="34" charset="0"/>
                <a:ea typeface="Quattrocento Sans" pitchFamily="34" charset="-122"/>
                <a:cs typeface="Quattrocento Sans" pitchFamily="34" charset="-120"/>
              </a:rPr>
              <a:t>The dataset consists of </a:t>
            </a:r>
            <a:r>
              <a:rPr lang="en-US" sz="1200" b="1" dirty="0">
                <a:solidFill>
                  <a:srgbClr val="1D1D1F"/>
                </a:solidFill>
                <a:latin typeface="Quattrocento Sans" pitchFamily="34" charset="0"/>
                <a:ea typeface="Quattrocento Sans" pitchFamily="34" charset="-122"/>
                <a:cs typeface="Quattrocento Sans" pitchFamily="34" charset="-120"/>
              </a:rPr>
              <a:t>unstructured textual data</a:t>
            </a:r>
            <a:r>
              <a:rPr lang="en-US" sz="1200" dirty="0">
                <a:solidFill>
                  <a:srgbClr val="1D1D1F"/>
                </a:solidFill>
                <a:latin typeface="Quattrocento Sans" pitchFamily="34" charset="0"/>
                <a:ea typeface="Quattrocento Sans" pitchFamily="34" charset="-122"/>
                <a:cs typeface="Quattrocento Sans" pitchFamily="34" charset="-120"/>
              </a:rPr>
              <a:t> collected from user-generated sources such as reviews, comments, or documents. Each record contains raw text that undergoes comprehensive processing.</a:t>
            </a:r>
            <a:endParaRPr lang="en-US" sz="1600" dirty="0"/>
          </a:p>
        </p:txBody>
      </p:sp>
      <p:sp>
        <p:nvSpPr>
          <p:cNvPr id="9" name="Shape 7"/>
          <p:cNvSpPr/>
          <p:nvPr/>
        </p:nvSpPr>
        <p:spPr>
          <a:xfrm>
            <a:off x="617220" y="3074670"/>
            <a:ext cx="5124450" cy="419100"/>
          </a:xfrm>
          <a:custGeom>
            <a:avLst/>
            <a:gdLst/>
            <a:ahLst/>
            <a:cxnLst/>
            <a:rect l="l" t="t" r="r" b="b"/>
            <a:pathLst>
              <a:path w="5124450" h="419100">
                <a:moveTo>
                  <a:pt x="114301" y="0"/>
                </a:moveTo>
                <a:lnTo>
                  <a:pt x="5010149" y="0"/>
                </a:lnTo>
                <a:cubicBezTo>
                  <a:pt x="5073233" y="0"/>
                  <a:pt x="5124450" y="51217"/>
                  <a:pt x="5124450" y="114301"/>
                </a:cubicBezTo>
                <a:lnTo>
                  <a:pt x="5124450" y="304799"/>
                </a:lnTo>
                <a:cubicBezTo>
                  <a:pt x="5124450" y="367883"/>
                  <a:pt x="5073233" y="419100"/>
                  <a:pt x="5010149" y="419100"/>
                </a:cubicBezTo>
                <a:lnTo>
                  <a:pt x="114301" y="419100"/>
                </a:lnTo>
                <a:cubicBezTo>
                  <a:pt x="51217" y="419100"/>
                  <a:pt x="0" y="367883"/>
                  <a:pt x="0" y="304799"/>
                </a:cubicBezTo>
                <a:lnTo>
                  <a:pt x="0" y="114301"/>
                </a:lnTo>
                <a:cubicBezTo>
                  <a:pt x="0" y="51217"/>
                  <a:pt x="51217" y="0"/>
                  <a:pt x="114301" y="0"/>
                </a:cubicBezTo>
                <a:close/>
              </a:path>
            </a:pathLst>
          </a:custGeom>
          <a:solidFill>
            <a:srgbClr val="FFFFFF">
              <a:alpha val="60000"/>
            </a:srgbClr>
          </a:solidFill>
          <a:ln/>
        </p:spPr>
      </p:sp>
      <p:sp>
        <p:nvSpPr>
          <p:cNvPr id="10" name="Shape 8"/>
          <p:cNvSpPr/>
          <p:nvPr/>
        </p:nvSpPr>
        <p:spPr>
          <a:xfrm>
            <a:off x="750570" y="320802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71E3"/>
          </a:solidFill>
          <a:ln/>
        </p:spPr>
      </p:sp>
      <p:sp>
        <p:nvSpPr>
          <p:cNvPr id="11" name="Text 9"/>
          <p:cNvSpPr/>
          <p:nvPr/>
        </p:nvSpPr>
        <p:spPr>
          <a:xfrm>
            <a:off x="1036320" y="3188970"/>
            <a:ext cx="186690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Raw text from multiple sources</a:t>
            </a:r>
            <a:endParaRPr lang="en-US" sz="1600" dirty="0"/>
          </a:p>
        </p:txBody>
      </p:sp>
      <p:sp>
        <p:nvSpPr>
          <p:cNvPr id="12" name="Shape 10"/>
          <p:cNvSpPr/>
          <p:nvPr/>
        </p:nvSpPr>
        <p:spPr>
          <a:xfrm>
            <a:off x="617220" y="3608070"/>
            <a:ext cx="5124450" cy="419100"/>
          </a:xfrm>
          <a:custGeom>
            <a:avLst/>
            <a:gdLst/>
            <a:ahLst/>
            <a:cxnLst/>
            <a:rect l="l" t="t" r="r" b="b"/>
            <a:pathLst>
              <a:path w="5124450" h="419100">
                <a:moveTo>
                  <a:pt x="114301" y="0"/>
                </a:moveTo>
                <a:lnTo>
                  <a:pt x="5010149" y="0"/>
                </a:lnTo>
                <a:cubicBezTo>
                  <a:pt x="5073233" y="0"/>
                  <a:pt x="5124450" y="51217"/>
                  <a:pt x="5124450" y="114301"/>
                </a:cubicBezTo>
                <a:lnTo>
                  <a:pt x="5124450" y="304799"/>
                </a:lnTo>
                <a:cubicBezTo>
                  <a:pt x="5124450" y="367883"/>
                  <a:pt x="5073233" y="419100"/>
                  <a:pt x="5010149" y="419100"/>
                </a:cubicBezTo>
                <a:lnTo>
                  <a:pt x="114301" y="419100"/>
                </a:lnTo>
                <a:cubicBezTo>
                  <a:pt x="51217" y="419100"/>
                  <a:pt x="0" y="367883"/>
                  <a:pt x="0" y="304799"/>
                </a:cubicBezTo>
                <a:lnTo>
                  <a:pt x="0" y="114301"/>
                </a:lnTo>
                <a:cubicBezTo>
                  <a:pt x="0" y="51217"/>
                  <a:pt x="51217" y="0"/>
                  <a:pt x="114301" y="0"/>
                </a:cubicBezTo>
                <a:close/>
              </a:path>
            </a:pathLst>
          </a:custGeom>
          <a:solidFill>
            <a:srgbClr val="FFFFFF">
              <a:alpha val="60000"/>
            </a:srgbClr>
          </a:solidFill>
          <a:ln/>
        </p:spPr>
      </p:sp>
      <p:sp>
        <p:nvSpPr>
          <p:cNvPr id="13" name="Shape 11"/>
          <p:cNvSpPr/>
          <p:nvPr/>
        </p:nvSpPr>
        <p:spPr>
          <a:xfrm>
            <a:off x="750570" y="374142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71E3"/>
          </a:solidFill>
          <a:ln/>
        </p:spPr>
      </p:sp>
      <p:sp>
        <p:nvSpPr>
          <p:cNvPr id="14" name="Text 12"/>
          <p:cNvSpPr/>
          <p:nvPr/>
        </p:nvSpPr>
        <p:spPr>
          <a:xfrm>
            <a:off x="1036320" y="3722370"/>
            <a:ext cx="202882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Cleaning and tokenization pipeline</a:t>
            </a:r>
            <a:endParaRPr lang="en-US" sz="1600" dirty="0"/>
          </a:p>
        </p:txBody>
      </p:sp>
      <p:sp>
        <p:nvSpPr>
          <p:cNvPr id="15" name="Shape 13"/>
          <p:cNvSpPr/>
          <p:nvPr/>
        </p:nvSpPr>
        <p:spPr>
          <a:xfrm>
            <a:off x="617220" y="4141470"/>
            <a:ext cx="5124450" cy="419100"/>
          </a:xfrm>
          <a:custGeom>
            <a:avLst/>
            <a:gdLst/>
            <a:ahLst/>
            <a:cxnLst/>
            <a:rect l="l" t="t" r="r" b="b"/>
            <a:pathLst>
              <a:path w="5124450" h="419100">
                <a:moveTo>
                  <a:pt x="114301" y="0"/>
                </a:moveTo>
                <a:lnTo>
                  <a:pt x="5010149" y="0"/>
                </a:lnTo>
                <a:cubicBezTo>
                  <a:pt x="5073233" y="0"/>
                  <a:pt x="5124450" y="51217"/>
                  <a:pt x="5124450" y="114301"/>
                </a:cubicBezTo>
                <a:lnTo>
                  <a:pt x="5124450" y="304799"/>
                </a:lnTo>
                <a:cubicBezTo>
                  <a:pt x="5124450" y="367883"/>
                  <a:pt x="5073233" y="419100"/>
                  <a:pt x="5010149" y="419100"/>
                </a:cubicBezTo>
                <a:lnTo>
                  <a:pt x="114301" y="419100"/>
                </a:lnTo>
                <a:cubicBezTo>
                  <a:pt x="51217" y="419100"/>
                  <a:pt x="0" y="367883"/>
                  <a:pt x="0" y="304799"/>
                </a:cubicBezTo>
                <a:lnTo>
                  <a:pt x="0" y="114301"/>
                </a:lnTo>
                <a:cubicBezTo>
                  <a:pt x="0" y="51217"/>
                  <a:pt x="51217" y="0"/>
                  <a:pt x="114301" y="0"/>
                </a:cubicBezTo>
                <a:close/>
              </a:path>
            </a:pathLst>
          </a:custGeom>
          <a:solidFill>
            <a:srgbClr val="FFFFFF">
              <a:alpha val="60000"/>
            </a:srgbClr>
          </a:solidFill>
          <a:ln/>
        </p:spPr>
      </p:sp>
      <p:sp>
        <p:nvSpPr>
          <p:cNvPr id="16" name="Shape 14"/>
          <p:cNvSpPr/>
          <p:nvPr/>
        </p:nvSpPr>
        <p:spPr>
          <a:xfrm>
            <a:off x="750570" y="427482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71E3"/>
          </a:solidFill>
          <a:ln/>
        </p:spPr>
      </p:sp>
      <p:sp>
        <p:nvSpPr>
          <p:cNvPr id="17" name="Text 15"/>
          <p:cNvSpPr/>
          <p:nvPr/>
        </p:nvSpPr>
        <p:spPr>
          <a:xfrm>
            <a:off x="1036320" y="4255770"/>
            <a:ext cx="19335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TF-IDF vectorization preparation</a:t>
            </a:r>
            <a:endParaRPr lang="en-US" sz="1600" dirty="0"/>
          </a:p>
        </p:txBody>
      </p:sp>
      <p:sp>
        <p:nvSpPr>
          <p:cNvPr id="18" name="Shape 16"/>
          <p:cNvSpPr/>
          <p:nvPr/>
        </p:nvSpPr>
        <p:spPr>
          <a:xfrm>
            <a:off x="617220" y="4674870"/>
            <a:ext cx="5124450" cy="419100"/>
          </a:xfrm>
          <a:custGeom>
            <a:avLst/>
            <a:gdLst/>
            <a:ahLst/>
            <a:cxnLst/>
            <a:rect l="l" t="t" r="r" b="b"/>
            <a:pathLst>
              <a:path w="5124450" h="419100">
                <a:moveTo>
                  <a:pt x="114301" y="0"/>
                </a:moveTo>
                <a:lnTo>
                  <a:pt x="5010149" y="0"/>
                </a:lnTo>
                <a:cubicBezTo>
                  <a:pt x="5073233" y="0"/>
                  <a:pt x="5124450" y="51217"/>
                  <a:pt x="5124450" y="114301"/>
                </a:cubicBezTo>
                <a:lnTo>
                  <a:pt x="5124450" y="304799"/>
                </a:lnTo>
                <a:cubicBezTo>
                  <a:pt x="5124450" y="367883"/>
                  <a:pt x="5073233" y="419100"/>
                  <a:pt x="5010149" y="419100"/>
                </a:cubicBezTo>
                <a:lnTo>
                  <a:pt x="114301" y="419100"/>
                </a:lnTo>
                <a:cubicBezTo>
                  <a:pt x="51217" y="419100"/>
                  <a:pt x="0" y="367883"/>
                  <a:pt x="0" y="304799"/>
                </a:cubicBezTo>
                <a:lnTo>
                  <a:pt x="0" y="114301"/>
                </a:lnTo>
                <a:cubicBezTo>
                  <a:pt x="0" y="51217"/>
                  <a:pt x="51217" y="0"/>
                  <a:pt x="114301" y="0"/>
                </a:cubicBezTo>
                <a:close/>
              </a:path>
            </a:pathLst>
          </a:custGeom>
          <a:solidFill>
            <a:srgbClr val="FFFFFF">
              <a:alpha val="60000"/>
            </a:srgbClr>
          </a:solidFill>
          <a:ln/>
        </p:spPr>
      </p:sp>
      <p:sp>
        <p:nvSpPr>
          <p:cNvPr id="19" name="Shape 17"/>
          <p:cNvSpPr/>
          <p:nvPr/>
        </p:nvSpPr>
        <p:spPr>
          <a:xfrm>
            <a:off x="750570" y="480822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71E3"/>
          </a:solidFill>
          <a:ln/>
        </p:spPr>
      </p:sp>
      <p:sp>
        <p:nvSpPr>
          <p:cNvPr id="20" name="Text 18"/>
          <p:cNvSpPr/>
          <p:nvPr/>
        </p:nvSpPr>
        <p:spPr>
          <a:xfrm>
            <a:off x="1036320" y="4789170"/>
            <a:ext cx="27336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Ready for topic modeling &amp; sentiment analysis</a:t>
            </a:r>
            <a:endParaRPr lang="en-US" sz="1600" dirty="0"/>
          </a:p>
        </p:txBody>
      </p:sp>
      <p:sp>
        <p:nvSpPr>
          <p:cNvPr id="21" name="Shape 19"/>
          <p:cNvSpPr/>
          <p:nvPr/>
        </p:nvSpPr>
        <p:spPr>
          <a:xfrm>
            <a:off x="6214110" y="1337310"/>
            <a:ext cx="5589270" cy="4141470"/>
          </a:xfrm>
          <a:custGeom>
            <a:avLst/>
            <a:gdLst/>
            <a:ahLst/>
            <a:cxnLst/>
            <a:rect l="l" t="t" r="r" b="b"/>
            <a:pathLst>
              <a:path w="5589270" h="4141470">
                <a:moveTo>
                  <a:pt x="228609" y="0"/>
                </a:moveTo>
                <a:lnTo>
                  <a:pt x="5360661" y="0"/>
                </a:lnTo>
                <a:cubicBezTo>
                  <a:pt x="5486918" y="0"/>
                  <a:pt x="5589270" y="102352"/>
                  <a:pt x="5589270" y="228609"/>
                </a:cubicBezTo>
                <a:lnTo>
                  <a:pt x="5589270" y="3912861"/>
                </a:lnTo>
                <a:cubicBezTo>
                  <a:pt x="5589270" y="4039118"/>
                  <a:pt x="5486918" y="4141470"/>
                  <a:pt x="5360661" y="4141470"/>
                </a:cubicBezTo>
                <a:lnTo>
                  <a:pt x="228609" y="4141470"/>
                </a:lnTo>
                <a:cubicBezTo>
                  <a:pt x="102352" y="4141470"/>
                  <a:pt x="0" y="4039118"/>
                  <a:pt x="0" y="3912861"/>
                </a:cubicBezTo>
                <a:lnTo>
                  <a:pt x="0" y="228609"/>
                </a:lnTo>
                <a:cubicBezTo>
                  <a:pt x="0" y="102436"/>
                  <a:pt x="102436" y="0"/>
                  <a:pt x="228609" y="0"/>
                </a:cubicBezTo>
                <a:close/>
              </a:path>
            </a:pathLst>
          </a:custGeom>
          <a:solidFill>
            <a:srgbClr val="FFFFFF">
              <a:alpha val="85098"/>
            </a:srgbClr>
          </a:solidFill>
          <a:ln w="10160">
            <a:solidFill>
              <a:srgbClr val="FFFFFF">
                <a:alpha val="30196"/>
              </a:srgbClr>
            </a:solidFill>
            <a:prstDash val="solid"/>
          </a:ln>
        </p:spPr>
      </p:sp>
      <p:sp>
        <p:nvSpPr>
          <p:cNvPr id="22" name="Shape 20"/>
          <p:cNvSpPr/>
          <p:nvPr/>
        </p:nvSpPr>
        <p:spPr>
          <a:xfrm>
            <a:off x="6446520" y="156972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23" name="Shape 21"/>
          <p:cNvSpPr/>
          <p:nvPr/>
        </p:nvSpPr>
        <p:spPr>
          <a:xfrm>
            <a:off x="6575107" y="1674495"/>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0071E3"/>
          </a:solidFill>
          <a:ln/>
        </p:spPr>
      </p:sp>
      <p:sp>
        <p:nvSpPr>
          <p:cNvPr id="24" name="Text 22"/>
          <p:cNvSpPr/>
          <p:nvPr/>
        </p:nvSpPr>
        <p:spPr>
          <a:xfrm>
            <a:off x="6941820" y="1607820"/>
            <a:ext cx="13430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Key Insights</a:t>
            </a:r>
            <a:endParaRPr lang="en-US" sz="1600" dirty="0"/>
          </a:p>
        </p:txBody>
      </p:sp>
      <p:sp>
        <p:nvSpPr>
          <p:cNvPr id="25" name="Shape 23"/>
          <p:cNvSpPr/>
          <p:nvPr/>
        </p:nvSpPr>
        <p:spPr>
          <a:xfrm>
            <a:off x="6465570" y="2141220"/>
            <a:ext cx="5105400" cy="790575"/>
          </a:xfrm>
          <a:custGeom>
            <a:avLst/>
            <a:gdLst/>
            <a:ahLst/>
            <a:cxnLst/>
            <a:rect l="l" t="t" r="r" b="b"/>
            <a:pathLst>
              <a:path w="5105400" h="790575">
                <a:moveTo>
                  <a:pt x="38100" y="0"/>
                </a:moveTo>
                <a:lnTo>
                  <a:pt x="4953001" y="0"/>
                </a:lnTo>
                <a:cubicBezTo>
                  <a:pt x="5037112" y="0"/>
                  <a:pt x="5105400" y="68288"/>
                  <a:pt x="5105400" y="152399"/>
                </a:cubicBezTo>
                <a:lnTo>
                  <a:pt x="5105400" y="638176"/>
                </a:lnTo>
                <a:cubicBezTo>
                  <a:pt x="5105400" y="722287"/>
                  <a:pt x="5037112" y="790575"/>
                  <a:pt x="4953001" y="790575"/>
                </a:cubicBezTo>
                <a:lnTo>
                  <a:pt x="38100" y="790575"/>
                </a:lnTo>
                <a:cubicBezTo>
                  <a:pt x="17058" y="790575"/>
                  <a:pt x="0" y="773517"/>
                  <a:pt x="0" y="752475"/>
                </a:cubicBezTo>
                <a:lnTo>
                  <a:pt x="0" y="38100"/>
                </a:lnTo>
                <a:cubicBezTo>
                  <a:pt x="0" y="17072"/>
                  <a:pt x="17072" y="0"/>
                  <a:pt x="38100" y="0"/>
                </a:cubicBezTo>
                <a:close/>
              </a:path>
            </a:pathLst>
          </a:custGeom>
          <a:gradFill flip="none" rotWithShape="1">
            <a:gsLst>
              <a:gs pos="0">
                <a:srgbClr val="0071E3">
                  <a:alpha val="10000"/>
                </a:srgbClr>
              </a:gs>
              <a:gs pos="100000">
                <a:srgbClr val="000000">
                  <a:alpha val="0"/>
                </a:srgbClr>
              </a:gs>
            </a:gsLst>
            <a:lin ang="0" scaled="1"/>
          </a:gradFill>
          <a:ln/>
        </p:spPr>
      </p:sp>
      <p:sp>
        <p:nvSpPr>
          <p:cNvPr id="26" name="Shape 24"/>
          <p:cNvSpPr/>
          <p:nvPr/>
        </p:nvSpPr>
        <p:spPr>
          <a:xfrm>
            <a:off x="6465570" y="2141220"/>
            <a:ext cx="38100" cy="790575"/>
          </a:xfrm>
          <a:custGeom>
            <a:avLst/>
            <a:gdLst/>
            <a:ahLst/>
            <a:cxnLst/>
            <a:rect l="l" t="t" r="r" b="b"/>
            <a:pathLst>
              <a:path w="38100" h="790575">
                <a:moveTo>
                  <a:pt x="38100" y="0"/>
                </a:moveTo>
                <a:lnTo>
                  <a:pt x="38100" y="0"/>
                </a:lnTo>
                <a:lnTo>
                  <a:pt x="38100" y="790575"/>
                </a:lnTo>
                <a:lnTo>
                  <a:pt x="38100" y="790575"/>
                </a:lnTo>
                <a:cubicBezTo>
                  <a:pt x="17072" y="790575"/>
                  <a:pt x="0" y="773503"/>
                  <a:pt x="0" y="752475"/>
                </a:cubicBezTo>
                <a:lnTo>
                  <a:pt x="0" y="38100"/>
                </a:lnTo>
                <a:cubicBezTo>
                  <a:pt x="0" y="17072"/>
                  <a:pt x="17072" y="0"/>
                  <a:pt x="38100" y="0"/>
                </a:cubicBezTo>
                <a:close/>
              </a:path>
            </a:pathLst>
          </a:custGeom>
          <a:solidFill>
            <a:srgbClr val="0071E3"/>
          </a:solidFill>
          <a:ln/>
        </p:spPr>
      </p:sp>
      <p:sp>
        <p:nvSpPr>
          <p:cNvPr id="27" name="Shape 25"/>
          <p:cNvSpPr/>
          <p:nvPr/>
        </p:nvSpPr>
        <p:spPr>
          <a:xfrm>
            <a:off x="6637020" y="229362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solidFill>
          <a:ln/>
        </p:spPr>
      </p:sp>
      <p:sp>
        <p:nvSpPr>
          <p:cNvPr id="28" name="Text 26"/>
          <p:cNvSpPr/>
          <p:nvPr/>
        </p:nvSpPr>
        <p:spPr>
          <a:xfrm>
            <a:off x="6603682" y="2293620"/>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29" name="Text 27"/>
          <p:cNvSpPr/>
          <p:nvPr/>
        </p:nvSpPr>
        <p:spPr>
          <a:xfrm>
            <a:off x="7056120" y="2293620"/>
            <a:ext cx="429577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Dominant Topics</a:t>
            </a:r>
            <a:endParaRPr lang="en-US" sz="1600" dirty="0"/>
          </a:p>
        </p:txBody>
      </p:sp>
      <p:sp>
        <p:nvSpPr>
          <p:cNvPr id="30" name="Text 28"/>
          <p:cNvSpPr/>
          <p:nvPr/>
        </p:nvSpPr>
        <p:spPr>
          <a:xfrm>
            <a:off x="7056120" y="2560320"/>
            <a:ext cx="4286250" cy="219075"/>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Identified across dataset, revealing recurring themes and user focus areas</a:t>
            </a:r>
            <a:endParaRPr lang="en-US" sz="1600" dirty="0"/>
          </a:p>
        </p:txBody>
      </p:sp>
      <p:sp>
        <p:nvSpPr>
          <p:cNvPr id="31" name="Shape 29"/>
          <p:cNvSpPr/>
          <p:nvPr/>
        </p:nvSpPr>
        <p:spPr>
          <a:xfrm>
            <a:off x="6465570" y="3081814"/>
            <a:ext cx="5105400" cy="1009650"/>
          </a:xfrm>
          <a:custGeom>
            <a:avLst/>
            <a:gdLst/>
            <a:ahLst/>
            <a:cxnLst/>
            <a:rect l="l" t="t" r="r" b="b"/>
            <a:pathLst>
              <a:path w="5105400" h="1009650">
                <a:moveTo>
                  <a:pt x="38100" y="0"/>
                </a:moveTo>
                <a:lnTo>
                  <a:pt x="4953003" y="0"/>
                </a:lnTo>
                <a:cubicBezTo>
                  <a:pt x="5037170" y="0"/>
                  <a:pt x="5105400" y="68230"/>
                  <a:pt x="5105400" y="152397"/>
                </a:cubicBezTo>
                <a:lnTo>
                  <a:pt x="5105400" y="857253"/>
                </a:lnTo>
                <a:cubicBezTo>
                  <a:pt x="5105400" y="941420"/>
                  <a:pt x="5037170" y="1009650"/>
                  <a:pt x="4953003" y="1009650"/>
                </a:cubicBezTo>
                <a:lnTo>
                  <a:pt x="38100" y="1009650"/>
                </a:lnTo>
                <a:cubicBezTo>
                  <a:pt x="17058" y="1009650"/>
                  <a:pt x="0" y="992592"/>
                  <a:pt x="0" y="971550"/>
                </a:cubicBezTo>
                <a:lnTo>
                  <a:pt x="0" y="38100"/>
                </a:lnTo>
                <a:cubicBezTo>
                  <a:pt x="0" y="17072"/>
                  <a:pt x="17072" y="0"/>
                  <a:pt x="38100" y="0"/>
                </a:cubicBezTo>
                <a:close/>
              </a:path>
            </a:pathLst>
          </a:custGeom>
          <a:gradFill flip="none" rotWithShape="1">
            <a:gsLst>
              <a:gs pos="0">
                <a:srgbClr val="0071E3">
                  <a:alpha val="10000"/>
                </a:srgbClr>
              </a:gs>
              <a:gs pos="100000">
                <a:srgbClr val="000000">
                  <a:alpha val="0"/>
                </a:srgbClr>
              </a:gs>
            </a:gsLst>
            <a:lin ang="0" scaled="1"/>
          </a:gradFill>
          <a:ln/>
        </p:spPr>
      </p:sp>
      <p:sp>
        <p:nvSpPr>
          <p:cNvPr id="32" name="Shape 30"/>
          <p:cNvSpPr/>
          <p:nvPr/>
        </p:nvSpPr>
        <p:spPr>
          <a:xfrm>
            <a:off x="6465570" y="3081814"/>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0071E3"/>
          </a:solidFill>
          <a:ln/>
        </p:spPr>
      </p:sp>
      <p:sp>
        <p:nvSpPr>
          <p:cNvPr id="33" name="Shape 31"/>
          <p:cNvSpPr/>
          <p:nvPr/>
        </p:nvSpPr>
        <p:spPr>
          <a:xfrm>
            <a:off x="6637020" y="3234214"/>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solidFill>
          <a:ln/>
        </p:spPr>
      </p:sp>
      <p:sp>
        <p:nvSpPr>
          <p:cNvPr id="34" name="Text 32"/>
          <p:cNvSpPr/>
          <p:nvPr/>
        </p:nvSpPr>
        <p:spPr>
          <a:xfrm>
            <a:off x="6603682" y="3234214"/>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5" name="Text 33"/>
          <p:cNvSpPr/>
          <p:nvPr/>
        </p:nvSpPr>
        <p:spPr>
          <a:xfrm>
            <a:off x="7056120" y="3234214"/>
            <a:ext cx="443865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Sentiment Distribution</a:t>
            </a:r>
            <a:endParaRPr lang="en-US" sz="1600" dirty="0"/>
          </a:p>
        </p:txBody>
      </p:sp>
      <p:sp>
        <p:nvSpPr>
          <p:cNvPr id="36" name="Text 34"/>
          <p:cNvSpPr/>
          <p:nvPr/>
        </p:nvSpPr>
        <p:spPr>
          <a:xfrm>
            <a:off x="7056120" y="3500914"/>
            <a:ext cx="4429125"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Highlights overall public opinion trends across positive, negative, and neutral responses</a:t>
            </a:r>
            <a:endParaRPr lang="en-US" sz="1600" dirty="0"/>
          </a:p>
        </p:txBody>
      </p:sp>
      <p:sp>
        <p:nvSpPr>
          <p:cNvPr id="37" name="Shape 35"/>
          <p:cNvSpPr/>
          <p:nvPr/>
        </p:nvSpPr>
        <p:spPr>
          <a:xfrm>
            <a:off x="6465570" y="4239102"/>
            <a:ext cx="5105400" cy="1009650"/>
          </a:xfrm>
          <a:custGeom>
            <a:avLst/>
            <a:gdLst/>
            <a:ahLst/>
            <a:cxnLst/>
            <a:rect l="l" t="t" r="r" b="b"/>
            <a:pathLst>
              <a:path w="5105400" h="1009650">
                <a:moveTo>
                  <a:pt x="38100" y="0"/>
                </a:moveTo>
                <a:lnTo>
                  <a:pt x="4953003" y="0"/>
                </a:lnTo>
                <a:cubicBezTo>
                  <a:pt x="5037170" y="0"/>
                  <a:pt x="5105400" y="68230"/>
                  <a:pt x="5105400" y="152397"/>
                </a:cubicBezTo>
                <a:lnTo>
                  <a:pt x="5105400" y="857253"/>
                </a:lnTo>
                <a:cubicBezTo>
                  <a:pt x="5105400" y="941420"/>
                  <a:pt x="5037170" y="1009650"/>
                  <a:pt x="4953003" y="1009650"/>
                </a:cubicBezTo>
                <a:lnTo>
                  <a:pt x="38100" y="1009650"/>
                </a:lnTo>
                <a:cubicBezTo>
                  <a:pt x="17058" y="1009650"/>
                  <a:pt x="0" y="992592"/>
                  <a:pt x="0" y="971550"/>
                </a:cubicBezTo>
                <a:lnTo>
                  <a:pt x="0" y="38100"/>
                </a:lnTo>
                <a:cubicBezTo>
                  <a:pt x="0" y="17072"/>
                  <a:pt x="17072" y="0"/>
                  <a:pt x="38100" y="0"/>
                </a:cubicBezTo>
                <a:close/>
              </a:path>
            </a:pathLst>
          </a:custGeom>
          <a:gradFill flip="none" rotWithShape="1">
            <a:gsLst>
              <a:gs pos="0">
                <a:srgbClr val="0071E3">
                  <a:alpha val="10000"/>
                </a:srgbClr>
              </a:gs>
              <a:gs pos="100000">
                <a:srgbClr val="000000">
                  <a:alpha val="0"/>
                </a:srgbClr>
              </a:gs>
            </a:gsLst>
            <a:lin ang="0" scaled="1"/>
          </a:gradFill>
          <a:ln/>
        </p:spPr>
      </p:sp>
      <p:sp>
        <p:nvSpPr>
          <p:cNvPr id="38" name="Shape 36"/>
          <p:cNvSpPr/>
          <p:nvPr/>
        </p:nvSpPr>
        <p:spPr>
          <a:xfrm>
            <a:off x="6465570" y="4239102"/>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0071E3"/>
          </a:solidFill>
          <a:ln/>
        </p:spPr>
      </p:sp>
      <p:sp>
        <p:nvSpPr>
          <p:cNvPr id="39" name="Shape 37"/>
          <p:cNvSpPr/>
          <p:nvPr/>
        </p:nvSpPr>
        <p:spPr>
          <a:xfrm>
            <a:off x="6637020" y="4391502"/>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solidFill>
          <a:ln/>
        </p:spPr>
      </p:sp>
      <p:sp>
        <p:nvSpPr>
          <p:cNvPr id="40" name="Text 38"/>
          <p:cNvSpPr/>
          <p:nvPr/>
        </p:nvSpPr>
        <p:spPr>
          <a:xfrm>
            <a:off x="6603682" y="4391502"/>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41" name="Text 39"/>
          <p:cNvSpPr/>
          <p:nvPr/>
        </p:nvSpPr>
        <p:spPr>
          <a:xfrm>
            <a:off x="7056120" y="4391502"/>
            <a:ext cx="443865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Preprocessing Impact</a:t>
            </a:r>
            <a:endParaRPr lang="en-US" sz="1600" dirty="0"/>
          </a:p>
        </p:txBody>
      </p:sp>
      <p:sp>
        <p:nvSpPr>
          <p:cNvPr id="42" name="Text 40"/>
          <p:cNvSpPr/>
          <p:nvPr/>
        </p:nvSpPr>
        <p:spPr>
          <a:xfrm>
            <a:off x="7056120" y="4658202"/>
            <a:ext cx="4429125"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Significantly improves model performance by reducing noise and redundancy</a:t>
            </a:r>
            <a:endParaRPr lang="en-US" sz="1600" dirty="0"/>
          </a:p>
        </p:txBody>
      </p:sp>
      <p:sp>
        <p:nvSpPr>
          <p:cNvPr id="43" name="Shape 41"/>
          <p:cNvSpPr/>
          <p:nvPr/>
        </p:nvSpPr>
        <p:spPr>
          <a:xfrm>
            <a:off x="6214110" y="5674520"/>
            <a:ext cx="1779270" cy="807720"/>
          </a:xfrm>
          <a:custGeom>
            <a:avLst/>
            <a:gdLst/>
            <a:ahLst/>
            <a:cxnLst/>
            <a:rect l="l" t="t" r="r" b="b"/>
            <a:pathLst>
              <a:path w="1779270" h="807720">
                <a:moveTo>
                  <a:pt x="152401" y="0"/>
                </a:moveTo>
                <a:lnTo>
                  <a:pt x="1626869" y="0"/>
                </a:lnTo>
                <a:cubicBezTo>
                  <a:pt x="1711038" y="0"/>
                  <a:pt x="1779270" y="68232"/>
                  <a:pt x="1779270" y="152401"/>
                </a:cubicBezTo>
                <a:lnTo>
                  <a:pt x="1779270" y="655319"/>
                </a:lnTo>
                <a:cubicBezTo>
                  <a:pt x="1779270" y="739488"/>
                  <a:pt x="1711038" y="807720"/>
                  <a:pt x="1626869" y="807720"/>
                </a:cubicBezTo>
                <a:lnTo>
                  <a:pt x="152401" y="807720"/>
                </a:lnTo>
                <a:cubicBezTo>
                  <a:pt x="68232" y="807720"/>
                  <a:pt x="0" y="739488"/>
                  <a:pt x="0" y="655319"/>
                </a:cubicBezTo>
                <a:lnTo>
                  <a:pt x="0" y="152401"/>
                </a:lnTo>
                <a:cubicBezTo>
                  <a:pt x="0" y="68232"/>
                  <a:pt x="68232" y="0"/>
                  <a:pt x="152401" y="0"/>
                </a:cubicBezTo>
                <a:close/>
              </a:path>
            </a:pathLst>
          </a:custGeom>
          <a:solidFill>
            <a:srgbClr val="FFFFFF">
              <a:alpha val="85098"/>
            </a:srgbClr>
          </a:solidFill>
          <a:ln w="10160">
            <a:solidFill>
              <a:srgbClr val="FFFFFF">
                <a:alpha val="30196"/>
              </a:srgbClr>
            </a:solidFill>
            <a:prstDash val="solid"/>
          </a:ln>
        </p:spPr>
      </p:sp>
      <p:sp>
        <p:nvSpPr>
          <p:cNvPr id="44" name="Shape 42"/>
          <p:cNvSpPr/>
          <p:nvPr/>
        </p:nvSpPr>
        <p:spPr>
          <a:xfrm>
            <a:off x="6977063" y="5830730"/>
            <a:ext cx="257175" cy="228600"/>
          </a:xfrm>
          <a:custGeom>
            <a:avLst/>
            <a:gdLst/>
            <a:ahLst/>
            <a:cxnLst/>
            <a:rect l="l" t="t" r="r" b="b"/>
            <a:pathLst>
              <a:path w="257175" h="228600">
                <a:moveTo>
                  <a:pt x="171450" y="64294"/>
                </a:moveTo>
                <a:cubicBezTo>
                  <a:pt x="171450" y="107692"/>
                  <a:pt x="133052" y="142875"/>
                  <a:pt x="85725" y="142875"/>
                </a:cubicBezTo>
                <a:cubicBezTo>
                  <a:pt x="73804" y="142875"/>
                  <a:pt x="62463" y="140643"/>
                  <a:pt x="52149" y="136624"/>
                </a:cubicBezTo>
                <a:lnTo>
                  <a:pt x="15716" y="155912"/>
                </a:lnTo>
                <a:cubicBezTo>
                  <a:pt x="11564" y="158100"/>
                  <a:pt x="6474" y="157341"/>
                  <a:pt x="3125" y="154037"/>
                </a:cubicBezTo>
                <a:cubicBezTo>
                  <a:pt x="-223" y="150733"/>
                  <a:pt x="-982" y="145599"/>
                  <a:pt x="1250" y="141446"/>
                </a:cubicBezTo>
                <a:lnTo>
                  <a:pt x="17145" y="111443"/>
                </a:lnTo>
                <a:cubicBezTo>
                  <a:pt x="6385" y="98316"/>
                  <a:pt x="0" y="81975"/>
                  <a:pt x="0" y="64294"/>
                </a:cubicBezTo>
                <a:cubicBezTo>
                  <a:pt x="0" y="20895"/>
                  <a:pt x="38398" y="-14287"/>
                  <a:pt x="85725" y="-14287"/>
                </a:cubicBezTo>
                <a:cubicBezTo>
                  <a:pt x="133052" y="-14287"/>
                  <a:pt x="171450" y="20895"/>
                  <a:pt x="171450" y="64294"/>
                </a:cubicBezTo>
                <a:close/>
                <a:moveTo>
                  <a:pt x="171450" y="228600"/>
                </a:moveTo>
                <a:cubicBezTo>
                  <a:pt x="129436" y="228600"/>
                  <a:pt x="94476" y="200873"/>
                  <a:pt x="87154" y="164306"/>
                </a:cubicBezTo>
                <a:cubicBezTo>
                  <a:pt x="140732" y="163637"/>
                  <a:pt x="187300" y="125507"/>
                  <a:pt x="192435" y="73804"/>
                </a:cubicBezTo>
                <a:cubicBezTo>
                  <a:pt x="229627" y="82376"/>
                  <a:pt x="257175" y="113228"/>
                  <a:pt x="257175" y="150019"/>
                </a:cubicBezTo>
                <a:cubicBezTo>
                  <a:pt x="257175" y="167700"/>
                  <a:pt x="250790" y="184041"/>
                  <a:pt x="240030" y="197168"/>
                </a:cubicBezTo>
                <a:lnTo>
                  <a:pt x="255925" y="227171"/>
                </a:lnTo>
                <a:cubicBezTo>
                  <a:pt x="258113" y="231324"/>
                  <a:pt x="257354" y="236413"/>
                  <a:pt x="254050" y="239762"/>
                </a:cubicBezTo>
                <a:cubicBezTo>
                  <a:pt x="250746" y="243111"/>
                  <a:pt x="245611" y="243870"/>
                  <a:pt x="241459" y="241637"/>
                </a:cubicBezTo>
                <a:lnTo>
                  <a:pt x="205026" y="222349"/>
                </a:lnTo>
                <a:cubicBezTo>
                  <a:pt x="194712" y="226368"/>
                  <a:pt x="183371" y="228600"/>
                  <a:pt x="171450" y="228600"/>
                </a:cubicBezTo>
                <a:close/>
              </a:path>
            </a:pathLst>
          </a:custGeom>
          <a:solidFill>
            <a:srgbClr val="0071E3"/>
          </a:solidFill>
          <a:ln/>
        </p:spPr>
      </p:sp>
      <p:sp>
        <p:nvSpPr>
          <p:cNvPr id="45" name="Text 43"/>
          <p:cNvSpPr/>
          <p:nvPr/>
        </p:nvSpPr>
        <p:spPr>
          <a:xfrm>
            <a:off x="6336982" y="6135530"/>
            <a:ext cx="1533525"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Reviews</a:t>
            </a:r>
            <a:endParaRPr lang="en-US" sz="1600" dirty="0"/>
          </a:p>
        </p:txBody>
      </p:sp>
      <p:sp>
        <p:nvSpPr>
          <p:cNvPr id="46" name="Shape 44"/>
          <p:cNvSpPr/>
          <p:nvPr/>
        </p:nvSpPr>
        <p:spPr>
          <a:xfrm>
            <a:off x="8119110" y="5674520"/>
            <a:ext cx="1779270" cy="807720"/>
          </a:xfrm>
          <a:custGeom>
            <a:avLst/>
            <a:gdLst/>
            <a:ahLst/>
            <a:cxnLst/>
            <a:rect l="l" t="t" r="r" b="b"/>
            <a:pathLst>
              <a:path w="1779270" h="807720">
                <a:moveTo>
                  <a:pt x="152401" y="0"/>
                </a:moveTo>
                <a:lnTo>
                  <a:pt x="1626869" y="0"/>
                </a:lnTo>
                <a:cubicBezTo>
                  <a:pt x="1711038" y="0"/>
                  <a:pt x="1779270" y="68232"/>
                  <a:pt x="1779270" y="152401"/>
                </a:cubicBezTo>
                <a:lnTo>
                  <a:pt x="1779270" y="655319"/>
                </a:lnTo>
                <a:cubicBezTo>
                  <a:pt x="1779270" y="739488"/>
                  <a:pt x="1711038" y="807720"/>
                  <a:pt x="1626869" y="807720"/>
                </a:cubicBezTo>
                <a:lnTo>
                  <a:pt x="152401" y="807720"/>
                </a:lnTo>
                <a:cubicBezTo>
                  <a:pt x="68232" y="807720"/>
                  <a:pt x="0" y="739488"/>
                  <a:pt x="0" y="655319"/>
                </a:cubicBezTo>
                <a:lnTo>
                  <a:pt x="0" y="152401"/>
                </a:lnTo>
                <a:cubicBezTo>
                  <a:pt x="0" y="68232"/>
                  <a:pt x="68232" y="0"/>
                  <a:pt x="152401" y="0"/>
                </a:cubicBezTo>
                <a:close/>
              </a:path>
            </a:pathLst>
          </a:custGeom>
          <a:solidFill>
            <a:srgbClr val="FFFFFF">
              <a:alpha val="85098"/>
            </a:srgbClr>
          </a:solidFill>
          <a:ln w="10160">
            <a:solidFill>
              <a:srgbClr val="FFFFFF">
                <a:alpha val="30196"/>
              </a:srgbClr>
            </a:solidFill>
            <a:prstDash val="solid"/>
          </a:ln>
        </p:spPr>
      </p:sp>
      <p:sp>
        <p:nvSpPr>
          <p:cNvPr id="47" name="Shape 45"/>
          <p:cNvSpPr/>
          <p:nvPr/>
        </p:nvSpPr>
        <p:spPr>
          <a:xfrm>
            <a:off x="8896350" y="5830730"/>
            <a:ext cx="228600" cy="228600"/>
          </a:xfrm>
          <a:custGeom>
            <a:avLst/>
            <a:gdLst/>
            <a:ahLst/>
            <a:cxnLst/>
            <a:rect l="l" t="t" r="r" b="b"/>
            <a:pathLst>
              <a:path w="228600" h="228600">
                <a:moveTo>
                  <a:pt x="114300" y="214313"/>
                </a:moveTo>
                <a:cubicBezTo>
                  <a:pt x="177433" y="214313"/>
                  <a:pt x="228600" y="166315"/>
                  <a:pt x="228600" y="107156"/>
                </a:cubicBezTo>
                <a:cubicBezTo>
                  <a:pt x="228600" y="47997"/>
                  <a:pt x="177433" y="0"/>
                  <a:pt x="114300" y="0"/>
                </a:cubicBezTo>
                <a:cubicBezTo>
                  <a:pt x="51167" y="0"/>
                  <a:pt x="0" y="47997"/>
                  <a:pt x="0" y="107156"/>
                </a:cubicBezTo>
                <a:cubicBezTo>
                  <a:pt x="0" y="131400"/>
                  <a:pt x="8573" y="153725"/>
                  <a:pt x="23039" y="171673"/>
                </a:cubicBezTo>
                <a:lnTo>
                  <a:pt x="1250" y="212884"/>
                </a:lnTo>
                <a:cubicBezTo>
                  <a:pt x="-893" y="216902"/>
                  <a:pt x="-223" y="221813"/>
                  <a:pt x="2858" y="225162"/>
                </a:cubicBezTo>
                <a:cubicBezTo>
                  <a:pt x="5938" y="228511"/>
                  <a:pt x="10805" y="229538"/>
                  <a:pt x="14957" y="227752"/>
                </a:cubicBezTo>
                <a:lnTo>
                  <a:pt x="67821" y="205115"/>
                </a:lnTo>
                <a:cubicBezTo>
                  <a:pt x="82019" y="211009"/>
                  <a:pt x="97735" y="214313"/>
                  <a:pt x="114300" y="214313"/>
                </a:cubicBezTo>
                <a:close/>
                <a:moveTo>
                  <a:pt x="57150" y="92869"/>
                </a:moveTo>
                <a:cubicBezTo>
                  <a:pt x="65035" y="92869"/>
                  <a:pt x="71438" y="99271"/>
                  <a:pt x="71438" y="107156"/>
                </a:cubicBezTo>
                <a:cubicBezTo>
                  <a:pt x="71438" y="115042"/>
                  <a:pt x="65035" y="121444"/>
                  <a:pt x="57150" y="121444"/>
                </a:cubicBezTo>
                <a:cubicBezTo>
                  <a:pt x="49265" y="121444"/>
                  <a:pt x="42863" y="115042"/>
                  <a:pt x="42863" y="107156"/>
                </a:cubicBezTo>
                <a:cubicBezTo>
                  <a:pt x="42863" y="99271"/>
                  <a:pt x="49265" y="92869"/>
                  <a:pt x="57150" y="92869"/>
                </a:cubicBezTo>
                <a:close/>
                <a:moveTo>
                  <a:pt x="114300" y="92869"/>
                </a:moveTo>
                <a:cubicBezTo>
                  <a:pt x="122185" y="92869"/>
                  <a:pt x="128588" y="99271"/>
                  <a:pt x="128588" y="107156"/>
                </a:cubicBezTo>
                <a:cubicBezTo>
                  <a:pt x="128588" y="115042"/>
                  <a:pt x="122185" y="121444"/>
                  <a:pt x="114300" y="121444"/>
                </a:cubicBezTo>
                <a:cubicBezTo>
                  <a:pt x="106415" y="121444"/>
                  <a:pt x="100013" y="115042"/>
                  <a:pt x="100013" y="107156"/>
                </a:cubicBezTo>
                <a:cubicBezTo>
                  <a:pt x="100013" y="99271"/>
                  <a:pt x="106415" y="92869"/>
                  <a:pt x="114300" y="92869"/>
                </a:cubicBezTo>
                <a:close/>
                <a:moveTo>
                  <a:pt x="157163" y="107156"/>
                </a:moveTo>
                <a:cubicBezTo>
                  <a:pt x="157163" y="99271"/>
                  <a:pt x="163565" y="92869"/>
                  <a:pt x="171450" y="92869"/>
                </a:cubicBezTo>
                <a:cubicBezTo>
                  <a:pt x="179335" y="92869"/>
                  <a:pt x="185738" y="99271"/>
                  <a:pt x="185738" y="107156"/>
                </a:cubicBezTo>
                <a:cubicBezTo>
                  <a:pt x="185738" y="115042"/>
                  <a:pt x="179335" y="121444"/>
                  <a:pt x="171450" y="121444"/>
                </a:cubicBezTo>
                <a:cubicBezTo>
                  <a:pt x="163565" y="121444"/>
                  <a:pt x="157163" y="115042"/>
                  <a:pt x="157163" y="107156"/>
                </a:cubicBezTo>
                <a:close/>
              </a:path>
            </a:pathLst>
          </a:custGeom>
          <a:solidFill>
            <a:srgbClr val="0071E3"/>
          </a:solidFill>
          <a:ln/>
        </p:spPr>
      </p:sp>
      <p:sp>
        <p:nvSpPr>
          <p:cNvPr id="48" name="Text 46"/>
          <p:cNvSpPr/>
          <p:nvPr/>
        </p:nvSpPr>
        <p:spPr>
          <a:xfrm>
            <a:off x="8241982" y="6135530"/>
            <a:ext cx="1533525"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Comments</a:t>
            </a:r>
            <a:endParaRPr lang="en-US" sz="1600" dirty="0"/>
          </a:p>
        </p:txBody>
      </p:sp>
      <p:sp>
        <p:nvSpPr>
          <p:cNvPr id="49" name="Shape 47"/>
          <p:cNvSpPr/>
          <p:nvPr/>
        </p:nvSpPr>
        <p:spPr>
          <a:xfrm>
            <a:off x="10024110" y="5674520"/>
            <a:ext cx="1779270" cy="807720"/>
          </a:xfrm>
          <a:custGeom>
            <a:avLst/>
            <a:gdLst/>
            <a:ahLst/>
            <a:cxnLst/>
            <a:rect l="l" t="t" r="r" b="b"/>
            <a:pathLst>
              <a:path w="1779270" h="807720">
                <a:moveTo>
                  <a:pt x="152401" y="0"/>
                </a:moveTo>
                <a:lnTo>
                  <a:pt x="1626869" y="0"/>
                </a:lnTo>
                <a:cubicBezTo>
                  <a:pt x="1711038" y="0"/>
                  <a:pt x="1779270" y="68232"/>
                  <a:pt x="1779270" y="152401"/>
                </a:cubicBezTo>
                <a:lnTo>
                  <a:pt x="1779270" y="655319"/>
                </a:lnTo>
                <a:cubicBezTo>
                  <a:pt x="1779270" y="739488"/>
                  <a:pt x="1711038" y="807720"/>
                  <a:pt x="1626869" y="807720"/>
                </a:cubicBezTo>
                <a:lnTo>
                  <a:pt x="152401" y="807720"/>
                </a:lnTo>
                <a:cubicBezTo>
                  <a:pt x="68232" y="807720"/>
                  <a:pt x="0" y="739488"/>
                  <a:pt x="0" y="655319"/>
                </a:cubicBezTo>
                <a:lnTo>
                  <a:pt x="0" y="152401"/>
                </a:lnTo>
                <a:cubicBezTo>
                  <a:pt x="0" y="68232"/>
                  <a:pt x="68232" y="0"/>
                  <a:pt x="152401" y="0"/>
                </a:cubicBezTo>
                <a:close/>
              </a:path>
            </a:pathLst>
          </a:custGeom>
          <a:solidFill>
            <a:srgbClr val="FFFFFF">
              <a:alpha val="85098"/>
            </a:srgbClr>
          </a:solidFill>
          <a:ln w="10160">
            <a:solidFill>
              <a:srgbClr val="FFFFFF">
                <a:alpha val="30196"/>
              </a:srgbClr>
            </a:solidFill>
            <a:prstDash val="solid"/>
          </a:ln>
        </p:spPr>
      </p:sp>
      <p:sp>
        <p:nvSpPr>
          <p:cNvPr id="50" name="Shape 48"/>
          <p:cNvSpPr/>
          <p:nvPr/>
        </p:nvSpPr>
        <p:spPr>
          <a:xfrm>
            <a:off x="10829925" y="5830730"/>
            <a:ext cx="171450" cy="228600"/>
          </a:xfrm>
          <a:custGeom>
            <a:avLst/>
            <a:gdLst/>
            <a:ahLst/>
            <a:cxnLst/>
            <a:rect l="l" t="t" r="r" b="b"/>
            <a:pathLst>
              <a:path w="171450" h="228600">
                <a:moveTo>
                  <a:pt x="0" y="28575"/>
                </a:moveTo>
                <a:cubicBezTo>
                  <a:pt x="0" y="12814"/>
                  <a:pt x="12814" y="0"/>
                  <a:pt x="28575" y="0"/>
                </a:cubicBezTo>
                <a:lnTo>
                  <a:pt x="95324" y="0"/>
                </a:lnTo>
                <a:cubicBezTo>
                  <a:pt x="102915" y="0"/>
                  <a:pt x="110192" y="2991"/>
                  <a:pt x="115550" y="8349"/>
                </a:cubicBezTo>
                <a:lnTo>
                  <a:pt x="163101" y="55944"/>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8" y="114300"/>
                </a:moveTo>
                <a:cubicBezTo>
                  <a:pt x="47640" y="114300"/>
                  <a:pt x="42863" y="119077"/>
                  <a:pt x="42863" y="125016"/>
                </a:cubicBezTo>
                <a:cubicBezTo>
                  <a:pt x="42863" y="130954"/>
                  <a:pt x="47640" y="135731"/>
                  <a:pt x="53578" y="135731"/>
                </a:cubicBezTo>
                <a:lnTo>
                  <a:pt x="117872" y="135731"/>
                </a:lnTo>
                <a:cubicBezTo>
                  <a:pt x="123810" y="135731"/>
                  <a:pt x="128588" y="130954"/>
                  <a:pt x="128588" y="125016"/>
                </a:cubicBezTo>
                <a:cubicBezTo>
                  <a:pt x="128588" y="119077"/>
                  <a:pt x="123810" y="114300"/>
                  <a:pt x="117872" y="114300"/>
                </a:cubicBezTo>
                <a:lnTo>
                  <a:pt x="53578" y="114300"/>
                </a:lnTo>
                <a:close/>
                <a:moveTo>
                  <a:pt x="53578" y="157163"/>
                </a:moveTo>
                <a:cubicBezTo>
                  <a:pt x="47640" y="157163"/>
                  <a:pt x="42863" y="161940"/>
                  <a:pt x="42863" y="167878"/>
                </a:cubicBezTo>
                <a:cubicBezTo>
                  <a:pt x="42863" y="173816"/>
                  <a:pt x="47640" y="178594"/>
                  <a:pt x="53578" y="178594"/>
                </a:cubicBezTo>
                <a:lnTo>
                  <a:pt x="117872" y="178594"/>
                </a:lnTo>
                <a:cubicBezTo>
                  <a:pt x="123810" y="178594"/>
                  <a:pt x="128588" y="173816"/>
                  <a:pt x="128588" y="167878"/>
                </a:cubicBezTo>
                <a:cubicBezTo>
                  <a:pt x="128588" y="161940"/>
                  <a:pt x="123810" y="157163"/>
                  <a:pt x="117872" y="157163"/>
                </a:cubicBezTo>
                <a:lnTo>
                  <a:pt x="53578" y="157163"/>
                </a:lnTo>
                <a:close/>
              </a:path>
            </a:pathLst>
          </a:custGeom>
          <a:solidFill>
            <a:srgbClr val="0071E3"/>
          </a:solidFill>
          <a:ln/>
        </p:spPr>
      </p:sp>
      <p:sp>
        <p:nvSpPr>
          <p:cNvPr id="51" name="Text 49"/>
          <p:cNvSpPr/>
          <p:nvPr/>
        </p:nvSpPr>
        <p:spPr>
          <a:xfrm>
            <a:off x="10146983" y="6135530"/>
            <a:ext cx="1533525"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Documents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Analysis Phase</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Exploratory Data Analysis</a:t>
            </a:r>
            <a:endParaRPr lang="en-US" sz="1600" dirty="0"/>
          </a:p>
        </p:txBody>
      </p:sp>
      <p:sp>
        <p:nvSpPr>
          <p:cNvPr id="4" name="Shape 2"/>
          <p:cNvSpPr/>
          <p:nvPr/>
        </p:nvSpPr>
        <p:spPr>
          <a:xfrm>
            <a:off x="384810" y="1337310"/>
            <a:ext cx="3674745" cy="1893570"/>
          </a:xfrm>
          <a:custGeom>
            <a:avLst/>
            <a:gdLst/>
            <a:ahLst/>
            <a:cxnLst/>
            <a:rect l="l" t="t" r="r" b="b"/>
            <a:pathLst>
              <a:path w="3674745" h="1893570">
                <a:moveTo>
                  <a:pt x="228592" y="0"/>
                </a:moveTo>
                <a:lnTo>
                  <a:pt x="3446153" y="0"/>
                </a:lnTo>
                <a:cubicBezTo>
                  <a:pt x="3572401" y="0"/>
                  <a:pt x="3674745" y="102344"/>
                  <a:pt x="3674745" y="228592"/>
                </a:cubicBezTo>
                <a:lnTo>
                  <a:pt x="3674745" y="1664978"/>
                </a:lnTo>
                <a:cubicBezTo>
                  <a:pt x="3674745" y="1791226"/>
                  <a:pt x="3572401" y="1893570"/>
                  <a:pt x="3446153" y="1893570"/>
                </a:cubicBezTo>
                <a:lnTo>
                  <a:pt x="228592" y="1893570"/>
                </a:lnTo>
                <a:cubicBezTo>
                  <a:pt x="102344" y="1893570"/>
                  <a:pt x="0" y="1791226"/>
                  <a:pt x="0" y="1664978"/>
                </a:cubicBezTo>
                <a:lnTo>
                  <a:pt x="0" y="228592"/>
                </a:lnTo>
                <a:cubicBezTo>
                  <a:pt x="0" y="102429"/>
                  <a:pt x="102429" y="0"/>
                  <a:pt x="228592"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579120" y="153162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6" name="Shape 4"/>
          <p:cNvSpPr/>
          <p:nvPr/>
        </p:nvSpPr>
        <p:spPr>
          <a:xfrm>
            <a:off x="686276" y="1636395"/>
            <a:ext cx="171450" cy="171450"/>
          </a:xfrm>
          <a:custGeom>
            <a:avLst/>
            <a:gdLst/>
            <a:ahLst/>
            <a:cxnLst/>
            <a:rect l="l" t="t" r="r" b="b"/>
            <a:pathLst>
              <a:path w="171450" h="171450">
                <a:moveTo>
                  <a:pt x="10716" y="10716"/>
                </a:moveTo>
                <a:cubicBezTo>
                  <a:pt x="16643" y="10716"/>
                  <a:pt x="21431" y="15504"/>
                  <a:pt x="21431" y="21431"/>
                </a:cubicBezTo>
                <a:lnTo>
                  <a:pt x="21431" y="133945"/>
                </a:lnTo>
                <a:cubicBezTo>
                  <a:pt x="21431" y="136892"/>
                  <a:pt x="23842" y="139303"/>
                  <a:pt x="26789" y="139303"/>
                </a:cubicBezTo>
                <a:lnTo>
                  <a:pt x="160734" y="139303"/>
                </a:lnTo>
                <a:cubicBezTo>
                  <a:pt x="166661" y="139303"/>
                  <a:pt x="171450" y="144092"/>
                  <a:pt x="171450" y="150019"/>
                </a:cubicBezTo>
                <a:cubicBezTo>
                  <a:pt x="171450" y="155946"/>
                  <a:pt x="166661" y="160734"/>
                  <a:pt x="160734" y="160734"/>
                </a:cubicBezTo>
                <a:lnTo>
                  <a:pt x="26789" y="160734"/>
                </a:lnTo>
                <a:cubicBezTo>
                  <a:pt x="11988" y="160734"/>
                  <a:pt x="0" y="148746"/>
                  <a:pt x="0" y="133945"/>
                </a:cubicBezTo>
                <a:lnTo>
                  <a:pt x="0" y="21431"/>
                </a:lnTo>
                <a:cubicBezTo>
                  <a:pt x="0" y="15504"/>
                  <a:pt x="4789" y="10716"/>
                  <a:pt x="10716" y="10716"/>
                </a:cubicBezTo>
                <a:close/>
                <a:moveTo>
                  <a:pt x="42863" y="32147"/>
                </a:moveTo>
                <a:cubicBezTo>
                  <a:pt x="42863" y="26220"/>
                  <a:pt x="47651" y="21431"/>
                  <a:pt x="53578" y="21431"/>
                </a:cubicBezTo>
                <a:lnTo>
                  <a:pt x="117872" y="21431"/>
                </a:lnTo>
                <a:cubicBezTo>
                  <a:pt x="123799" y="21431"/>
                  <a:pt x="128588" y="26220"/>
                  <a:pt x="128588" y="32147"/>
                </a:cubicBezTo>
                <a:cubicBezTo>
                  <a:pt x="128588" y="38074"/>
                  <a:pt x="123799" y="42863"/>
                  <a:pt x="117872" y="42863"/>
                </a:cubicBezTo>
                <a:lnTo>
                  <a:pt x="53578" y="42863"/>
                </a:lnTo>
                <a:cubicBezTo>
                  <a:pt x="47651" y="42863"/>
                  <a:pt x="42863" y="38074"/>
                  <a:pt x="42863" y="32147"/>
                </a:cubicBezTo>
                <a:close/>
                <a:moveTo>
                  <a:pt x="53578" y="58936"/>
                </a:moveTo>
                <a:lnTo>
                  <a:pt x="96441" y="58936"/>
                </a:lnTo>
                <a:cubicBezTo>
                  <a:pt x="102368" y="58936"/>
                  <a:pt x="107156" y="63724"/>
                  <a:pt x="107156" y="69652"/>
                </a:cubicBezTo>
                <a:cubicBezTo>
                  <a:pt x="107156" y="75579"/>
                  <a:pt x="102368" y="80367"/>
                  <a:pt x="96441" y="80367"/>
                </a:cubicBezTo>
                <a:lnTo>
                  <a:pt x="53578" y="80367"/>
                </a:lnTo>
                <a:cubicBezTo>
                  <a:pt x="47651" y="80367"/>
                  <a:pt x="42863" y="75579"/>
                  <a:pt x="42863" y="69652"/>
                </a:cubicBezTo>
                <a:cubicBezTo>
                  <a:pt x="42863" y="63724"/>
                  <a:pt x="47651" y="58936"/>
                  <a:pt x="53578" y="58936"/>
                </a:cubicBezTo>
                <a:close/>
                <a:moveTo>
                  <a:pt x="53578" y="96441"/>
                </a:moveTo>
                <a:lnTo>
                  <a:pt x="139303" y="96441"/>
                </a:lnTo>
                <a:cubicBezTo>
                  <a:pt x="145230" y="96441"/>
                  <a:pt x="150019" y="101229"/>
                  <a:pt x="150019" y="107156"/>
                </a:cubicBezTo>
                <a:cubicBezTo>
                  <a:pt x="150019" y="113083"/>
                  <a:pt x="145230" y="117872"/>
                  <a:pt x="139303" y="117872"/>
                </a:cubicBezTo>
                <a:lnTo>
                  <a:pt x="53578" y="117872"/>
                </a:lnTo>
                <a:cubicBezTo>
                  <a:pt x="47651" y="117872"/>
                  <a:pt x="42863" y="113083"/>
                  <a:pt x="42863" y="107156"/>
                </a:cubicBezTo>
                <a:cubicBezTo>
                  <a:pt x="42863" y="101229"/>
                  <a:pt x="47651" y="96441"/>
                  <a:pt x="53578" y="96441"/>
                </a:cubicBezTo>
                <a:close/>
              </a:path>
            </a:pathLst>
          </a:custGeom>
          <a:solidFill>
            <a:srgbClr val="0071E3"/>
          </a:solidFill>
          <a:ln/>
        </p:spPr>
      </p:sp>
      <p:sp>
        <p:nvSpPr>
          <p:cNvPr id="7" name="Text 5"/>
          <p:cNvSpPr/>
          <p:nvPr/>
        </p:nvSpPr>
        <p:spPr>
          <a:xfrm>
            <a:off x="1074420" y="1588770"/>
            <a:ext cx="12287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Data Profiling</a:t>
            </a:r>
            <a:endParaRPr lang="en-US" sz="1600" dirty="0"/>
          </a:p>
        </p:txBody>
      </p:sp>
      <p:sp>
        <p:nvSpPr>
          <p:cNvPr id="8" name="Shape 6"/>
          <p:cNvSpPr/>
          <p:nvPr/>
        </p:nvSpPr>
        <p:spPr>
          <a:xfrm>
            <a:off x="579120" y="208407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0071E3">
              <a:alpha val="20000"/>
            </a:srgbClr>
          </a:solidFill>
          <a:ln/>
        </p:spPr>
      </p:sp>
      <p:sp>
        <p:nvSpPr>
          <p:cNvPr id="9" name="Shape 7"/>
          <p:cNvSpPr/>
          <p:nvPr/>
        </p:nvSpPr>
        <p:spPr>
          <a:xfrm>
            <a:off x="643414" y="2141220"/>
            <a:ext cx="100013" cy="114300"/>
          </a:xfrm>
          <a:custGeom>
            <a:avLst/>
            <a:gdLst/>
            <a:ahLst/>
            <a:cxnLst/>
            <a:rect l="l" t="t" r="r" b="b"/>
            <a:pathLst>
              <a:path w="100013" h="114300">
                <a:moveTo>
                  <a:pt x="100013" y="45943"/>
                </a:moveTo>
                <a:cubicBezTo>
                  <a:pt x="96709" y="48131"/>
                  <a:pt x="92913" y="49895"/>
                  <a:pt x="88962" y="51301"/>
                </a:cubicBezTo>
                <a:cubicBezTo>
                  <a:pt x="78470" y="55052"/>
                  <a:pt x="64696" y="57150"/>
                  <a:pt x="50006" y="57150"/>
                </a:cubicBezTo>
                <a:cubicBezTo>
                  <a:pt x="35317" y="57150"/>
                  <a:pt x="21521" y="55029"/>
                  <a:pt x="11050" y="51301"/>
                </a:cubicBezTo>
                <a:cubicBezTo>
                  <a:pt x="7121" y="49895"/>
                  <a:pt x="3304" y="48131"/>
                  <a:pt x="0" y="45943"/>
                </a:cubicBezTo>
                <a:lnTo>
                  <a:pt x="0" y="64294"/>
                </a:lnTo>
                <a:cubicBezTo>
                  <a:pt x="0" y="74161"/>
                  <a:pt x="22391" y="82153"/>
                  <a:pt x="50006" y="82153"/>
                </a:cubicBezTo>
                <a:cubicBezTo>
                  <a:pt x="77621" y="82153"/>
                  <a:pt x="100013" y="74161"/>
                  <a:pt x="100013" y="64294"/>
                </a:cubicBezTo>
                <a:lnTo>
                  <a:pt x="100013" y="45943"/>
                </a:lnTo>
                <a:close/>
                <a:moveTo>
                  <a:pt x="100013" y="28575"/>
                </a:moveTo>
                <a:lnTo>
                  <a:pt x="100013" y="17859"/>
                </a:lnTo>
                <a:cubicBezTo>
                  <a:pt x="100013" y="7992"/>
                  <a:pt x="77621" y="0"/>
                  <a:pt x="50006" y="0"/>
                </a:cubicBezTo>
                <a:cubicBezTo>
                  <a:pt x="22391" y="0"/>
                  <a:pt x="0" y="7992"/>
                  <a:pt x="0" y="17859"/>
                </a:cubicBezTo>
                <a:lnTo>
                  <a:pt x="0" y="28575"/>
                </a:lnTo>
                <a:cubicBezTo>
                  <a:pt x="0" y="38442"/>
                  <a:pt x="22391" y="46434"/>
                  <a:pt x="50006" y="46434"/>
                </a:cubicBezTo>
                <a:cubicBezTo>
                  <a:pt x="77621" y="46434"/>
                  <a:pt x="100013" y="38442"/>
                  <a:pt x="100013" y="28575"/>
                </a:cubicBezTo>
                <a:close/>
                <a:moveTo>
                  <a:pt x="88962" y="87020"/>
                </a:moveTo>
                <a:cubicBezTo>
                  <a:pt x="78492" y="90748"/>
                  <a:pt x="64718" y="92869"/>
                  <a:pt x="50006" y="92869"/>
                </a:cubicBezTo>
                <a:cubicBezTo>
                  <a:pt x="35295" y="92869"/>
                  <a:pt x="21521" y="90748"/>
                  <a:pt x="11050" y="87020"/>
                </a:cubicBezTo>
                <a:cubicBezTo>
                  <a:pt x="7121" y="85613"/>
                  <a:pt x="3304" y="83850"/>
                  <a:pt x="0" y="81662"/>
                </a:cubicBezTo>
                <a:lnTo>
                  <a:pt x="0" y="96441"/>
                </a:lnTo>
                <a:cubicBezTo>
                  <a:pt x="0" y="106308"/>
                  <a:pt x="22391" y="114300"/>
                  <a:pt x="50006" y="114300"/>
                </a:cubicBezTo>
                <a:cubicBezTo>
                  <a:pt x="77621" y="114300"/>
                  <a:pt x="100013" y="106308"/>
                  <a:pt x="100013" y="96441"/>
                </a:cubicBezTo>
                <a:lnTo>
                  <a:pt x="100013" y="81662"/>
                </a:lnTo>
                <a:cubicBezTo>
                  <a:pt x="96709" y="83850"/>
                  <a:pt x="92913" y="85613"/>
                  <a:pt x="88962" y="87020"/>
                </a:cubicBezTo>
                <a:close/>
              </a:path>
            </a:pathLst>
          </a:custGeom>
          <a:solidFill>
            <a:srgbClr val="0071E3"/>
          </a:solidFill>
          <a:ln/>
        </p:spPr>
      </p:sp>
      <p:sp>
        <p:nvSpPr>
          <p:cNvPr id="10" name="Text 8"/>
          <p:cNvSpPr/>
          <p:nvPr/>
        </p:nvSpPr>
        <p:spPr>
          <a:xfrm>
            <a:off x="922020" y="2065020"/>
            <a:ext cx="2914650" cy="219075"/>
          </a:xfrm>
          <a:prstGeom prst="rect">
            <a:avLst/>
          </a:prstGeom>
          <a:noFill/>
          <a:ln/>
        </p:spPr>
        <p:txBody>
          <a:bodyPr wrap="square" lIns="0" tIns="0" rIns="0" bIns="0" rtlCol="0" anchor="ctr"/>
          <a:lstStyle/>
          <a:p>
            <a:pPr>
              <a:lnSpc>
                <a:spcPct val="140000"/>
              </a:lnSpc>
            </a:pPr>
            <a:r>
              <a:rPr lang="en-US" sz="1050" dirty="0">
                <a:solidFill>
                  <a:srgbClr val="1D1D1F"/>
                </a:solidFill>
                <a:latin typeface="Quattrocento Sans" pitchFamily="34" charset="0"/>
                <a:ea typeface="Quattrocento Sans" pitchFamily="34" charset="-122"/>
                <a:cs typeface="Quattrocento Sans" pitchFamily="34" charset="-120"/>
              </a:rPr>
              <a:t>Analyzed data volume and text length distribution</a:t>
            </a:r>
            <a:endParaRPr lang="en-US" sz="1600" dirty="0"/>
          </a:p>
        </p:txBody>
      </p:sp>
      <p:sp>
        <p:nvSpPr>
          <p:cNvPr id="11" name="Shape 9"/>
          <p:cNvSpPr/>
          <p:nvPr/>
        </p:nvSpPr>
        <p:spPr>
          <a:xfrm>
            <a:off x="579120" y="244602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0071E3">
              <a:alpha val="20000"/>
            </a:srgbClr>
          </a:solidFill>
          <a:ln/>
        </p:spPr>
      </p:sp>
      <p:sp>
        <p:nvSpPr>
          <p:cNvPr id="12" name="Shape 10"/>
          <p:cNvSpPr/>
          <p:nvPr/>
        </p:nvSpPr>
        <p:spPr>
          <a:xfrm>
            <a:off x="629126" y="2503170"/>
            <a:ext cx="128588" cy="114300"/>
          </a:xfrm>
          <a:custGeom>
            <a:avLst/>
            <a:gdLst/>
            <a:ahLst/>
            <a:cxnLst/>
            <a:rect l="l" t="t" r="r" b="b"/>
            <a:pathLst>
              <a:path w="128588" h="114300">
                <a:moveTo>
                  <a:pt x="46680" y="115238"/>
                </a:moveTo>
                <a:cubicBezTo>
                  <a:pt x="42505" y="119412"/>
                  <a:pt x="35719" y="119412"/>
                  <a:pt x="31522" y="115238"/>
                </a:cubicBezTo>
                <a:lnTo>
                  <a:pt x="6273" y="89989"/>
                </a:lnTo>
                <a:cubicBezTo>
                  <a:pt x="2098" y="85814"/>
                  <a:pt x="2098" y="79028"/>
                  <a:pt x="6273" y="74831"/>
                </a:cubicBezTo>
                <a:lnTo>
                  <a:pt x="10068" y="71036"/>
                </a:lnTo>
                <a:lnTo>
                  <a:pt x="26477" y="87444"/>
                </a:lnTo>
                <a:cubicBezTo>
                  <a:pt x="28575" y="89542"/>
                  <a:pt x="31968" y="89542"/>
                  <a:pt x="34044" y="87444"/>
                </a:cubicBezTo>
                <a:cubicBezTo>
                  <a:pt x="36121" y="85345"/>
                  <a:pt x="36143" y="81952"/>
                  <a:pt x="34044" y="79876"/>
                </a:cubicBezTo>
                <a:lnTo>
                  <a:pt x="17636" y="63468"/>
                </a:lnTo>
                <a:lnTo>
                  <a:pt x="25204" y="55900"/>
                </a:lnTo>
                <a:lnTo>
                  <a:pt x="36567" y="67263"/>
                </a:lnTo>
                <a:cubicBezTo>
                  <a:pt x="38666" y="69361"/>
                  <a:pt x="42059" y="69361"/>
                  <a:pt x="44135" y="67263"/>
                </a:cubicBezTo>
                <a:cubicBezTo>
                  <a:pt x="46211" y="65164"/>
                  <a:pt x="46233" y="61771"/>
                  <a:pt x="44135" y="59695"/>
                </a:cubicBezTo>
                <a:lnTo>
                  <a:pt x="32772" y="48332"/>
                </a:lnTo>
                <a:lnTo>
                  <a:pt x="40340" y="40764"/>
                </a:lnTo>
                <a:lnTo>
                  <a:pt x="56748" y="57172"/>
                </a:lnTo>
                <a:cubicBezTo>
                  <a:pt x="58847" y="59271"/>
                  <a:pt x="62240" y="59271"/>
                  <a:pt x="64316" y="57172"/>
                </a:cubicBezTo>
                <a:cubicBezTo>
                  <a:pt x="66392" y="55074"/>
                  <a:pt x="66415" y="51681"/>
                  <a:pt x="64316" y="49604"/>
                </a:cubicBezTo>
                <a:lnTo>
                  <a:pt x="47908" y="33196"/>
                </a:lnTo>
                <a:lnTo>
                  <a:pt x="55476" y="25628"/>
                </a:lnTo>
                <a:lnTo>
                  <a:pt x="66839" y="36991"/>
                </a:lnTo>
                <a:cubicBezTo>
                  <a:pt x="68937" y="39090"/>
                  <a:pt x="72330" y="39090"/>
                  <a:pt x="74407" y="36991"/>
                </a:cubicBezTo>
                <a:cubicBezTo>
                  <a:pt x="76483" y="34893"/>
                  <a:pt x="76505" y="31499"/>
                  <a:pt x="74407" y="29423"/>
                </a:cubicBezTo>
                <a:lnTo>
                  <a:pt x="63044" y="18060"/>
                </a:lnTo>
                <a:lnTo>
                  <a:pt x="70612" y="10492"/>
                </a:lnTo>
                <a:lnTo>
                  <a:pt x="87020" y="26901"/>
                </a:lnTo>
                <a:cubicBezTo>
                  <a:pt x="89118" y="28999"/>
                  <a:pt x="92512" y="28999"/>
                  <a:pt x="94588" y="26901"/>
                </a:cubicBezTo>
                <a:cubicBezTo>
                  <a:pt x="96664" y="24802"/>
                  <a:pt x="96686" y="21409"/>
                  <a:pt x="94588" y="19333"/>
                </a:cubicBezTo>
                <a:lnTo>
                  <a:pt x="78179" y="2924"/>
                </a:lnTo>
                <a:lnTo>
                  <a:pt x="81975" y="-871"/>
                </a:lnTo>
                <a:cubicBezTo>
                  <a:pt x="86149" y="-5045"/>
                  <a:pt x="92936" y="-5045"/>
                  <a:pt x="97133" y="-871"/>
                </a:cubicBezTo>
                <a:lnTo>
                  <a:pt x="122448" y="24311"/>
                </a:lnTo>
                <a:cubicBezTo>
                  <a:pt x="126623" y="28486"/>
                  <a:pt x="126623" y="35272"/>
                  <a:pt x="122448" y="39469"/>
                </a:cubicBezTo>
                <a:lnTo>
                  <a:pt x="46680" y="115238"/>
                </a:lnTo>
                <a:close/>
              </a:path>
            </a:pathLst>
          </a:custGeom>
          <a:solidFill>
            <a:srgbClr val="0071E3"/>
          </a:solidFill>
          <a:ln/>
        </p:spPr>
      </p:sp>
      <p:sp>
        <p:nvSpPr>
          <p:cNvPr id="13" name="Text 11"/>
          <p:cNvSpPr/>
          <p:nvPr/>
        </p:nvSpPr>
        <p:spPr>
          <a:xfrm>
            <a:off x="922020" y="2426970"/>
            <a:ext cx="2790825" cy="219075"/>
          </a:xfrm>
          <a:prstGeom prst="rect">
            <a:avLst/>
          </a:prstGeom>
          <a:noFill/>
          <a:ln/>
        </p:spPr>
        <p:txBody>
          <a:bodyPr wrap="square" lIns="0" tIns="0" rIns="0" bIns="0" rtlCol="0" anchor="ctr"/>
          <a:lstStyle/>
          <a:p>
            <a:pPr>
              <a:lnSpc>
                <a:spcPct val="140000"/>
              </a:lnSpc>
            </a:pPr>
            <a:r>
              <a:rPr lang="en-US" sz="1050" dirty="0">
                <a:solidFill>
                  <a:srgbClr val="1D1D1F"/>
                </a:solidFill>
                <a:latin typeface="Quattrocento Sans" pitchFamily="34" charset="0"/>
                <a:ea typeface="Quattrocento Sans" pitchFamily="34" charset="-122"/>
                <a:cs typeface="Quattrocento Sans" pitchFamily="34" charset="-120"/>
              </a:rPr>
              <a:t>Examined vocabulary size and diversity metrics</a:t>
            </a:r>
            <a:endParaRPr lang="en-US" sz="1600" dirty="0"/>
          </a:p>
        </p:txBody>
      </p:sp>
      <p:sp>
        <p:nvSpPr>
          <p:cNvPr id="14" name="Shape 12"/>
          <p:cNvSpPr/>
          <p:nvPr/>
        </p:nvSpPr>
        <p:spPr>
          <a:xfrm>
            <a:off x="579120" y="280797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0071E3">
              <a:alpha val="20000"/>
            </a:srgbClr>
          </a:solidFill>
          <a:ln/>
        </p:spPr>
      </p:sp>
      <p:sp>
        <p:nvSpPr>
          <p:cNvPr id="15" name="Shape 13"/>
          <p:cNvSpPr/>
          <p:nvPr/>
        </p:nvSpPr>
        <p:spPr>
          <a:xfrm>
            <a:off x="636270" y="2865120"/>
            <a:ext cx="114300" cy="114300"/>
          </a:xfrm>
          <a:custGeom>
            <a:avLst/>
            <a:gdLst/>
            <a:ahLst/>
            <a:cxnLst/>
            <a:rect l="l" t="t" r="r" b="b"/>
            <a:pathLst>
              <a:path w="114300" h="114300">
                <a:moveTo>
                  <a:pt x="92869" y="46434"/>
                </a:moveTo>
                <a:cubicBezTo>
                  <a:pt x="92869" y="56681"/>
                  <a:pt x="89542" y="66147"/>
                  <a:pt x="83939" y="73826"/>
                </a:cubicBezTo>
                <a:lnTo>
                  <a:pt x="112202" y="102111"/>
                </a:lnTo>
                <a:cubicBezTo>
                  <a:pt x="114992" y="104902"/>
                  <a:pt x="114992" y="109433"/>
                  <a:pt x="112202" y="112224"/>
                </a:cubicBezTo>
                <a:cubicBezTo>
                  <a:pt x="109411" y="115014"/>
                  <a:pt x="104879" y="115014"/>
                  <a:pt x="102089" y="112224"/>
                </a:cubicBezTo>
                <a:lnTo>
                  <a:pt x="73826" y="83939"/>
                </a:lnTo>
                <a:cubicBezTo>
                  <a:pt x="66147" y="89542"/>
                  <a:pt x="56681" y="92869"/>
                  <a:pt x="46434" y="92869"/>
                </a:cubicBezTo>
                <a:cubicBezTo>
                  <a:pt x="20784" y="92869"/>
                  <a:pt x="0" y="72085"/>
                  <a:pt x="0" y="46434"/>
                </a:cubicBezTo>
                <a:cubicBezTo>
                  <a:pt x="0" y="20784"/>
                  <a:pt x="20784" y="0"/>
                  <a:pt x="46434" y="0"/>
                </a:cubicBezTo>
                <a:cubicBezTo>
                  <a:pt x="72085" y="0"/>
                  <a:pt x="92869" y="20784"/>
                  <a:pt x="92869" y="46434"/>
                </a:cubicBezTo>
                <a:close/>
                <a:moveTo>
                  <a:pt x="46434" y="78581"/>
                </a:moveTo>
                <a:cubicBezTo>
                  <a:pt x="64177" y="78581"/>
                  <a:pt x="78581" y="64177"/>
                  <a:pt x="78581" y="46434"/>
                </a:cubicBezTo>
                <a:cubicBezTo>
                  <a:pt x="78581" y="28692"/>
                  <a:pt x="64177" y="14288"/>
                  <a:pt x="46434" y="14288"/>
                </a:cubicBezTo>
                <a:cubicBezTo>
                  <a:pt x="28692" y="14288"/>
                  <a:pt x="14288" y="28692"/>
                  <a:pt x="14288" y="46434"/>
                </a:cubicBezTo>
                <a:cubicBezTo>
                  <a:pt x="14288" y="64177"/>
                  <a:pt x="28692" y="78581"/>
                  <a:pt x="46434" y="78581"/>
                </a:cubicBezTo>
                <a:close/>
              </a:path>
            </a:pathLst>
          </a:custGeom>
          <a:solidFill>
            <a:srgbClr val="0071E3"/>
          </a:solidFill>
          <a:ln/>
        </p:spPr>
      </p:sp>
      <p:sp>
        <p:nvSpPr>
          <p:cNvPr id="16" name="Text 14"/>
          <p:cNvSpPr/>
          <p:nvPr/>
        </p:nvSpPr>
        <p:spPr>
          <a:xfrm>
            <a:off x="922020" y="2788920"/>
            <a:ext cx="2447925" cy="219075"/>
          </a:xfrm>
          <a:prstGeom prst="rect">
            <a:avLst/>
          </a:prstGeom>
          <a:noFill/>
          <a:ln/>
        </p:spPr>
        <p:txBody>
          <a:bodyPr wrap="square" lIns="0" tIns="0" rIns="0" bIns="0" rtlCol="0" anchor="ctr"/>
          <a:lstStyle/>
          <a:p>
            <a:pPr>
              <a:lnSpc>
                <a:spcPct val="140000"/>
              </a:lnSpc>
            </a:pPr>
            <a:r>
              <a:rPr lang="en-US" sz="1050" dirty="0">
                <a:solidFill>
                  <a:srgbClr val="1D1D1F"/>
                </a:solidFill>
                <a:latin typeface="Quattrocento Sans" pitchFamily="34" charset="0"/>
                <a:ea typeface="Quattrocento Sans" pitchFamily="34" charset="-122"/>
                <a:cs typeface="Quattrocento Sans" pitchFamily="34" charset="-120"/>
              </a:rPr>
              <a:t>Identified data quality issues and patterns</a:t>
            </a:r>
            <a:endParaRPr lang="en-US" sz="1600" dirty="0"/>
          </a:p>
        </p:txBody>
      </p:sp>
      <p:sp>
        <p:nvSpPr>
          <p:cNvPr id="17" name="Shape 15"/>
          <p:cNvSpPr/>
          <p:nvPr/>
        </p:nvSpPr>
        <p:spPr>
          <a:xfrm>
            <a:off x="384810" y="3390901"/>
            <a:ext cx="3674745" cy="1607820"/>
          </a:xfrm>
          <a:custGeom>
            <a:avLst/>
            <a:gdLst/>
            <a:ahLst/>
            <a:cxnLst/>
            <a:rect l="l" t="t" r="r" b="b"/>
            <a:pathLst>
              <a:path w="3674745" h="1607820">
                <a:moveTo>
                  <a:pt x="228600" y="0"/>
                </a:moveTo>
                <a:lnTo>
                  <a:pt x="3446145" y="0"/>
                </a:lnTo>
                <a:cubicBezTo>
                  <a:pt x="3572397" y="0"/>
                  <a:pt x="3674745" y="102348"/>
                  <a:pt x="3674745" y="228600"/>
                </a:cubicBezTo>
                <a:lnTo>
                  <a:pt x="3674745" y="1379220"/>
                </a:lnTo>
                <a:cubicBezTo>
                  <a:pt x="3674745" y="1505472"/>
                  <a:pt x="3572397" y="1607820"/>
                  <a:pt x="3446145" y="1607820"/>
                </a:cubicBezTo>
                <a:lnTo>
                  <a:pt x="228600" y="1607820"/>
                </a:lnTo>
                <a:cubicBezTo>
                  <a:pt x="102348" y="1607820"/>
                  <a:pt x="0" y="1505472"/>
                  <a:pt x="0" y="1379220"/>
                </a:cubicBezTo>
                <a:lnTo>
                  <a:pt x="0" y="228600"/>
                </a:lnTo>
                <a:cubicBezTo>
                  <a:pt x="0" y="102348"/>
                  <a:pt x="102348" y="0"/>
                  <a:pt x="228600" y="0"/>
                </a:cubicBezTo>
                <a:close/>
              </a:path>
            </a:pathLst>
          </a:custGeom>
          <a:solidFill>
            <a:srgbClr val="FFFFFF">
              <a:alpha val="85098"/>
            </a:srgbClr>
          </a:solidFill>
          <a:ln w="10160">
            <a:solidFill>
              <a:srgbClr val="FFFFFF">
                <a:alpha val="30196"/>
              </a:srgbClr>
            </a:solidFill>
            <a:prstDash val="solid"/>
          </a:ln>
        </p:spPr>
      </p:sp>
      <p:sp>
        <p:nvSpPr>
          <p:cNvPr id="18" name="Shape 16"/>
          <p:cNvSpPr/>
          <p:nvPr/>
        </p:nvSpPr>
        <p:spPr>
          <a:xfrm>
            <a:off x="579120" y="3585211"/>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19" name="Shape 17"/>
          <p:cNvSpPr/>
          <p:nvPr/>
        </p:nvSpPr>
        <p:spPr>
          <a:xfrm>
            <a:off x="675561" y="3689986"/>
            <a:ext cx="192881" cy="171450"/>
          </a:xfrm>
          <a:custGeom>
            <a:avLst/>
            <a:gdLst/>
            <a:ahLst/>
            <a:cxnLst/>
            <a:rect l="l" t="t" r="r" b="b"/>
            <a:pathLst>
              <a:path w="192881" h="171450">
                <a:moveTo>
                  <a:pt x="189734" y="18284"/>
                </a:moveTo>
                <a:cubicBezTo>
                  <a:pt x="193919" y="14098"/>
                  <a:pt x="193919" y="7300"/>
                  <a:pt x="189734" y="3114"/>
                </a:cubicBezTo>
                <a:cubicBezTo>
                  <a:pt x="185548" y="-1072"/>
                  <a:pt x="178750" y="-1072"/>
                  <a:pt x="174564" y="3114"/>
                </a:cubicBezTo>
                <a:lnTo>
                  <a:pt x="110270" y="67408"/>
                </a:lnTo>
                <a:lnTo>
                  <a:pt x="98651" y="55788"/>
                </a:lnTo>
                <a:cubicBezTo>
                  <a:pt x="97244" y="54382"/>
                  <a:pt x="95302" y="53578"/>
                  <a:pt x="93293" y="53578"/>
                </a:cubicBezTo>
                <a:cubicBezTo>
                  <a:pt x="89107" y="53578"/>
                  <a:pt x="85725" y="56960"/>
                  <a:pt x="85725" y="61146"/>
                </a:cubicBezTo>
                <a:lnTo>
                  <a:pt x="85725" y="70891"/>
                </a:lnTo>
                <a:lnTo>
                  <a:pt x="121991" y="107156"/>
                </a:lnTo>
                <a:lnTo>
                  <a:pt x="131735" y="107156"/>
                </a:lnTo>
                <a:cubicBezTo>
                  <a:pt x="135921" y="107156"/>
                  <a:pt x="139303" y="103774"/>
                  <a:pt x="139303" y="99588"/>
                </a:cubicBezTo>
                <a:cubicBezTo>
                  <a:pt x="139303" y="97579"/>
                  <a:pt x="138499" y="95637"/>
                  <a:pt x="137093" y="94231"/>
                </a:cubicBezTo>
                <a:lnTo>
                  <a:pt x="125473" y="82611"/>
                </a:lnTo>
                <a:lnTo>
                  <a:pt x="189767" y="18317"/>
                </a:lnTo>
                <a:close/>
                <a:moveTo>
                  <a:pt x="114222" y="118341"/>
                </a:moveTo>
                <a:lnTo>
                  <a:pt x="74541" y="78659"/>
                </a:lnTo>
                <a:cubicBezTo>
                  <a:pt x="60242" y="77420"/>
                  <a:pt x="46010" y="82577"/>
                  <a:pt x="35763" y="92824"/>
                </a:cubicBezTo>
                <a:lnTo>
                  <a:pt x="33084" y="95503"/>
                </a:lnTo>
                <a:cubicBezTo>
                  <a:pt x="25617" y="102970"/>
                  <a:pt x="21431" y="113083"/>
                  <a:pt x="21431" y="123632"/>
                </a:cubicBezTo>
                <a:cubicBezTo>
                  <a:pt x="21431" y="125909"/>
                  <a:pt x="23809" y="127382"/>
                  <a:pt x="25851" y="126377"/>
                </a:cubicBezTo>
                <a:lnTo>
                  <a:pt x="42963" y="117838"/>
                </a:lnTo>
                <a:cubicBezTo>
                  <a:pt x="44637" y="117001"/>
                  <a:pt x="46144" y="119211"/>
                  <a:pt x="44771" y="120484"/>
                </a:cubicBezTo>
                <a:lnTo>
                  <a:pt x="2445" y="158524"/>
                </a:lnTo>
                <a:cubicBezTo>
                  <a:pt x="904" y="159931"/>
                  <a:pt x="0" y="161940"/>
                  <a:pt x="0" y="164050"/>
                </a:cubicBezTo>
                <a:cubicBezTo>
                  <a:pt x="0" y="168135"/>
                  <a:pt x="3315" y="171450"/>
                  <a:pt x="7400" y="171450"/>
                </a:cubicBezTo>
                <a:lnTo>
                  <a:pt x="65432" y="171450"/>
                </a:lnTo>
                <a:cubicBezTo>
                  <a:pt x="78425" y="171450"/>
                  <a:pt x="90848" y="166293"/>
                  <a:pt x="100057" y="157118"/>
                </a:cubicBezTo>
                <a:cubicBezTo>
                  <a:pt x="110304" y="146871"/>
                  <a:pt x="115427" y="132639"/>
                  <a:pt x="114222" y="118341"/>
                </a:cubicBezTo>
                <a:close/>
              </a:path>
            </a:pathLst>
          </a:custGeom>
          <a:solidFill>
            <a:srgbClr val="0071E3"/>
          </a:solidFill>
          <a:ln/>
        </p:spPr>
      </p:sp>
      <p:sp>
        <p:nvSpPr>
          <p:cNvPr id="20" name="Text 18"/>
          <p:cNvSpPr/>
          <p:nvPr/>
        </p:nvSpPr>
        <p:spPr>
          <a:xfrm>
            <a:off x="1074420" y="3642361"/>
            <a:ext cx="13430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Noise Removal</a:t>
            </a:r>
            <a:endParaRPr lang="en-US" sz="1600" dirty="0"/>
          </a:p>
        </p:txBody>
      </p:sp>
      <p:sp>
        <p:nvSpPr>
          <p:cNvPr id="21" name="Shape 19"/>
          <p:cNvSpPr/>
          <p:nvPr/>
        </p:nvSpPr>
        <p:spPr>
          <a:xfrm>
            <a:off x="579120" y="4118611"/>
            <a:ext cx="523875" cy="304800"/>
          </a:xfrm>
          <a:custGeom>
            <a:avLst/>
            <a:gdLst/>
            <a:ahLst/>
            <a:cxnLst/>
            <a:rect l="l" t="t" r="r" b="b"/>
            <a:pathLst>
              <a:path w="523875" h="304800">
                <a:moveTo>
                  <a:pt x="152400" y="0"/>
                </a:moveTo>
                <a:lnTo>
                  <a:pt x="371475" y="0"/>
                </a:lnTo>
                <a:cubicBezTo>
                  <a:pt x="455587" y="0"/>
                  <a:pt x="523875" y="68288"/>
                  <a:pt x="523875" y="152400"/>
                </a:cubicBezTo>
                <a:lnTo>
                  <a:pt x="523875" y="152400"/>
                </a:lnTo>
                <a:cubicBezTo>
                  <a:pt x="523875" y="236512"/>
                  <a:pt x="455587" y="304800"/>
                  <a:pt x="371475"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70196"/>
            </a:srgbClr>
          </a:solidFill>
          <a:ln/>
        </p:spPr>
      </p:sp>
      <p:sp>
        <p:nvSpPr>
          <p:cNvPr id="22" name="Text 20"/>
          <p:cNvSpPr/>
          <p:nvPr/>
        </p:nvSpPr>
        <p:spPr>
          <a:xfrm>
            <a:off x="579120" y="4118611"/>
            <a:ext cx="590550" cy="304800"/>
          </a:xfrm>
          <a:prstGeom prst="rect">
            <a:avLst/>
          </a:prstGeom>
          <a:noFill/>
          <a:ln/>
        </p:spPr>
        <p:txBody>
          <a:bodyPr wrap="square" lIns="114300" tIns="57150" rIns="114300" bIns="5715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URLs</a:t>
            </a:r>
            <a:endParaRPr lang="en-US" sz="1600" dirty="0"/>
          </a:p>
        </p:txBody>
      </p:sp>
      <p:sp>
        <p:nvSpPr>
          <p:cNvPr id="23" name="Shape 21"/>
          <p:cNvSpPr/>
          <p:nvPr/>
        </p:nvSpPr>
        <p:spPr>
          <a:xfrm>
            <a:off x="1178719" y="4118611"/>
            <a:ext cx="1295400" cy="304800"/>
          </a:xfrm>
          <a:custGeom>
            <a:avLst/>
            <a:gdLst/>
            <a:ahLst/>
            <a:cxnLst/>
            <a:rect l="l" t="t" r="r" b="b"/>
            <a:pathLst>
              <a:path w="1295400" h="304800">
                <a:moveTo>
                  <a:pt x="152400" y="0"/>
                </a:moveTo>
                <a:lnTo>
                  <a:pt x="1143000" y="0"/>
                </a:lnTo>
                <a:cubicBezTo>
                  <a:pt x="1227112" y="0"/>
                  <a:pt x="1295400" y="68288"/>
                  <a:pt x="1295400" y="152400"/>
                </a:cubicBezTo>
                <a:lnTo>
                  <a:pt x="1295400" y="152400"/>
                </a:lnTo>
                <a:cubicBezTo>
                  <a:pt x="1295400" y="236512"/>
                  <a:pt x="1227112" y="304800"/>
                  <a:pt x="1143000"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70196"/>
            </a:srgbClr>
          </a:solidFill>
          <a:ln/>
        </p:spPr>
      </p:sp>
      <p:sp>
        <p:nvSpPr>
          <p:cNvPr id="24" name="Text 22"/>
          <p:cNvSpPr/>
          <p:nvPr/>
        </p:nvSpPr>
        <p:spPr>
          <a:xfrm>
            <a:off x="1178719" y="4118611"/>
            <a:ext cx="1362075" cy="304800"/>
          </a:xfrm>
          <a:prstGeom prst="rect">
            <a:avLst/>
          </a:prstGeom>
          <a:noFill/>
          <a:ln/>
        </p:spPr>
        <p:txBody>
          <a:bodyPr wrap="square" lIns="114300" tIns="57150" rIns="114300" bIns="5715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Special Characters</a:t>
            </a:r>
            <a:endParaRPr lang="en-US" sz="1600" dirty="0"/>
          </a:p>
        </p:txBody>
      </p:sp>
      <p:sp>
        <p:nvSpPr>
          <p:cNvPr id="25" name="Shape 23"/>
          <p:cNvSpPr/>
          <p:nvPr/>
        </p:nvSpPr>
        <p:spPr>
          <a:xfrm>
            <a:off x="2552819" y="4118611"/>
            <a:ext cx="866775" cy="304800"/>
          </a:xfrm>
          <a:custGeom>
            <a:avLst/>
            <a:gdLst/>
            <a:ahLst/>
            <a:cxnLst/>
            <a:rect l="l" t="t" r="r" b="b"/>
            <a:pathLst>
              <a:path w="866775" h="304800">
                <a:moveTo>
                  <a:pt x="152400" y="0"/>
                </a:moveTo>
                <a:lnTo>
                  <a:pt x="714375" y="0"/>
                </a:lnTo>
                <a:cubicBezTo>
                  <a:pt x="798487" y="0"/>
                  <a:pt x="866775" y="68288"/>
                  <a:pt x="866775" y="152400"/>
                </a:cubicBezTo>
                <a:lnTo>
                  <a:pt x="866775" y="152400"/>
                </a:lnTo>
                <a:cubicBezTo>
                  <a:pt x="866775" y="236512"/>
                  <a:pt x="798487" y="304800"/>
                  <a:pt x="714375"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70196"/>
            </a:srgbClr>
          </a:solidFill>
          <a:ln/>
        </p:spPr>
      </p:sp>
      <p:sp>
        <p:nvSpPr>
          <p:cNvPr id="26" name="Text 24"/>
          <p:cNvSpPr/>
          <p:nvPr/>
        </p:nvSpPr>
        <p:spPr>
          <a:xfrm>
            <a:off x="2552819" y="4118611"/>
            <a:ext cx="933450" cy="304800"/>
          </a:xfrm>
          <a:prstGeom prst="rect">
            <a:avLst/>
          </a:prstGeom>
          <a:noFill/>
          <a:ln/>
        </p:spPr>
        <p:txBody>
          <a:bodyPr wrap="square" lIns="114300" tIns="57150" rIns="114300" bIns="5715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Stopwords</a:t>
            </a:r>
            <a:endParaRPr lang="en-US" sz="1600" dirty="0"/>
          </a:p>
        </p:txBody>
      </p:sp>
      <p:sp>
        <p:nvSpPr>
          <p:cNvPr id="27" name="Shape 25"/>
          <p:cNvSpPr/>
          <p:nvPr/>
        </p:nvSpPr>
        <p:spPr>
          <a:xfrm>
            <a:off x="579120" y="4499611"/>
            <a:ext cx="1247775" cy="304800"/>
          </a:xfrm>
          <a:custGeom>
            <a:avLst/>
            <a:gdLst/>
            <a:ahLst/>
            <a:cxnLst/>
            <a:rect l="l" t="t" r="r" b="b"/>
            <a:pathLst>
              <a:path w="1247775" h="304800">
                <a:moveTo>
                  <a:pt x="152400" y="0"/>
                </a:moveTo>
                <a:lnTo>
                  <a:pt x="1095375" y="0"/>
                </a:lnTo>
                <a:cubicBezTo>
                  <a:pt x="1179487" y="0"/>
                  <a:pt x="1247775" y="68288"/>
                  <a:pt x="1247775" y="152400"/>
                </a:cubicBezTo>
                <a:lnTo>
                  <a:pt x="1247775" y="152400"/>
                </a:lnTo>
                <a:cubicBezTo>
                  <a:pt x="1247775" y="236512"/>
                  <a:pt x="1179487" y="304800"/>
                  <a:pt x="1095375"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70196"/>
            </a:srgbClr>
          </a:solidFill>
          <a:ln/>
        </p:spPr>
      </p:sp>
      <p:sp>
        <p:nvSpPr>
          <p:cNvPr id="28" name="Text 26"/>
          <p:cNvSpPr/>
          <p:nvPr/>
        </p:nvSpPr>
        <p:spPr>
          <a:xfrm>
            <a:off x="579120" y="4499611"/>
            <a:ext cx="1314450" cy="304800"/>
          </a:xfrm>
          <a:prstGeom prst="rect">
            <a:avLst/>
          </a:prstGeom>
          <a:noFill/>
          <a:ln/>
        </p:spPr>
        <p:txBody>
          <a:bodyPr wrap="square" lIns="114300" tIns="57150" rIns="114300" bIns="5715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Redundant Terms</a:t>
            </a:r>
            <a:endParaRPr lang="en-US" sz="1600" dirty="0"/>
          </a:p>
        </p:txBody>
      </p:sp>
      <p:sp>
        <p:nvSpPr>
          <p:cNvPr id="29" name="Shape 27"/>
          <p:cNvSpPr/>
          <p:nvPr/>
        </p:nvSpPr>
        <p:spPr>
          <a:xfrm>
            <a:off x="4258270" y="1337310"/>
            <a:ext cx="3674745" cy="2150745"/>
          </a:xfrm>
          <a:custGeom>
            <a:avLst/>
            <a:gdLst/>
            <a:ahLst/>
            <a:cxnLst/>
            <a:rect l="l" t="t" r="r" b="b"/>
            <a:pathLst>
              <a:path w="3674745" h="2150745">
                <a:moveTo>
                  <a:pt x="228603" y="0"/>
                </a:moveTo>
                <a:lnTo>
                  <a:pt x="3446142" y="0"/>
                </a:lnTo>
                <a:cubicBezTo>
                  <a:pt x="3572396" y="0"/>
                  <a:pt x="3674745" y="102349"/>
                  <a:pt x="3674745" y="228603"/>
                </a:cubicBezTo>
                <a:lnTo>
                  <a:pt x="3674745" y="1922142"/>
                </a:lnTo>
                <a:cubicBezTo>
                  <a:pt x="3674745" y="2048396"/>
                  <a:pt x="3572396" y="2150745"/>
                  <a:pt x="3446142" y="2150745"/>
                </a:cubicBezTo>
                <a:lnTo>
                  <a:pt x="228603" y="2150745"/>
                </a:lnTo>
                <a:cubicBezTo>
                  <a:pt x="102349" y="2150745"/>
                  <a:pt x="0" y="2048396"/>
                  <a:pt x="0" y="1922142"/>
                </a:cubicBezTo>
                <a:lnTo>
                  <a:pt x="0" y="228603"/>
                </a:lnTo>
                <a:cubicBezTo>
                  <a:pt x="0" y="102433"/>
                  <a:pt x="102433" y="0"/>
                  <a:pt x="228603" y="0"/>
                </a:cubicBezTo>
                <a:close/>
              </a:path>
            </a:pathLst>
          </a:custGeom>
          <a:solidFill>
            <a:srgbClr val="FFFFFF">
              <a:alpha val="85098"/>
            </a:srgbClr>
          </a:solidFill>
          <a:ln w="10160">
            <a:solidFill>
              <a:srgbClr val="FFFFFF">
                <a:alpha val="30196"/>
              </a:srgbClr>
            </a:solidFill>
            <a:prstDash val="solid"/>
          </a:ln>
        </p:spPr>
      </p:sp>
      <p:sp>
        <p:nvSpPr>
          <p:cNvPr id="30" name="Shape 28"/>
          <p:cNvSpPr/>
          <p:nvPr/>
        </p:nvSpPr>
        <p:spPr>
          <a:xfrm>
            <a:off x="4452580" y="153162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31" name="Shape 29"/>
          <p:cNvSpPr/>
          <p:nvPr/>
        </p:nvSpPr>
        <p:spPr>
          <a:xfrm>
            <a:off x="4559737" y="1636395"/>
            <a:ext cx="171450" cy="171450"/>
          </a:xfrm>
          <a:custGeom>
            <a:avLst/>
            <a:gdLst/>
            <a:ahLst/>
            <a:cxnLst/>
            <a:rect l="l" t="t" r="r" b="b"/>
            <a:pathLst>
              <a:path w="171450" h="171450">
                <a:moveTo>
                  <a:pt x="95470" y="16978"/>
                </a:moveTo>
                <a:cubicBezTo>
                  <a:pt x="93728" y="13160"/>
                  <a:pt x="89911" y="10716"/>
                  <a:pt x="85725" y="10716"/>
                </a:cubicBezTo>
                <a:cubicBezTo>
                  <a:pt x="81539" y="10716"/>
                  <a:pt x="77722" y="13160"/>
                  <a:pt x="75980" y="16978"/>
                </a:cubicBezTo>
                <a:lnTo>
                  <a:pt x="19924" y="139303"/>
                </a:lnTo>
                <a:lnTo>
                  <a:pt x="16073" y="139303"/>
                </a:lnTo>
                <a:cubicBezTo>
                  <a:pt x="10146" y="139303"/>
                  <a:pt x="5358" y="144092"/>
                  <a:pt x="5358" y="150019"/>
                </a:cubicBezTo>
                <a:cubicBezTo>
                  <a:pt x="5358" y="155946"/>
                  <a:pt x="10146" y="160734"/>
                  <a:pt x="16073" y="160734"/>
                </a:cubicBezTo>
                <a:lnTo>
                  <a:pt x="45541" y="160734"/>
                </a:lnTo>
                <a:cubicBezTo>
                  <a:pt x="51468" y="160734"/>
                  <a:pt x="56257" y="155946"/>
                  <a:pt x="56257" y="150019"/>
                </a:cubicBezTo>
                <a:cubicBezTo>
                  <a:pt x="56257" y="144092"/>
                  <a:pt x="51468" y="139303"/>
                  <a:pt x="45541" y="139303"/>
                </a:cubicBezTo>
                <a:lnTo>
                  <a:pt x="43499" y="139303"/>
                </a:lnTo>
                <a:lnTo>
                  <a:pt x="50866" y="123230"/>
                </a:lnTo>
                <a:lnTo>
                  <a:pt x="120618" y="123230"/>
                </a:lnTo>
                <a:lnTo>
                  <a:pt x="127985" y="139303"/>
                </a:lnTo>
                <a:lnTo>
                  <a:pt x="125942" y="139303"/>
                </a:lnTo>
                <a:cubicBezTo>
                  <a:pt x="120015" y="139303"/>
                  <a:pt x="115226" y="144092"/>
                  <a:pt x="115226" y="150019"/>
                </a:cubicBezTo>
                <a:cubicBezTo>
                  <a:pt x="115226" y="155946"/>
                  <a:pt x="120015" y="160734"/>
                  <a:pt x="125942" y="160734"/>
                </a:cubicBezTo>
                <a:lnTo>
                  <a:pt x="155410" y="160734"/>
                </a:lnTo>
                <a:cubicBezTo>
                  <a:pt x="161337" y="160734"/>
                  <a:pt x="166126" y="155946"/>
                  <a:pt x="166126" y="150019"/>
                </a:cubicBezTo>
                <a:cubicBezTo>
                  <a:pt x="166126" y="144092"/>
                  <a:pt x="161337" y="139303"/>
                  <a:pt x="155410" y="139303"/>
                </a:cubicBezTo>
                <a:lnTo>
                  <a:pt x="151559" y="139303"/>
                </a:lnTo>
                <a:lnTo>
                  <a:pt x="95503" y="16978"/>
                </a:lnTo>
                <a:close/>
                <a:moveTo>
                  <a:pt x="110773" y="101798"/>
                </a:moveTo>
                <a:lnTo>
                  <a:pt x="60677" y="101798"/>
                </a:lnTo>
                <a:lnTo>
                  <a:pt x="85725" y="47149"/>
                </a:lnTo>
                <a:lnTo>
                  <a:pt x="110773" y="101798"/>
                </a:lnTo>
                <a:close/>
              </a:path>
            </a:pathLst>
          </a:custGeom>
          <a:solidFill>
            <a:srgbClr val="0071E3"/>
          </a:solidFill>
          <a:ln/>
        </p:spPr>
      </p:sp>
      <p:sp>
        <p:nvSpPr>
          <p:cNvPr id="32" name="Text 30"/>
          <p:cNvSpPr/>
          <p:nvPr/>
        </p:nvSpPr>
        <p:spPr>
          <a:xfrm>
            <a:off x="4947881" y="1588770"/>
            <a:ext cx="223837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Word Frequency Analysis</a:t>
            </a:r>
            <a:endParaRPr lang="en-US" sz="1600" dirty="0"/>
          </a:p>
        </p:txBody>
      </p:sp>
      <p:sp>
        <p:nvSpPr>
          <p:cNvPr id="33" name="Text 31"/>
          <p:cNvSpPr/>
          <p:nvPr/>
        </p:nvSpPr>
        <p:spPr>
          <a:xfrm>
            <a:off x="4452580" y="2065020"/>
            <a:ext cx="3352800" cy="438150"/>
          </a:xfrm>
          <a:prstGeom prst="rect">
            <a:avLst/>
          </a:prstGeom>
          <a:noFill/>
          <a:ln/>
        </p:spPr>
        <p:txBody>
          <a:bodyPr wrap="square" lIns="0" tIns="0" rIns="0" bIns="0" rtlCol="0" anchor="ctr"/>
          <a:lstStyle/>
          <a:p>
            <a:pPr>
              <a:lnSpc>
                <a:spcPct val="140000"/>
              </a:lnSpc>
            </a:pPr>
            <a:r>
              <a:rPr lang="en-US" sz="1050" dirty="0">
                <a:solidFill>
                  <a:srgbClr val="1D1D1F"/>
                </a:solidFill>
                <a:latin typeface="Quattrocento Sans" pitchFamily="34" charset="0"/>
                <a:ea typeface="Quattrocento Sans" pitchFamily="34" charset="-122"/>
                <a:cs typeface="Quattrocento Sans" pitchFamily="34" charset="-120"/>
              </a:rPr>
              <a:t>Examined word frequency and </a:t>
            </a:r>
            <a:r>
              <a:rPr lang="en-US" sz="1050" b="1" dirty="0">
                <a:solidFill>
                  <a:srgbClr val="1D1D1F"/>
                </a:solidFill>
                <a:latin typeface="Quattrocento Sans" pitchFamily="34" charset="0"/>
                <a:ea typeface="Quattrocento Sans" pitchFamily="34" charset="-122"/>
                <a:cs typeface="Quattrocento Sans" pitchFamily="34" charset="-120"/>
              </a:rPr>
              <a:t>TF-IDF scores</a:t>
            </a:r>
            <a:r>
              <a:rPr lang="en-US" sz="1050" dirty="0">
                <a:solidFill>
                  <a:srgbClr val="1D1D1F"/>
                </a:solidFill>
                <a:latin typeface="Quattrocento Sans" pitchFamily="34" charset="0"/>
                <a:ea typeface="Quattrocento Sans" pitchFamily="34" charset="-122"/>
                <a:cs typeface="Quattrocento Sans" pitchFamily="34" charset="-120"/>
              </a:rPr>
              <a:t> to highlight dominant terms influencing topic formation.</a:t>
            </a:r>
            <a:endParaRPr lang="en-US" sz="1600" dirty="0"/>
          </a:p>
        </p:txBody>
      </p:sp>
      <p:sp>
        <p:nvSpPr>
          <p:cNvPr id="34" name="Shape 32"/>
          <p:cNvSpPr/>
          <p:nvPr/>
        </p:nvSpPr>
        <p:spPr>
          <a:xfrm>
            <a:off x="4452580" y="2612708"/>
            <a:ext cx="1609725" cy="685800"/>
          </a:xfrm>
          <a:custGeom>
            <a:avLst/>
            <a:gdLst/>
            <a:ahLst/>
            <a:cxnLst/>
            <a:rect l="l" t="t" r="r" b="b"/>
            <a:pathLst>
              <a:path w="1609725" h="685800">
                <a:moveTo>
                  <a:pt x="114302" y="0"/>
                </a:moveTo>
                <a:lnTo>
                  <a:pt x="1495423" y="0"/>
                </a:lnTo>
                <a:cubicBezTo>
                  <a:pt x="1558508" y="0"/>
                  <a:pt x="1609725" y="51217"/>
                  <a:pt x="1609725" y="114302"/>
                </a:cubicBezTo>
                <a:lnTo>
                  <a:pt x="1609725" y="571498"/>
                </a:lnTo>
                <a:cubicBezTo>
                  <a:pt x="1609725" y="634583"/>
                  <a:pt x="1558508" y="685800"/>
                  <a:pt x="1495423" y="685800"/>
                </a:cubicBezTo>
                <a:lnTo>
                  <a:pt x="114302" y="685800"/>
                </a:lnTo>
                <a:cubicBezTo>
                  <a:pt x="51217" y="685800"/>
                  <a:pt x="0" y="634583"/>
                  <a:pt x="0" y="571498"/>
                </a:cubicBezTo>
                <a:lnTo>
                  <a:pt x="0" y="114302"/>
                </a:lnTo>
                <a:cubicBezTo>
                  <a:pt x="0" y="51217"/>
                  <a:pt x="51217" y="0"/>
                  <a:pt x="114302" y="0"/>
                </a:cubicBezTo>
                <a:close/>
              </a:path>
            </a:pathLst>
          </a:custGeom>
          <a:solidFill>
            <a:srgbClr val="FFFFFF">
              <a:alpha val="60000"/>
            </a:srgbClr>
          </a:solidFill>
          <a:ln/>
        </p:spPr>
      </p:sp>
      <p:sp>
        <p:nvSpPr>
          <p:cNvPr id="35" name="Text 33"/>
          <p:cNvSpPr/>
          <p:nvPr/>
        </p:nvSpPr>
        <p:spPr>
          <a:xfrm>
            <a:off x="4509730" y="2727008"/>
            <a:ext cx="1495425" cy="304800"/>
          </a:xfrm>
          <a:prstGeom prst="rect">
            <a:avLst/>
          </a:prstGeom>
          <a:noFill/>
          <a:ln/>
        </p:spPr>
        <p:txBody>
          <a:bodyPr wrap="square" lIns="0" tIns="0" rIns="0" bIns="0" rtlCol="0" anchor="ctr"/>
          <a:lstStyle/>
          <a:p>
            <a:pPr algn="ctr">
              <a:lnSpc>
                <a:spcPct val="110000"/>
              </a:lnSpc>
            </a:pPr>
            <a:r>
              <a:rPr lang="en-US" sz="1800" b="1" dirty="0">
                <a:solidFill>
                  <a:srgbClr val="0071E3"/>
                </a:solidFill>
                <a:latin typeface="Liter" pitchFamily="34" charset="0"/>
                <a:ea typeface="Liter" pitchFamily="34" charset="-122"/>
                <a:cs typeface="Liter" pitchFamily="34" charset="-120"/>
              </a:rPr>
              <a:t>High</a:t>
            </a:r>
            <a:endParaRPr lang="en-US" sz="1600" dirty="0"/>
          </a:p>
        </p:txBody>
      </p:sp>
      <p:sp>
        <p:nvSpPr>
          <p:cNvPr id="36" name="Text 34"/>
          <p:cNvSpPr/>
          <p:nvPr/>
        </p:nvSpPr>
        <p:spPr>
          <a:xfrm>
            <a:off x="4538305" y="3031689"/>
            <a:ext cx="1438275"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TF-IDF Terms</a:t>
            </a:r>
            <a:endParaRPr lang="en-US" sz="1600" dirty="0"/>
          </a:p>
        </p:txBody>
      </p:sp>
      <p:sp>
        <p:nvSpPr>
          <p:cNvPr id="37" name="Shape 35"/>
          <p:cNvSpPr/>
          <p:nvPr/>
        </p:nvSpPr>
        <p:spPr>
          <a:xfrm>
            <a:off x="6133981" y="2612708"/>
            <a:ext cx="1609725" cy="685800"/>
          </a:xfrm>
          <a:custGeom>
            <a:avLst/>
            <a:gdLst/>
            <a:ahLst/>
            <a:cxnLst/>
            <a:rect l="l" t="t" r="r" b="b"/>
            <a:pathLst>
              <a:path w="1609725" h="685800">
                <a:moveTo>
                  <a:pt x="114302" y="0"/>
                </a:moveTo>
                <a:lnTo>
                  <a:pt x="1495423" y="0"/>
                </a:lnTo>
                <a:cubicBezTo>
                  <a:pt x="1558508" y="0"/>
                  <a:pt x="1609725" y="51217"/>
                  <a:pt x="1609725" y="114302"/>
                </a:cubicBezTo>
                <a:lnTo>
                  <a:pt x="1609725" y="571498"/>
                </a:lnTo>
                <a:cubicBezTo>
                  <a:pt x="1609725" y="634583"/>
                  <a:pt x="1558508" y="685800"/>
                  <a:pt x="1495423" y="685800"/>
                </a:cubicBezTo>
                <a:lnTo>
                  <a:pt x="114302" y="685800"/>
                </a:lnTo>
                <a:cubicBezTo>
                  <a:pt x="51217" y="685800"/>
                  <a:pt x="0" y="634583"/>
                  <a:pt x="0" y="571498"/>
                </a:cubicBezTo>
                <a:lnTo>
                  <a:pt x="0" y="114302"/>
                </a:lnTo>
                <a:cubicBezTo>
                  <a:pt x="0" y="51217"/>
                  <a:pt x="51217" y="0"/>
                  <a:pt x="114302" y="0"/>
                </a:cubicBezTo>
                <a:close/>
              </a:path>
            </a:pathLst>
          </a:custGeom>
          <a:solidFill>
            <a:srgbClr val="FFFFFF">
              <a:alpha val="60000"/>
            </a:srgbClr>
          </a:solidFill>
          <a:ln/>
        </p:spPr>
      </p:sp>
      <p:sp>
        <p:nvSpPr>
          <p:cNvPr id="38" name="Text 36"/>
          <p:cNvSpPr/>
          <p:nvPr/>
        </p:nvSpPr>
        <p:spPr>
          <a:xfrm>
            <a:off x="6191131" y="2727008"/>
            <a:ext cx="1495425" cy="304800"/>
          </a:xfrm>
          <a:prstGeom prst="rect">
            <a:avLst/>
          </a:prstGeom>
          <a:noFill/>
          <a:ln/>
        </p:spPr>
        <p:txBody>
          <a:bodyPr wrap="square" lIns="0" tIns="0" rIns="0" bIns="0" rtlCol="0" anchor="ctr"/>
          <a:lstStyle/>
          <a:p>
            <a:pPr algn="ctr">
              <a:lnSpc>
                <a:spcPct val="110000"/>
              </a:lnSpc>
            </a:pPr>
            <a:r>
              <a:rPr lang="en-US" sz="1800" b="1" dirty="0">
                <a:solidFill>
                  <a:srgbClr val="0071E3"/>
                </a:solidFill>
                <a:latin typeface="Liter" pitchFamily="34" charset="0"/>
                <a:ea typeface="Liter" pitchFamily="34" charset="-122"/>
                <a:cs typeface="Liter" pitchFamily="34" charset="-120"/>
              </a:rPr>
              <a:t>Key</a:t>
            </a:r>
            <a:endParaRPr lang="en-US" sz="1600" dirty="0"/>
          </a:p>
        </p:txBody>
      </p:sp>
      <p:sp>
        <p:nvSpPr>
          <p:cNvPr id="39" name="Text 37"/>
          <p:cNvSpPr/>
          <p:nvPr/>
        </p:nvSpPr>
        <p:spPr>
          <a:xfrm>
            <a:off x="6219706" y="3031689"/>
            <a:ext cx="1438275"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Indicators</a:t>
            </a:r>
            <a:endParaRPr lang="en-US" sz="1600" dirty="0"/>
          </a:p>
        </p:txBody>
      </p:sp>
      <p:sp>
        <p:nvSpPr>
          <p:cNvPr id="40" name="Shape 38"/>
          <p:cNvSpPr/>
          <p:nvPr/>
        </p:nvSpPr>
        <p:spPr>
          <a:xfrm>
            <a:off x="4258270" y="3652599"/>
            <a:ext cx="3674745" cy="2036445"/>
          </a:xfrm>
          <a:custGeom>
            <a:avLst/>
            <a:gdLst/>
            <a:ahLst/>
            <a:cxnLst/>
            <a:rect l="l" t="t" r="r" b="b"/>
            <a:pathLst>
              <a:path w="3674745" h="2036445">
                <a:moveTo>
                  <a:pt x="228591" y="0"/>
                </a:moveTo>
                <a:lnTo>
                  <a:pt x="3446154" y="0"/>
                </a:lnTo>
                <a:cubicBezTo>
                  <a:pt x="3572401" y="0"/>
                  <a:pt x="3674745" y="102344"/>
                  <a:pt x="3674745" y="228591"/>
                </a:cubicBezTo>
                <a:lnTo>
                  <a:pt x="3674745" y="1807854"/>
                </a:lnTo>
                <a:cubicBezTo>
                  <a:pt x="3674745" y="1934101"/>
                  <a:pt x="3572401" y="2036445"/>
                  <a:pt x="3446154" y="2036445"/>
                </a:cubicBezTo>
                <a:lnTo>
                  <a:pt x="228591" y="2036445"/>
                </a:lnTo>
                <a:cubicBezTo>
                  <a:pt x="102344" y="2036445"/>
                  <a:pt x="0" y="1934101"/>
                  <a:pt x="0" y="1807854"/>
                </a:cubicBezTo>
                <a:lnTo>
                  <a:pt x="0" y="228591"/>
                </a:lnTo>
                <a:cubicBezTo>
                  <a:pt x="0" y="102428"/>
                  <a:pt x="102428" y="0"/>
                  <a:pt x="228591" y="0"/>
                </a:cubicBezTo>
                <a:close/>
              </a:path>
            </a:pathLst>
          </a:custGeom>
          <a:solidFill>
            <a:srgbClr val="FFFFFF">
              <a:alpha val="85098"/>
            </a:srgbClr>
          </a:solidFill>
          <a:ln w="10160">
            <a:solidFill>
              <a:srgbClr val="FFFFFF">
                <a:alpha val="30196"/>
              </a:srgbClr>
            </a:solidFill>
            <a:prstDash val="solid"/>
          </a:ln>
        </p:spPr>
      </p:sp>
      <p:sp>
        <p:nvSpPr>
          <p:cNvPr id="41" name="Shape 39"/>
          <p:cNvSpPr/>
          <p:nvPr/>
        </p:nvSpPr>
        <p:spPr>
          <a:xfrm>
            <a:off x="4452580" y="3846909"/>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42" name="Shape 40"/>
          <p:cNvSpPr/>
          <p:nvPr/>
        </p:nvSpPr>
        <p:spPr>
          <a:xfrm>
            <a:off x="4559737" y="395168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386" y="107792"/>
                </a:moveTo>
                <a:cubicBezTo>
                  <a:pt x="62218" y="117169"/>
                  <a:pt x="73268" y="123230"/>
                  <a:pt x="85725" y="123230"/>
                </a:cubicBezTo>
                <a:cubicBezTo>
                  <a:pt x="98182" y="123230"/>
                  <a:pt x="109232" y="117169"/>
                  <a:pt x="116064" y="107792"/>
                </a:cubicBezTo>
                <a:cubicBezTo>
                  <a:pt x="118676" y="104209"/>
                  <a:pt x="123698" y="103406"/>
                  <a:pt x="127282" y="106018"/>
                </a:cubicBezTo>
                <a:cubicBezTo>
                  <a:pt x="130865" y="108630"/>
                  <a:pt x="131668" y="113653"/>
                  <a:pt x="129056" y="117236"/>
                </a:cubicBezTo>
                <a:cubicBezTo>
                  <a:pt x="119312" y="130597"/>
                  <a:pt x="103540" y="139303"/>
                  <a:pt x="85725" y="139303"/>
                </a:cubicBezTo>
                <a:cubicBezTo>
                  <a:pt x="67910" y="139303"/>
                  <a:pt x="52138" y="130597"/>
                  <a:pt x="42394" y="117236"/>
                </a:cubicBezTo>
                <a:cubicBezTo>
                  <a:pt x="39782" y="113653"/>
                  <a:pt x="40585" y="108630"/>
                  <a:pt x="44168" y="106018"/>
                </a:cubicBezTo>
                <a:cubicBezTo>
                  <a:pt x="47752" y="103406"/>
                  <a:pt x="52774" y="104209"/>
                  <a:pt x="55386" y="107792"/>
                </a:cubicBezTo>
                <a:close/>
                <a:moveTo>
                  <a:pt x="48220" y="69652"/>
                </a:moveTo>
                <a:cubicBezTo>
                  <a:pt x="48220" y="63737"/>
                  <a:pt x="53022" y="58936"/>
                  <a:pt x="58936" y="58936"/>
                </a:cubicBezTo>
                <a:cubicBezTo>
                  <a:pt x="64850" y="58936"/>
                  <a:pt x="69652" y="63737"/>
                  <a:pt x="69652" y="69652"/>
                </a:cubicBezTo>
                <a:cubicBezTo>
                  <a:pt x="69652" y="75566"/>
                  <a:pt x="64850" y="80367"/>
                  <a:pt x="58936" y="80367"/>
                </a:cubicBezTo>
                <a:cubicBezTo>
                  <a:pt x="53022" y="80367"/>
                  <a:pt x="48220" y="75566"/>
                  <a:pt x="48220" y="69652"/>
                </a:cubicBezTo>
                <a:close/>
                <a:moveTo>
                  <a:pt x="112514" y="58936"/>
                </a:moveTo>
                <a:cubicBezTo>
                  <a:pt x="118428" y="58936"/>
                  <a:pt x="123230" y="63737"/>
                  <a:pt x="123230" y="69652"/>
                </a:cubicBezTo>
                <a:cubicBezTo>
                  <a:pt x="123230" y="75566"/>
                  <a:pt x="118428" y="80367"/>
                  <a:pt x="112514" y="80367"/>
                </a:cubicBezTo>
                <a:cubicBezTo>
                  <a:pt x="106600" y="80367"/>
                  <a:pt x="101798" y="75566"/>
                  <a:pt x="101798" y="69652"/>
                </a:cubicBezTo>
                <a:cubicBezTo>
                  <a:pt x="101798" y="63737"/>
                  <a:pt x="106600" y="58936"/>
                  <a:pt x="112514" y="58936"/>
                </a:cubicBezTo>
                <a:close/>
              </a:path>
            </a:pathLst>
          </a:custGeom>
          <a:solidFill>
            <a:srgbClr val="0071E3"/>
          </a:solidFill>
          <a:ln/>
        </p:spPr>
      </p:sp>
      <p:sp>
        <p:nvSpPr>
          <p:cNvPr id="43" name="Text 41"/>
          <p:cNvSpPr/>
          <p:nvPr/>
        </p:nvSpPr>
        <p:spPr>
          <a:xfrm>
            <a:off x="4947881" y="3904059"/>
            <a:ext cx="198120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Sentiment Distribution</a:t>
            </a:r>
            <a:endParaRPr lang="en-US" sz="1600" dirty="0"/>
          </a:p>
        </p:txBody>
      </p:sp>
      <p:sp>
        <p:nvSpPr>
          <p:cNvPr id="44" name="Text 42"/>
          <p:cNvSpPr/>
          <p:nvPr/>
        </p:nvSpPr>
        <p:spPr>
          <a:xfrm>
            <a:off x="4452580" y="4380309"/>
            <a:ext cx="3352800" cy="438150"/>
          </a:xfrm>
          <a:prstGeom prst="rect">
            <a:avLst/>
          </a:prstGeom>
          <a:noFill/>
          <a:ln/>
        </p:spPr>
        <p:txBody>
          <a:bodyPr wrap="square" lIns="0" tIns="0" rIns="0" bIns="0" rtlCol="0" anchor="ctr"/>
          <a:lstStyle/>
          <a:p>
            <a:pPr>
              <a:lnSpc>
                <a:spcPct val="140000"/>
              </a:lnSpc>
            </a:pPr>
            <a:r>
              <a:rPr lang="en-US" sz="1050" dirty="0">
                <a:solidFill>
                  <a:srgbClr val="1D1D1F"/>
                </a:solidFill>
                <a:latin typeface="Quattrocento Sans" pitchFamily="34" charset="0"/>
                <a:ea typeface="Quattrocento Sans" pitchFamily="34" charset="-122"/>
                <a:cs typeface="Quattrocento Sans" pitchFamily="34" charset="-120"/>
              </a:rPr>
              <a:t>Evaluated sentiment class distribution to detect opinion trends across the dataset.</a:t>
            </a:r>
            <a:endParaRPr lang="en-US" sz="1600" dirty="0"/>
          </a:p>
        </p:txBody>
      </p:sp>
      <p:sp>
        <p:nvSpPr>
          <p:cNvPr id="45" name="Shape 43"/>
          <p:cNvSpPr/>
          <p:nvPr/>
        </p:nvSpPr>
        <p:spPr>
          <a:xfrm>
            <a:off x="4452580" y="4927997"/>
            <a:ext cx="1047750" cy="571500"/>
          </a:xfrm>
          <a:custGeom>
            <a:avLst/>
            <a:gdLst/>
            <a:ahLst/>
            <a:cxnLst/>
            <a:rect l="l" t="t" r="r" b="b"/>
            <a:pathLst>
              <a:path w="1047750" h="571500">
                <a:moveTo>
                  <a:pt x="114300" y="0"/>
                </a:moveTo>
                <a:lnTo>
                  <a:pt x="933450" y="0"/>
                </a:lnTo>
                <a:cubicBezTo>
                  <a:pt x="996534" y="0"/>
                  <a:pt x="1047750" y="51216"/>
                  <a:pt x="1047750" y="114300"/>
                </a:cubicBezTo>
                <a:lnTo>
                  <a:pt x="1047750" y="457200"/>
                </a:lnTo>
                <a:cubicBezTo>
                  <a:pt x="1047750" y="520284"/>
                  <a:pt x="996534" y="571500"/>
                  <a:pt x="933450" y="571500"/>
                </a:cubicBezTo>
                <a:lnTo>
                  <a:pt x="114300" y="571500"/>
                </a:lnTo>
                <a:cubicBezTo>
                  <a:pt x="51216" y="571500"/>
                  <a:pt x="0" y="520284"/>
                  <a:pt x="0" y="457200"/>
                </a:cubicBezTo>
                <a:lnTo>
                  <a:pt x="0" y="114300"/>
                </a:lnTo>
                <a:cubicBezTo>
                  <a:pt x="0" y="51216"/>
                  <a:pt x="51216" y="0"/>
                  <a:pt x="114300" y="0"/>
                </a:cubicBezTo>
                <a:close/>
              </a:path>
            </a:pathLst>
          </a:custGeom>
          <a:solidFill>
            <a:srgbClr val="DCFCE7"/>
          </a:solidFill>
          <a:ln/>
        </p:spPr>
      </p:sp>
      <p:sp>
        <p:nvSpPr>
          <p:cNvPr id="46" name="Text 44"/>
          <p:cNvSpPr/>
          <p:nvPr/>
        </p:nvSpPr>
        <p:spPr>
          <a:xfrm>
            <a:off x="4485918" y="5004197"/>
            <a:ext cx="981075" cy="266700"/>
          </a:xfrm>
          <a:prstGeom prst="rect">
            <a:avLst/>
          </a:prstGeom>
          <a:noFill/>
          <a:ln/>
        </p:spPr>
        <p:txBody>
          <a:bodyPr wrap="square" lIns="0" tIns="0" rIns="0" bIns="0" rtlCol="0" anchor="ctr"/>
          <a:lstStyle/>
          <a:p>
            <a:pPr algn="ctr">
              <a:lnSpc>
                <a:spcPct val="130000"/>
              </a:lnSpc>
            </a:pPr>
            <a:r>
              <a:rPr lang="en-US" sz="1350" b="1" dirty="0">
                <a:solidFill>
                  <a:srgbClr val="00A63E"/>
                </a:solidFill>
                <a:latin typeface="Liter" pitchFamily="34" charset="0"/>
                <a:ea typeface="Liter" pitchFamily="34" charset="-122"/>
                <a:cs typeface="Liter" pitchFamily="34" charset="-120"/>
              </a:rPr>
              <a:t>+</a:t>
            </a:r>
            <a:endParaRPr lang="en-US" sz="1600" dirty="0"/>
          </a:p>
        </p:txBody>
      </p:sp>
      <p:sp>
        <p:nvSpPr>
          <p:cNvPr id="47" name="Text 45"/>
          <p:cNvSpPr/>
          <p:nvPr/>
        </p:nvSpPr>
        <p:spPr>
          <a:xfrm>
            <a:off x="4500205" y="5270897"/>
            <a:ext cx="952500" cy="152400"/>
          </a:xfrm>
          <a:prstGeom prst="rect">
            <a:avLst/>
          </a:prstGeom>
          <a:noFill/>
          <a:ln/>
        </p:spPr>
        <p:txBody>
          <a:bodyPr wrap="square" lIns="0" tIns="0" rIns="0" bIns="0" rtlCol="0" anchor="ctr"/>
          <a:lstStyle/>
          <a:p>
            <a:pPr algn="ctr">
              <a:lnSpc>
                <a:spcPct val="110000"/>
              </a:lnSpc>
            </a:pPr>
            <a:r>
              <a:rPr lang="en-US" sz="900" dirty="0">
                <a:solidFill>
                  <a:srgbClr val="008236"/>
                </a:solidFill>
                <a:latin typeface="Quattrocento Sans" pitchFamily="34" charset="0"/>
                <a:ea typeface="Quattrocento Sans" pitchFamily="34" charset="-122"/>
                <a:cs typeface="Quattrocento Sans" pitchFamily="34" charset="-120"/>
              </a:rPr>
              <a:t>Positive</a:t>
            </a:r>
            <a:endParaRPr lang="en-US" sz="1600" dirty="0"/>
          </a:p>
        </p:txBody>
      </p:sp>
      <p:sp>
        <p:nvSpPr>
          <p:cNvPr id="48" name="Shape 46"/>
          <p:cNvSpPr/>
          <p:nvPr/>
        </p:nvSpPr>
        <p:spPr>
          <a:xfrm>
            <a:off x="5573554" y="4927997"/>
            <a:ext cx="1047750" cy="571500"/>
          </a:xfrm>
          <a:custGeom>
            <a:avLst/>
            <a:gdLst/>
            <a:ahLst/>
            <a:cxnLst/>
            <a:rect l="l" t="t" r="r" b="b"/>
            <a:pathLst>
              <a:path w="1047750" h="571500">
                <a:moveTo>
                  <a:pt x="114300" y="0"/>
                </a:moveTo>
                <a:lnTo>
                  <a:pt x="933450" y="0"/>
                </a:lnTo>
                <a:cubicBezTo>
                  <a:pt x="996534" y="0"/>
                  <a:pt x="1047750" y="51216"/>
                  <a:pt x="1047750" y="114300"/>
                </a:cubicBezTo>
                <a:lnTo>
                  <a:pt x="1047750" y="457200"/>
                </a:lnTo>
                <a:cubicBezTo>
                  <a:pt x="1047750" y="520284"/>
                  <a:pt x="996534" y="571500"/>
                  <a:pt x="933450" y="571500"/>
                </a:cubicBezTo>
                <a:lnTo>
                  <a:pt x="114300" y="571500"/>
                </a:lnTo>
                <a:cubicBezTo>
                  <a:pt x="51216" y="571500"/>
                  <a:pt x="0" y="520284"/>
                  <a:pt x="0" y="457200"/>
                </a:cubicBezTo>
                <a:lnTo>
                  <a:pt x="0" y="114300"/>
                </a:lnTo>
                <a:cubicBezTo>
                  <a:pt x="0" y="51216"/>
                  <a:pt x="51216" y="0"/>
                  <a:pt x="114300" y="0"/>
                </a:cubicBezTo>
                <a:close/>
              </a:path>
            </a:pathLst>
          </a:custGeom>
          <a:solidFill>
            <a:srgbClr val="FFE2E2"/>
          </a:solidFill>
          <a:ln/>
        </p:spPr>
      </p:sp>
      <p:sp>
        <p:nvSpPr>
          <p:cNvPr id="49" name="Text 47"/>
          <p:cNvSpPr/>
          <p:nvPr/>
        </p:nvSpPr>
        <p:spPr>
          <a:xfrm>
            <a:off x="5606891" y="5004197"/>
            <a:ext cx="981075" cy="266700"/>
          </a:xfrm>
          <a:prstGeom prst="rect">
            <a:avLst/>
          </a:prstGeom>
          <a:noFill/>
          <a:ln/>
        </p:spPr>
        <p:txBody>
          <a:bodyPr wrap="square" lIns="0" tIns="0" rIns="0" bIns="0" rtlCol="0" anchor="ctr"/>
          <a:lstStyle/>
          <a:p>
            <a:pPr algn="ctr">
              <a:lnSpc>
                <a:spcPct val="130000"/>
              </a:lnSpc>
            </a:pPr>
            <a:r>
              <a:rPr lang="en-US" sz="1350" b="1" dirty="0">
                <a:solidFill>
                  <a:srgbClr val="E7000B"/>
                </a:solidFill>
                <a:latin typeface="Liter" pitchFamily="34" charset="0"/>
                <a:ea typeface="Liter" pitchFamily="34" charset="-122"/>
                <a:cs typeface="Liter" pitchFamily="34" charset="-120"/>
              </a:rPr>
              <a:t>−</a:t>
            </a:r>
            <a:endParaRPr lang="en-US" sz="1600" dirty="0"/>
          </a:p>
        </p:txBody>
      </p:sp>
      <p:sp>
        <p:nvSpPr>
          <p:cNvPr id="50" name="Text 48"/>
          <p:cNvSpPr/>
          <p:nvPr/>
        </p:nvSpPr>
        <p:spPr>
          <a:xfrm>
            <a:off x="5621179" y="5270897"/>
            <a:ext cx="952500" cy="152400"/>
          </a:xfrm>
          <a:prstGeom prst="rect">
            <a:avLst/>
          </a:prstGeom>
          <a:noFill/>
          <a:ln/>
        </p:spPr>
        <p:txBody>
          <a:bodyPr wrap="square" lIns="0" tIns="0" rIns="0" bIns="0" rtlCol="0" anchor="ctr"/>
          <a:lstStyle/>
          <a:p>
            <a:pPr algn="ctr">
              <a:lnSpc>
                <a:spcPct val="110000"/>
              </a:lnSpc>
            </a:pPr>
            <a:r>
              <a:rPr lang="en-US" sz="900" dirty="0">
                <a:solidFill>
                  <a:srgbClr val="C10007"/>
                </a:solidFill>
                <a:latin typeface="Quattrocento Sans" pitchFamily="34" charset="0"/>
                <a:ea typeface="Quattrocento Sans" pitchFamily="34" charset="-122"/>
                <a:cs typeface="Quattrocento Sans" pitchFamily="34" charset="-120"/>
              </a:rPr>
              <a:t>Negative</a:t>
            </a:r>
            <a:endParaRPr lang="en-US" sz="1600" dirty="0"/>
          </a:p>
        </p:txBody>
      </p:sp>
      <p:sp>
        <p:nvSpPr>
          <p:cNvPr id="51" name="Shape 49"/>
          <p:cNvSpPr/>
          <p:nvPr/>
        </p:nvSpPr>
        <p:spPr>
          <a:xfrm>
            <a:off x="6694527" y="4927997"/>
            <a:ext cx="1047750" cy="571500"/>
          </a:xfrm>
          <a:custGeom>
            <a:avLst/>
            <a:gdLst/>
            <a:ahLst/>
            <a:cxnLst/>
            <a:rect l="l" t="t" r="r" b="b"/>
            <a:pathLst>
              <a:path w="1047750" h="571500">
                <a:moveTo>
                  <a:pt x="114300" y="0"/>
                </a:moveTo>
                <a:lnTo>
                  <a:pt x="933450" y="0"/>
                </a:lnTo>
                <a:cubicBezTo>
                  <a:pt x="996534" y="0"/>
                  <a:pt x="1047750" y="51216"/>
                  <a:pt x="1047750" y="114300"/>
                </a:cubicBezTo>
                <a:lnTo>
                  <a:pt x="1047750" y="457200"/>
                </a:lnTo>
                <a:cubicBezTo>
                  <a:pt x="1047750" y="520284"/>
                  <a:pt x="996534" y="571500"/>
                  <a:pt x="933450" y="571500"/>
                </a:cubicBezTo>
                <a:lnTo>
                  <a:pt x="114300" y="571500"/>
                </a:lnTo>
                <a:cubicBezTo>
                  <a:pt x="51216" y="571500"/>
                  <a:pt x="0" y="520284"/>
                  <a:pt x="0" y="457200"/>
                </a:cubicBezTo>
                <a:lnTo>
                  <a:pt x="0" y="114300"/>
                </a:lnTo>
                <a:cubicBezTo>
                  <a:pt x="0" y="51216"/>
                  <a:pt x="51216" y="0"/>
                  <a:pt x="114300" y="0"/>
                </a:cubicBezTo>
                <a:close/>
              </a:path>
            </a:pathLst>
          </a:custGeom>
          <a:solidFill>
            <a:srgbClr val="F3F4F6"/>
          </a:solidFill>
          <a:ln/>
        </p:spPr>
      </p:sp>
      <p:sp>
        <p:nvSpPr>
          <p:cNvPr id="52" name="Text 50"/>
          <p:cNvSpPr/>
          <p:nvPr/>
        </p:nvSpPr>
        <p:spPr>
          <a:xfrm>
            <a:off x="6727865" y="5004197"/>
            <a:ext cx="981075" cy="266700"/>
          </a:xfrm>
          <a:prstGeom prst="rect">
            <a:avLst/>
          </a:prstGeom>
          <a:noFill/>
          <a:ln/>
        </p:spPr>
        <p:txBody>
          <a:bodyPr wrap="square" lIns="0" tIns="0" rIns="0" bIns="0" rtlCol="0" anchor="ctr"/>
          <a:lstStyle/>
          <a:p>
            <a:pPr algn="ctr">
              <a:lnSpc>
                <a:spcPct val="130000"/>
              </a:lnSpc>
            </a:pPr>
            <a:r>
              <a:rPr lang="en-US" sz="1350" b="1" dirty="0">
                <a:solidFill>
                  <a:srgbClr val="4A5565"/>
                </a:solidFill>
                <a:latin typeface="Liter" pitchFamily="34" charset="0"/>
                <a:ea typeface="Liter" pitchFamily="34" charset="-122"/>
                <a:cs typeface="Liter" pitchFamily="34" charset="-120"/>
              </a:rPr>
              <a:t>=</a:t>
            </a:r>
            <a:endParaRPr lang="en-US" sz="1600" dirty="0"/>
          </a:p>
        </p:txBody>
      </p:sp>
      <p:sp>
        <p:nvSpPr>
          <p:cNvPr id="53" name="Text 51"/>
          <p:cNvSpPr/>
          <p:nvPr/>
        </p:nvSpPr>
        <p:spPr>
          <a:xfrm>
            <a:off x="6742152" y="5270897"/>
            <a:ext cx="952500" cy="152400"/>
          </a:xfrm>
          <a:prstGeom prst="rect">
            <a:avLst/>
          </a:prstGeom>
          <a:noFill/>
          <a:ln/>
        </p:spPr>
        <p:txBody>
          <a:bodyPr wrap="square" lIns="0" tIns="0" rIns="0" bIns="0" rtlCol="0" anchor="ctr"/>
          <a:lstStyle/>
          <a:p>
            <a:pPr algn="ctr">
              <a:lnSpc>
                <a:spcPct val="110000"/>
              </a:lnSpc>
            </a:pPr>
            <a:r>
              <a:rPr lang="en-US" sz="900" dirty="0">
                <a:solidFill>
                  <a:srgbClr val="364153"/>
                </a:solidFill>
                <a:latin typeface="Quattrocento Sans" pitchFamily="34" charset="0"/>
                <a:ea typeface="Quattrocento Sans" pitchFamily="34" charset="-122"/>
                <a:cs typeface="Quattrocento Sans" pitchFamily="34" charset="-120"/>
              </a:rPr>
              <a:t>Neutral</a:t>
            </a:r>
            <a:endParaRPr lang="en-US" sz="1600" dirty="0"/>
          </a:p>
        </p:txBody>
      </p:sp>
      <p:sp>
        <p:nvSpPr>
          <p:cNvPr id="54" name="Shape 52"/>
          <p:cNvSpPr/>
          <p:nvPr/>
        </p:nvSpPr>
        <p:spPr>
          <a:xfrm>
            <a:off x="8131731" y="1337310"/>
            <a:ext cx="3674745" cy="5132070"/>
          </a:xfrm>
          <a:custGeom>
            <a:avLst/>
            <a:gdLst/>
            <a:ahLst/>
            <a:cxnLst/>
            <a:rect l="l" t="t" r="r" b="b"/>
            <a:pathLst>
              <a:path w="3674745" h="5132070">
                <a:moveTo>
                  <a:pt x="228606" y="0"/>
                </a:moveTo>
                <a:lnTo>
                  <a:pt x="3446139" y="0"/>
                </a:lnTo>
                <a:cubicBezTo>
                  <a:pt x="3572395" y="0"/>
                  <a:pt x="3674745" y="102350"/>
                  <a:pt x="3674745" y="228606"/>
                </a:cubicBezTo>
                <a:lnTo>
                  <a:pt x="3674745" y="4903464"/>
                </a:lnTo>
                <a:cubicBezTo>
                  <a:pt x="3674745" y="5029720"/>
                  <a:pt x="3572395" y="5132070"/>
                  <a:pt x="3446139" y="5132070"/>
                </a:cubicBezTo>
                <a:lnTo>
                  <a:pt x="228606" y="5132070"/>
                </a:lnTo>
                <a:cubicBezTo>
                  <a:pt x="102350" y="5132070"/>
                  <a:pt x="0" y="5029720"/>
                  <a:pt x="0" y="4903464"/>
                </a:cubicBezTo>
                <a:lnTo>
                  <a:pt x="0" y="228606"/>
                </a:lnTo>
                <a:cubicBezTo>
                  <a:pt x="0" y="102435"/>
                  <a:pt x="102435" y="0"/>
                  <a:pt x="228606" y="0"/>
                </a:cubicBezTo>
                <a:close/>
              </a:path>
            </a:pathLst>
          </a:custGeom>
          <a:solidFill>
            <a:srgbClr val="FFFFFF">
              <a:alpha val="85098"/>
            </a:srgbClr>
          </a:solidFill>
          <a:ln w="10160">
            <a:solidFill>
              <a:srgbClr val="FFFFFF">
                <a:alpha val="30196"/>
              </a:srgbClr>
            </a:solidFill>
            <a:prstDash val="solid"/>
          </a:ln>
        </p:spPr>
      </p:sp>
      <p:sp>
        <p:nvSpPr>
          <p:cNvPr id="55" name="Shape 53"/>
          <p:cNvSpPr/>
          <p:nvPr/>
        </p:nvSpPr>
        <p:spPr>
          <a:xfrm>
            <a:off x="8326041" y="153162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56" name="Shape 54"/>
          <p:cNvSpPr/>
          <p:nvPr/>
        </p:nvSpPr>
        <p:spPr>
          <a:xfrm>
            <a:off x="8433197" y="1636395"/>
            <a:ext cx="171450" cy="171450"/>
          </a:xfrm>
          <a:custGeom>
            <a:avLst/>
            <a:gdLst/>
            <a:ahLst/>
            <a:cxnLst/>
            <a:rect l="l" t="t" r="r" b="b"/>
            <a:pathLst>
              <a:path w="171450" h="171450">
                <a:moveTo>
                  <a:pt x="0" y="26789"/>
                </a:moveTo>
                <a:cubicBezTo>
                  <a:pt x="0" y="17915"/>
                  <a:pt x="7200" y="10716"/>
                  <a:pt x="16073" y="10716"/>
                </a:cubicBezTo>
                <a:lnTo>
                  <a:pt x="48220" y="10716"/>
                </a:lnTo>
                <a:cubicBezTo>
                  <a:pt x="57094" y="10716"/>
                  <a:pt x="64294" y="17915"/>
                  <a:pt x="64294" y="26789"/>
                </a:cubicBezTo>
                <a:lnTo>
                  <a:pt x="64294" y="32147"/>
                </a:lnTo>
                <a:lnTo>
                  <a:pt x="107156" y="32147"/>
                </a:lnTo>
                <a:lnTo>
                  <a:pt x="107156" y="26789"/>
                </a:lnTo>
                <a:cubicBezTo>
                  <a:pt x="107156" y="17915"/>
                  <a:pt x="114356" y="10716"/>
                  <a:pt x="123230" y="10716"/>
                </a:cubicBezTo>
                <a:lnTo>
                  <a:pt x="155377" y="10716"/>
                </a:lnTo>
                <a:cubicBezTo>
                  <a:pt x="164250" y="10716"/>
                  <a:pt x="171450" y="17915"/>
                  <a:pt x="171450" y="26789"/>
                </a:cubicBezTo>
                <a:lnTo>
                  <a:pt x="171450" y="58936"/>
                </a:lnTo>
                <a:cubicBezTo>
                  <a:pt x="171450" y="67810"/>
                  <a:pt x="164250" y="75009"/>
                  <a:pt x="155377" y="75009"/>
                </a:cubicBezTo>
                <a:lnTo>
                  <a:pt x="123230" y="75009"/>
                </a:lnTo>
                <a:cubicBezTo>
                  <a:pt x="114356" y="75009"/>
                  <a:pt x="107156" y="67810"/>
                  <a:pt x="107156" y="58936"/>
                </a:cubicBezTo>
                <a:lnTo>
                  <a:pt x="107156" y="53578"/>
                </a:lnTo>
                <a:lnTo>
                  <a:pt x="64294" y="53578"/>
                </a:lnTo>
                <a:lnTo>
                  <a:pt x="64294" y="58936"/>
                </a:lnTo>
                <a:cubicBezTo>
                  <a:pt x="64294" y="61380"/>
                  <a:pt x="63724" y="63724"/>
                  <a:pt x="62753" y="65801"/>
                </a:cubicBezTo>
                <a:lnTo>
                  <a:pt x="85725" y="96441"/>
                </a:lnTo>
                <a:lnTo>
                  <a:pt x="112514" y="96441"/>
                </a:lnTo>
                <a:cubicBezTo>
                  <a:pt x="121388" y="96441"/>
                  <a:pt x="128588" y="103640"/>
                  <a:pt x="128588" y="112514"/>
                </a:cubicBezTo>
                <a:lnTo>
                  <a:pt x="128588" y="144661"/>
                </a:lnTo>
                <a:cubicBezTo>
                  <a:pt x="128588" y="153535"/>
                  <a:pt x="121388" y="160734"/>
                  <a:pt x="112514" y="160734"/>
                </a:cubicBezTo>
                <a:lnTo>
                  <a:pt x="80367" y="160734"/>
                </a:lnTo>
                <a:cubicBezTo>
                  <a:pt x="71493" y="160734"/>
                  <a:pt x="64294" y="153535"/>
                  <a:pt x="64294" y="144661"/>
                </a:cubicBezTo>
                <a:lnTo>
                  <a:pt x="64294" y="112514"/>
                </a:lnTo>
                <a:cubicBezTo>
                  <a:pt x="64294" y="110070"/>
                  <a:pt x="64863" y="107726"/>
                  <a:pt x="65834" y="105649"/>
                </a:cubicBezTo>
                <a:lnTo>
                  <a:pt x="42863" y="75009"/>
                </a:lnTo>
                <a:lnTo>
                  <a:pt x="16073" y="75009"/>
                </a:lnTo>
                <a:cubicBezTo>
                  <a:pt x="7200" y="75009"/>
                  <a:pt x="0" y="67810"/>
                  <a:pt x="0" y="58936"/>
                </a:cubicBezTo>
                <a:lnTo>
                  <a:pt x="0" y="26789"/>
                </a:lnTo>
                <a:close/>
              </a:path>
            </a:pathLst>
          </a:custGeom>
          <a:solidFill>
            <a:srgbClr val="0071E3"/>
          </a:solidFill>
          <a:ln/>
        </p:spPr>
      </p:sp>
      <p:sp>
        <p:nvSpPr>
          <p:cNvPr id="57" name="Text 55"/>
          <p:cNvSpPr/>
          <p:nvPr/>
        </p:nvSpPr>
        <p:spPr>
          <a:xfrm>
            <a:off x="8821341" y="1588770"/>
            <a:ext cx="142875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Theme Patterns</a:t>
            </a:r>
            <a:endParaRPr lang="en-US" sz="1600" dirty="0"/>
          </a:p>
        </p:txBody>
      </p:sp>
      <p:sp>
        <p:nvSpPr>
          <p:cNvPr id="58" name="Text 56"/>
          <p:cNvSpPr/>
          <p:nvPr/>
        </p:nvSpPr>
        <p:spPr>
          <a:xfrm>
            <a:off x="8326041" y="2065020"/>
            <a:ext cx="3352800" cy="438150"/>
          </a:xfrm>
          <a:prstGeom prst="rect">
            <a:avLst/>
          </a:prstGeom>
          <a:noFill/>
          <a:ln/>
        </p:spPr>
        <p:txBody>
          <a:bodyPr wrap="square" lIns="0" tIns="0" rIns="0" bIns="0" rtlCol="0" anchor="ctr"/>
          <a:lstStyle/>
          <a:p>
            <a:pPr>
              <a:lnSpc>
                <a:spcPct val="140000"/>
              </a:lnSpc>
            </a:pPr>
            <a:r>
              <a:rPr lang="en-US" sz="1050" dirty="0">
                <a:solidFill>
                  <a:srgbClr val="1D1D1F"/>
                </a:solidFill>
                <a:latin typeface="Quattrocento Sans" pitchFamily="34" charset="0"/>
                <a:ea typeface="Quattrocento Sans" pitchFamily="34" charset="-122"/>
                <a:cs typeface="Quattrocento Sans" pitchFamily="34" charset="-120"/>
              </a:rPr>
              <a:t>Observed </a:t>
            </a:r>
            <a:r>
              <a:rPr lang="en-US" sz="1050" b="1" dirty="0">
                <a:solidFill>
                  <a:srgbClr val="1D1D1F"/>
                </a:solidFill>
                <a:latin typeface="Quattrocento Sans" pitchFamily="34" charset="0"/>
                <a:ea typeface="Quattrocento Sans" pitchFamily="34" charset="-122"/>
                <a:cs typeface="Quattrocento Sans" pitchFamily="34" charset="-120"/>
              </a:rPr>
              <a:t>recurring themes and patterns</a:t>
            </a:r>
            <a:r>
              <a:rPr lang="en-US" sz="1050" dirty="0">
                <a:solidFill>
                  <a:srgbClr val="1D1D1F"/>
                </a:solidFill>
                <a:latin typeface="Quattrocento Sans" pitchFamily="34" charset="0"/>
                <a:ea typeface="Quattrocento Sans" pitchFamily="34" charset="-122"/>
                <a:cs typeface="Quattrocento Sans" pitchFamily="34" charset="-120"/>
              </a:rPr>
              <a:t> that guided topic modeling using NMF algorithm.</a:t>
            </a:r>
            <a:endParaRPr lang="en-US" sz="1600" dirty="0"/>
          </a:p>
        </p:txBody>
      </p:sp>
      <p:sp>
        <p:nvSpPr>
          <p:cNvPr id="59" name="Shape 57"/>
          <p:cNvSpPr/>
          <p:nvPr/>
        </p:nvSpPr>
        <p:spPr>
          <a:xfrm>
            <a:off x="8326041" y="2650808"/>
            <a:ext cx="3286125" cy="609600"/>
          </a:xfrm>
          <a:custGeom>
            <a:avLst/>
            <a:gdLst/>
            <a:ahLst/>
            <a:cxnLst/>
            <a:rect l="l" t="t" r="r" b="b"/>
            <a:pathLst>
              <a:path w="3286125" h="609600">
                <a:moveTo>
                  <a:pt x="114300" y="0"/>
                </a:moveTo>
                <a:lnTo>
                  <a:pt x="3171825" y="0"/>
                </a:lnTo>
                <a:cubicBezTo>
                  <a:pt x="3234909" y="0"/>
                  <a:pt x="3286125" y="51216"/>
                  <a:pt x="3286125" y="114300"/>
                </a:cubicBezTo>
                <a:lnTo>
                  <a:pt x="3286125" y="495300"/>
                </a:lnTo>
                <a:cubicBezTo>
                  <a:pt x="3286125" y="558384"/>
                  <a:pt x="3234909" y="609600"/>
                  <a:pt x="3171825" y="609600"/>
                </a:cubicBezTo>
                <a:lnTo>
                  <a:pt x="114300" y="609600"/>
                </a:lnTo>
                <a:cubicBezTo>
                  <a:pt x="51216" y="609600"/>
                  <a:pt x="0" y="558384"/>
                  <a:pt x="0" y="495300"/>
                </a:cubicBezTo>
                <a:lnTo>
                  <a:pt x="0" y="114300"/>
                </a:lnTo>
                <a:cubicBezTo>
                  <a:pt x="0" y="51216"/>
                  <a:pt x="51216" y="0"/>
                  <a:pt x="114300" y="0"/>
                </a:cubicBezTo>
                <a:close/>
              </a:path>
            </a:pathLst>
          </a:custGeom>
          <a:gradFill flip="none" rotWithShape="1">
            <a:gsLst>
              <a:gs pos="0">
                <a:srgbClr val="0071E3">
                  <a:alpha val="10000"/>
                </a:srgbClr>
              </a:gs>
              <a:gs pos="100000">
                <a:srgbClr val="000000">
                  <a:alpha val="0"/>
                </a:srgbClr>
              </a:gs>
            </a:gsLst>
            <a:lin ang="0" scaled="1"/>
          </a:gradFill>
          <a:ln/>
        </p:spPr>
      </p:sp>
      <p:sp>
        <p:nvSpPr>
          <p:cNvPr id="60" name="Shape 58"/>
          <p:cNvSpPr/>
          <p:nvPr/>
        </p:nvSpPr>
        <p:spPr>
          <a:xfrm>
            <a:off x="8459391" y="2793683"/>
            <a:ext cx="133350" cy="133350"/>
          </a:xfrm>
          <a:custGeom>
            <a:avLst/>
            <a:gdLst/>
            <a:ahLst/>
            <a:cxnLst/>
            <a:rect l="l" t="t" r="r" b="b"/>
            <a:pathLst>
              <a:path w="133350" h="133350">
                <a:moveTo>
                  <a:pt x="50006" y="16669"/>
                </a:moveTo>
                <a:cubicBezTo>
                  <a:pt x="50006" y="12059"/>
                  <a:pt x="53731" y="8334"/>
                  <a:pt x="58341" y="8334"/>
                </a:cubicBezTo>
                <a:lnTo>
                  <a:pt x="75009" y="8334"/>
                </a:lnTo>
                <a:cubicBezTo>
                  <a:pt x="79619" y="8334"/>
                  <a:pt x="83344" y="12059"/>
                  <a:pt x="83344" y="16669"/>
                </a:cubicBezTo>
                <a:lnTo>
                  <a:pt x="83344" y="33337"/>
                </a:lnTo>
                <a:cubicBezTo>
                  <a:pt x="83344" y="37947"/>
                  <a:pt x="79619" y="41672"/>
                  <a:pt x="75009" y="41672"/>
                </a:cubicBezTo>
                <a:lnTo>
                  <a:pt x="72926" y="41672"/>
                </a:lnTo>
                <a:lnTo>
                  <a:pt x="72926" y="58341"/>
                </a:lnTo>
                <a:lnTo>
                  <a:pt x="104180" y="58341"/>
                </a:lnTo>
                <a:cubicBezTo>
                  <a:pt x="114546" y="58341"/>
                  <a:pt x="122932" y="66727"/>
                  <a:pt x="122932" y="77093"/>
                </a:cubicBezTo>
                <a:lnTo>
                  <a:pt x="122932" y="91678"/>
                </a:lnTo>
                <a:lnTo>
                  <a:pt x="125016" y="91678"/>
                </a:lnTo>
                <a:cubicBezTo>
                  <a:pt x="129626" y="91678"/>
                  <a:pt x="133350" y="95403"/>
                  <a:pt x="133350" y="100013"/>
                </a:cubicBezTo>
                <a:lnTo>
                  <a:pt x="133350" y="116681"/>
                </a:lnTo>
                <a:cubicBezTo>
                  <a:pt x="133350" y="121291"/>
                  <a:pt x="129626" y="125016"/>
                  <a:pt x="125016" y="125016"/>
                </a:cubicBezTo>
                <a:lnTo>
                  <a:pt x="108347" y="125016"/>
                </a:lnTo>
                <a:cubicBezTo>
                  <a:pt x="103737" y="125016"/>
                  <a:pt x="100013" y="121291"/>
                  <a:pt x="100013" y="116681"/>
                </a:cubicBezTo>
                <a:lnTo>
                  <a:pt x="100013" y="100013"/>
                </a:lnTo>
                <a:cubicBezTo>
                  <a:pt x="100013" y="95403"/>
                  <a:pt x="103737" y="91678"/>
                  <a:pt x="108347" y="91678"/>
                </a:cubicBezTo>
                <a:lnTo>
                  <a:pt x="110430" y="91678"/>
                </a:lnTo>
                <a:lnTo>
                  <a:pt x="110430" y="77093"/>
                </a:lnTo>
                <a:cubicBezTo>
                  <a:pt x="110430" y="73629"/>
                  <a:pt x="107644" y="70842"/>
                  <a:pt x="104180" y="70842"/>
                </a:cubicBezTo>
                <a:lnTo>
                  <a:pt x="72926" y="70842"/>
                </a:lnTo>
                <a:lnTo>
                  <a:pt x="72926" y="91678"/>
                </a:lnTo>
                <a:lnTo>
                  <a:pt x="75009" y="91678"/>
                </a:lnTo>
                <a:cubicBezTo>
                  <a:pt x="79619" y="91678"/>
                  <a:pt x="83344" y="95403"/>
                  <a:pt x="83344" y="100013"/>
                </a:cubicBezTo>
                <a:lnTo>
                  <a:pt x="83344" y="116681"/>
                </a:lnTo>
                <a:cubicBezTo>
                  <a:pt x="83344" y="121291"/>
                  <a:pt x="79619" y="125016"/>
                  <a:pt x="75009" y="125016"/>
                </a:cubicBezTo>
                <a:lnTo>
                  <a:pt x="58341" y="125016"/>
                </a:lnTo>
                <a:cubicBezTo>
                  <a:pt x="53731" y="125016"/>
                  <a:pt x="50006" y="121291"/>
                  <a:pt x="50006" y="116681"/>
                </a:cubicBezTo>
                <a:lnTo>
                  <a:pt x="50006" y="100013"/>
                </a:lnTo>
                <a:cubicBezTo>
                  <a:pt x="50006" y="95403"/>
                  <a:pt x="53731" y="91678"/>
                  <a:pt x="58341" y="91678"/>
                </a:cubicBezTo>
                <a:lnTo>
                  <a:pt x="60424" y="91678"/>
                </a:lnTo>
                <a:lnTo>
                  <a:pt x="60424" y="70842"/>
                </a:lnTo>
                <a:lnTo>
                  <a:pt x="29170" y="70842"/>
                </a:lnTo>
                <a:cubicBezTo>
                  <a:pt x="25706" y="70842"/>
                  <a:pt x="22920" y="73629"/>
                  <a:pt x="22920" y="77093"/>
                </a:cubicBezTo>
                <a:lnTo>
                  <a:pt x="22920" y="91678"/>
                </a:lnTo>
                <a:lnTo>
                  <a:pt x="25003" y="91678"/>
                </a:lnTo>
                <a:cubicBezTo>
                  <a:pt x="29613" y="91678"/>
                  <a:pt x="33337" y="95403"/>
                  <a:pt x="33337" y="100013"/>
                </a:cubicBezTo>
                <a:lnTo>
                  <a:pt x="33337" y="116681"/>
                </a:lnTo>
                <a:cubicBezTo>
                  <a:pt x="33337" y="121291"/>
                  <a:pt x="29613" y="125016"/>
                  <a:pt x="25003" y="125016"/>
                </a:cubicBezTo>
                <a:lnTo>
                  <a:pt x="8334" y="125016"/>
                </a:lnTo>
                <a:cubicBezTo>
                  <a:pt x="3724" y="125016"/>
                  <a:pt x="0" y="121291"/>
                  <a:pt x="0" y="116681"/>
                </a:cubicBezTo>
                <a:lnTo>
                  <a:pt x="0" y="100013"/>
                </a:lnTo>
                <a:cubicBezTo>
                  <a:pt x="0" y="95403"/>
                  <a:pt x="3724" y="91678"/>
                  <a:pt x="8334" y="91678"/>
                </a:cubicBezTo>
                <a:lnTo>
                  <a:pt x="10418" y="91678"/>
                </a:lnTo>
                <a:lnTo>
                  <a:pt x="10418" y="77093"/>
                </a:lnTo>
                <a:cubicBezTo>
                  <a:pt x="10418" y="66727"/>
                  <a:pt x="18804" y="58341"/>
                  <a:pt x="29170" y="58341"/>
                </a:cubicBezTo>
                <a:lnTo>
                  <a:pt x="60424" y="58341"/>
                </a:lnTo>
                <a:lnTo>
                  <a:pt x="60424" y="41672"/>
                </a:lnTo>
                <a:lnTo>
                  <a:pt x="58341" y="41672"/>
                </a:lnTo>
                <a:cubicBezTo>
                  <a:pt x="53731" y="41672"/>
                  <a:pt x="50006" y="37947"/>
                  <a:pt x="50006" y="33337"/>
                </a:cubicBezTo>
                <a:lnTo>
                  <a:pt x="50006" y="16669"/>
                </a:lnTo>
                <a:close/>
              </a:path>
            </a:pathLst>
          </a:custGeom>
          <a:solidFill>
            <a:srgbClr val="0071E3"/>
          </a:solidFill>
          <a:ln/>
        </p:spPr>
      </p:sp>
      <p:sp>
        <p:nvSpPr>
          <p:cNvPr id="61" name="Text 59"/>
          <p:cNvSpPr/>
          <p:nvPr/>
        </p:nvSpPr>
        <p:spPr>
          <a:xfrm>
            <a:off x="8683228" y="2765108"/>
            <a:ext cx="1038225" cy="190500"/>
          </a:xfrm>
          <a:prstGeom prst="rect">
            <a:avLst/>
          </a:prstGeom>
          <a:noFill/>
          <a:ln/>
        </p:spPr>
        <p:txBody>
          <a:bodyPr wrap="square" lIns="0" tIns="0" rIns="0" bIns="0" rtlCol="0" anchor="ctr"/>
          <a:lstStyle/>
          <a:p>
            <a:pPr>
              <a:lnSpc>
                <a:spcPct val="120000"/>
              </a:lnSpc>
            </a:pPr>
            <a:r>
              <a:rPr lang="en-US" sz="1050" b="1" dirty="0">
                <a:solidFill>
                  <a:srgbClr val="1D1D1F"/>
                </a:solidFill>
                <a:latin typeface="Liter" pitchFamily="34" charset="0"/>
                <a:ea typeface="Liter" pitchFamily="34" charset="-122"/>
                <a:cs typeface="Liter" pitchFamily="34" charset="-120"/>
              </a:rPr>
              <a:t>Topic Clustering</a:t>
            </a:r>
            <a:endParaRPr lang="en-US" sz="1600" dirty="0"/>
          </a:p>
        </p:txBody>
      </p:sp>
      <p:sp>
        <p:nvSpPr>
          <p:cNvPr id="62" name="Text 60"/>
          <p:cNvSpPr/>
          <p:nvPr/>
        </p:nvSpPr>
        <p:spPr>
          <a:xfrm>
            <a:off x="8440341" y="2993708"/>
            <a:ext cx="3114675" cy="152400"/>
          </a:xfrm>
          <a:prstGeom prst="rect">
            <a:avLst/>
          </a:prstGeom>
          <a:noFill/>
          <a:ln/>
        </p:spPr>
        <p:txBody>
          <a:bodyPr wrap="square" lIns="0" tIns="0" rIns="0" bIns="0" rtlCol="0" anchor="ctr"/>
          <a:lstStyle/>
          <a:p>
            <a:pP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Identified natural groupings in text data</a:t>
            </a:r>
            <a:endParaRPr lang="en-US" sz="1600" dirty="0"/>
          </a:p>
        </p:txBody>
      </p:sp>
      <p:sp>
        <p:nvSpPr>
          <p:cNvPr id="63" name="Shape 61"/>
          <p:cNvSpPr/>
          <p:nvPr/>
        </p:nvSpPr>
        <p:spPr>
          <a:xfrm>
            <a:off x="8326041" y="3374589"/>
            <a:ext cx="3286125" cy="609600"/>
          </a:xfrm>
          <a:custGeom>
            <a:avLst/>
            <a:gdLst/>
            <a:ahLst/>
            <a:cxnLst/>
            <a:rect l="l" t="t" r="r" b="b"/>
            <a:pathLst>
              <a:path w="3286125" h="609600">
                <a:moveTo>
                  <a:pt x="114300" y="0"/>
                </a:moveTo>
                <a:lnTo>
                  <a:pt x="3171825" y="0"/>
                </a:lnTo>
                <a:cubicBezTo>
                  <a:pt x="3234909" y="0"/>
                  <a:pt x="3286125" y="51216"/>
                  <a:pt x="3286125" y="114300"/>
                </a:cubicBezTo>
                <a:lnTo>
                  <a:pt x="3286125" y="495300"/>
                </a:lnTo>
                <a:cubicBezTo>
                  <a:pt x="3286125" y="558384"/>
                  <a:pt x="3234909" y="609600"/>
                  <a:pt x="3171825" y="609600"/>
                </a:cubicBezTo>
                <a:lnTo>
                  <a:pt x="114300" y="609600"/>
                </a:lnTo>
                <a:cubicBezTo>
                  <a:pt x="51216" y="609600"/>
                  <a:pt x="0" y="558384"/>
                  <a:pt x="0" y="495300"/>
                </a:cubicBezTo>
                <a:lnTo>
                  <a:pt x="0" y="114300"/>
                </a:lnTo>
                <a:cubicBezTo>
                  <a:pt x="0" y="51216"/>
                  <a:pt x="51216" y="0"/>
                  <a:pt x="114300" y="0"/>
                </a:cubicBezTo>
                <a:close/>
              </a:path>
            </a:pathLst>
          </a:custGeom>
          <a:gradFill flip="none" rotWithShape="1">
            <a:gsLst>
              <a:gs pos="0">
                <a:srgbClr val="0071E3">
                  <a:alpha val="10000"/>
                </a:srgbClr>
              </a:gs>
              <a:gs pos="100000">
                <a:srgbClr val="000000">
                  <a:alpha val="0"/>
                </a:srgbClr>
              </a:gs>
            </a:gsLst>
            <a:lin ang="0" scaled="1"/>
          </a:gradFill>
          <a:ln/>
        </p:spPr>
      </p:sp>
      <p:sp>
        <p:nvSpPr>
          <p:cNvPr id="64" name="Shape 62"/>
          <p:cNvSpPr/>
          <p:nvPr/>
        </p:nvSpPr>
        <p:spPr>
          <a:xfrm>
            <a:off x="8451056" y="3517464"/>
            <a:ext cx="150019" cy="133350"/>
          </a:xfrm>
          <a:custGeom>
            <a:avLst/>
            <a:gdLst/>
            <a:ahLst/>
            <a:cxnLst/>
            <a:rect l="l" t="t" r="r" b="b"/>
            <a:pathLst>
              <a:path w="150019" h="133350">
                <a:moveTo>
                  <a:pt x="109258" y="25003"/>
                </a:moveTo>
                <a:cubicBezTo>
                  <a:pt x="104935" y="25003"/>
                  <a:pt x="100742" y="26175"/>
                  <a:pt x="97069" y="28311"/>
                </a:cubicBezTo>
                <a:cubicBezTo>
                  <a:pt x="92954" y="24144"/>
                  <a:pt x="88162" y="20654"/>
                  <a:pt x="82875" y="18023"/>
                </a:cubicBezTo>
                <a:cubicBezTo>
                  <a:pt x="90220" y="11772"/>
                  <a:pt x="99570" y="8334"/>
                  <a:pt x="109258" y="8334"/>
                </a:cubicBezTo>
                <a:cubicBezTo>
                  <a:pt x="131761" y="8334"/>
                  <a:pt x="150019" y="26566"/>
                  <a:pt x="150019" y="49095"/>
                </a:cubicBezTo>
                <a:cubicBezTo>
                  <a:pt x="150019" y="59903"/>
                  <a:pt x="145721" y="70269"/>
                  <a:pt x="138090" y="77900"/>
                </a:cubicBezTo>
                <a:lnTo>
                  <a:pt x="119572" y="96418"/>
                </a:lnTo>
                <a:cubicBezTo>
                  <a:pt x="111941" y="104049"/>
                  <a:pt x="101575" y="108347"/>
                  <a:pt x="90767" y="108347"/>
                </a:cubicBezTo>
                <a:cubicBezTo>
                  <a:pt x="68264" y="108347"/>
                  <a:pt x="50006" y="90115"/>
                  <a:pt x="50006" y="67587"/>
                </a:cubicBezTo>
                <a:cubicBezTo>
                  <a:pt x="50006" y="67196"/>
                  <a:pt x="50006" y="66805"/>
                  <a:pt x="50032" y="66415"/>
                </a:cubicBezTo>
                <a:cubicBezTo>
                  <a:pt x="50163" y="61805"/>
                  <a:pt x="53991" y="58184"/>
                  <a:pt x="58601" y="58315"/>
                </a:cubicBezTo>
                <a:cubicBezTo>
                  <a:pt x="63211" y="58445"/>
                  <a:pt x="66831" y="62273"/>
                  <a:pt x="66701" y="66883"/>
                </a:cubicBezTo>
                <a:cubicBezTo>
                  <a:pt x="66701" y="67118"/>
                  <a:pt x="66701" y="67352"/>
                  <a:pt x="66701" y="67561"/>
                </a:cubicBezTo>
                <a:cubicBezTo>
                  <a:pt x="66701" y="80869"/>
                  <a:pt x="77484" y="91652"/>
                  <a:pt x="90793" y="91652"/>
                </a:cubicBezTo>
                <a:cubicBezTo>
                  <a:pt x="97174" y="91652"/>
                  <a:pt x="103294" y="89126"/>
                  <a:pt x="107826" y="84594"/>
                </a:cubicBezTo>
                <a:lnTo>
                  <a:pt x="126344" y="66076"/>
                </a:lnTo>
                <a:cubicBezTo>
                  <a:pt x="130850" y="61570"/>
                  <a:pt x="133402" y="55424"/>
                  <a:pt x="133402" y="49043"/>
                </a:cubicBezTo>
                <a:cubicBezTo>
                  <a:pt x="133402" y="35734"/>
                  <a:pt x="122619" y="24951"/>
                  <a:pt x="109311" y="24951"/>
                </a:cubicBezTo>
                <a:close/>
                <a:moveTo>
                  <a:pt x="71676" y="45136"/>
                </a:moveTo>
                <a:cubicBezTo>
                  <a:pt x="71181" y="44927"/>
                  <a:pt x="70686" y="44641"/>
                  <a:pt x="70243" y="44328"/>
                </a:cubicBezTo>
                <a:cubicBezTo>
                  <a:pt x="66961" y="42636"/>
                  <a:pt x="63211" y="41672"/>
                  <a:pt x="59278" y="41672"/>
                </a:cubicBezTo>
                <a:cubicBezTo>
                  <a:pt x="52897" y="41672"/>
                  <a:pt x="46777" y="44198"/>
                  <a:pt x="42245" y="48730"/>
                </a:cubicBezTo>
                <a:lnTo>
                  <a:pt x="23727" y="67248"/>
                </a:lnTo>
                <a:cubicBezTo>
                  <a:pt x="19221" y="71754"/>
                  <a:pt x="16669" y="77900"/>
                  <a:pt x="16669" y="84281"/>
                </a:cubicBezTo>
                <a:cubicBezTo>
                  <a:pt x="16669" y="97590"/>
                  <a:pt x="27451" y="108373"/>
                  <a:pt x="40760" y="108373"/>
                </a:cubicBezTo>
                <a:cubicBezTo>
                  <a:pt x="45058" y="108373"/>
                  <a:pt x="49251" y="107227"/>
                  <a:pt x="52923" y="105091"/>
                </a:cubicBezTo>
                <a:cubicBezTo>
                  <a:pt x="57038" y="109258"/>
                  <a:pt x="61831" y="112748"/>
                  <a:pt x="67144" y="115379"/>
                </a:cubicBezTo>
                <a:cubicBezTo>
                  <a:pt x="59799" y="121604"/>
                  <a:pt x="50475" y="125068"/>
                  <a:pt x="40760" y="125068"/>
                </a:cubicBezTo>
                <a:cubicBezTo>
                  <a:pt x="18257" y="125068"/>
                  <a:pt x="0" y="106836"/>
                  <a:pt x="0" y="84307"/>
                </a:cubicBezTo>
                <a:cubicBezTo>
                  <a:pt x="0" y="73499"/>
                  <a:pt x="4297" y="63133"/>
                  <a:pt x="11929" y="55502"/>
                </a:cubicBezTo>
                <a:lnTo>
                  <a:pt x="30447" y="36984"/>
                </a:lnTo>
                <a:cubicBezTo>
                  <a:pt x="38078" y="29353"/>
                  <a:pt x="48444" y="25055"/>
                  <a:pt x="59252" y="25055"/>
                </a:cubicBezTo>
                <a:cubicBezTo>
                  <a:pt x="81807" y="25055"/>
                  <a:pt x="100013" y="43443"/>
                  <a:pt x="100013" y="65920"/>
                </a:cubicBezTo>
                <a:cubicBezTo>
                  <a:pt x="100013" y="66258"/>
                  <a:pt x="100013" y="66597"/>
                  <a:pt x="100013" y="66935"/>
                </a:cubicBezTo>
                <a:cubicBezTo>
                  <a:pt x="99908" y="71545"/>
                  <a:pt x="96080" y="75166"/>
                  <a:pt x="91470" y="75061"/>
                </a:cubicBezTo>
                <a:cubicBezTo>
                  <a:pt x="86860" y="74957"/>
                  <a:pt x="83240" y="71129"/>
                  <a:pt x="83344" y="66519"/>
                </a:cubicBezTo>
                <a:cubicBezTo>
                  <a:pt x="83344" y="66310"/>
                  <a:pt x="83344" y="66128"/>
                  <a:pt x="83344" y="65920"/>
                </a:cubicBezTo>
                <a:cubicBezTo>
                  <a:pt x="83344" y="57143"/>
                  <a:pt x="78656" y="49433"/>
                  <a:pt x="71676" y="45188"/>
                </a:cubicBezTo>
                <a:close/>
              </a:path>
            </a:pathLst>
          </a:custGeom>
          <a:solidFill>
            <a:srgbClr val="0071E3"/>
          </a:solidFill>
          <a:ln/>
        </p:spPr>
      </p:sp>
      <p:sp>
        <p:nvSpPr>
          <p:cNvPr id="65" name="Text 63"/>
          <p:cNvSpPr/>
          <p:nvPr/>
        </p:nvSpPr>
        <p:spPr>
          <a:xfrm>
            <a:off x="8683228" y="3488889"/>
            <a:ext cx="1228725" cy="190500"/>
          </a:xfrm>
          <a:prstGeom prst="rect">
            <a:avLst/>
          </a:prstGeom>
          <a:noFill/>
          <a:ln/>
        </p:spPr>
        <p:txBody>
          <a:bodyPr wrap="square" lIns="0" tIns="0" rIns="0" bIns="0" rtlCol="0" anchor="ctr"/>
          <a:lstStyle/>
          <a:p>
            <a:pPr>
              <a:lnSpc>
                <a:spcPct val="120000"/>
              </a:lnSpc>
            </a:pPr>
            <a:r>
              <a:rPr lang="en-US" sz="1050" b="1" dirty="0">
                <a:solidFill>
                  <a:srgbClr val="1D1D1F"/>
                </a:solidFill>
                <a:latin typeface="Liter" pitchFamily="34" charset="0"/>
                <a:ea typeface="Liter" pitchFamily="34" charset="-122"/>
                <a:cs typeface="Liter" pitchFamily="34" charset="-120"/>
              </a:rPr>
              <a:t>Pattern Recognition</a:t>
            </a:r>
            <a:endParaRPr lang="en-US" sz="1600" dirty="0"/>
          </a:p>
        </p:txBody>
      </p:sp>
      <p:sp>
        <p:nvSpPr>
          <p:cNvPr id="66" name="Text 64"/>
          <p:cNvSpPr/>
          <p:nvPr/>
        </p:nvSpPr>
        <p:spPr>
          <a:xfrm>
            <a:off x="8440341" y="3717489"/>
            <a:ext cx="3114675" cy="152400"/>
          </a:xfrm>
          <a:prstGeom prst="rect">
            <a:avLst/>
          </a:prstGeom>
          <a:noFill/>
          <a:ln/>
        </p:spPr>
        <p:txBody>
          <a:bodyPr wrap="square" lIns="0" tIns="0" rIns="0" bIns="0" rtlCol="0" anchor="ctr"/>
          <a:lstStyle/>
          <a:p>
            <a:pP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Discovered semantic relationships</a:t>
            </a:r>
            <a:endParaRPr lang="en-US" sz="1600" dirty="0"/>
          </a:p>
        </p:txBody>
      </p:sp>
      <p:sp>
        <p:nvSpPr>
          <p:cNvPr id="67" name="Shape 65"/>
          <p:cNvSpPr/>
          <p:nvPr/>
        </p:nvSpPr>
        <p:spPr>
          <a:xfrm>
            <a:off x="8326041" y="4098371"/>
            <a:ext cx="3286125" cy="609600"/>
          </a:xfrm>
          <a:custGeom>
            <a:avLst/>
            <a:gdLst/>
            <a:ahLst/>
            <a:cxnLst/>
            <a:rect l="l" t="t" r="r" b="b"/>
            <a:pathLst>
              <a:path w="3286125" h="609600">
                <a:moveTo>
                  <a:pt x="114300" y="0"/>
                </a:moveTo>
                <a:lnTo>
                  <a:pt x="3171825" y="0"/>
                </a:lnTo>
                <a:cubicBezTo>
                  <a:pt x="3234909" y="0"/>
                  <a:pt x="3286125" y="51216"/>
                  <a:pt x="3286125" y="114300"/>
                </a:cubicBezTo>
                <a:lnTo>
                  <a:pt x="3286125" y="495300"/>
                </a:lnTo>
                <a:cubicBezTo>
                  <a:pt x="3286125" y="558384"/>
                  <a:pt x="3234909" y="609600"/>
                  <a:pt x="3171825" y="609600"/>
                </a:cubicBezTo>
                <a:lnTo>
                  <a:pt x="114300" y="609600"/>
                </a:lnTo>
                <a:cubicBezTo>
                  <a:pt x="51216" y="609600"/>
                  <a:pt x="0" y="558384"/>
                  <a:pt x="0" y="495300"/>
                </a:cubicBezTo>
                <a:lnTo>
                  <a:pt x="0" y="114300"/>
                </a:lnTo>
                <a:cubicBezTo>
                  <a:pt x="0" y="51216"/>
                  <a:pt x="51216" y="0"/>
                  <a:pt x="114300" y="0"/>
                </a:cubicBezTo>
                <a:close/>
              </a:path>
            </a:pathLst>
          </a:custGeom>
          <a:gradFill flip="none" rotWithShape="1">
            <a:gsLst>
              <a:gs pos="0">
                <a:srgbClr val="0071E3">
                  <a:alpha val="10000"/>
                </a:srgbClr>
              </a:gs>
              <a:gs pos="100000">
                <a:srgbClr val="000000">
                  <a:alpha val="0"/>
                </a:srgbClr>
              </a:gs>
            </a:gsLst>
            <a:lin ang="0" scaled="1"/>
          </a:gradFill>
          <a:ln/>
        </p:spPr>
      </p:sp>
      <p:sp>
        <p:nvSpPr>
          <p:cNvPr id="68" name="Shape 66"/>
          <p:cNvSpPr/>
          <p:nvPr/>
        </p:nvSpPr>
        <p:spPr>
          <a:xfrm>
            <a:off x="8459391" y="4241246"/>
            <a:ext cx="133350" cy="133350"/>
          </a:xfrm>
          <a:custGeom>
            <a:avLst/>
            <a:gdLst/>
            <a:ahLst/>
            <a:cxnLst/>
            <a:rect l="l" t="t" r="r" b="b"/>
            <a:pathLst>
              <a:path w="133350" h="133350">
                <a:moveTo>
                  <a:pt x="31254" y="14585"/>
                </a:moveTo>
                <a:cubicBezTo>
                  <a:pt x="31254" y="6537"/>
                  <a:pt x="37791" y="0"/>
                  <a:pt x="45839" y="0"/>
                </a:cubicBezTo>
                <a:lnTo>
                  <a:pt x="52090" y="0"/>
                </a:lnTo>
                <a:cubicBezTo>
                  <a:pt x="56700" y="0"/>
                  <a:pt x="60424" y="3724"/>
                  <a:pt x="60424" y="8334"/>
                </a:cubicBezTo>
                <a:lnTo>
                  <a:pt x="60424" y="125016"/>
                </a:lnTo>
                <a:cubicBezTo>
                  <a:pt x="60424" y="129626"/>
                  <a:pt x="56700" y="133350"/>
                  <a:pt x="52090" y="133350"/>
                </a:cubicBezTo>
                <a:lnTo>
                  <a:pt x="43755" y="133350"/>
                </a:lnTo>
                <a:cubicBezTo>
                  <a:pt x="35994" y="133350"/>
                  <a:pt x="29457" y="128037"/>
                  <a:pt x="27608" y="120848"/>
                </a:cubicBezTo>
                <a:cubicBezTo>
                  <a:pt x="27425" y="120848"/>
                  <a:pt x="27269" y="120848"/>
                  <a:pt x="27087" y="120848"/>
                </a:cubicBezTo>
                <a:cubicBezTo>
                  <a:pt x="15575" y="120848"/>
                  <a:pt x="6251" y="111524"/>
                  <a:pt x="6251" y="100013"/>
                </a:cubicBezTo>
                <a:cubicBezTo>
                  <a:pt x="6251" y="95324"/>
                  <a:pt x="7813" y="91001"/>
                  <a:pt x="10418" y="87511"/>
                </a:cubicBezTo>
                <a:cubicBezTo>
                  <a:pt x="5365" y="83708"/>
                  <a:pt x="2084" y="77666"/>
                  <a:pt x="2084" y="70842"/>
                </a:cubicBezTo>
                <a:cubicBezTo>
                  <a:pt x="2084" y="62794"/>
                  <a:pt x="6668" y="55788"/>
                  <a:pt x="13335" y="52324"/>
                </a:cubicBezTo>
                <a:cubicBezTo>
                  <a:pt x="11486" y="49199"/>
                  <a:pt x="10418" y="45553"/>
                  <a:pt x="10418" y="41672"/>
                </a:cubicBezTo>
                <a:cubicBezTo>
                  <a:pt x="10418" y="30160"/>
                  <a:pt x="19742" y="20836"/>
                  <a:pt x="31254" y="20836"/>
                </a:cubicBezTo>
                <a:lnTo>
                  <a:pt x="31254" y="14585"/>
                </a:lnTo>
                <a:close/>
                <a:moveTo>
                  <a:pt x="102096" y="14585"/>
                </a:moveTo>
                <a:lnTo>
                  <a:pt x="102096" y="20836"/>
                </a:lnTo>
                <a:cubicBezTo>
                  <a:pt x="113608" y="20836"/>
                  <a:pt x="122932" y="30160"/>
                  <a:pt x="122932" y="41672"/>
                </a:cubicBezTo>
                <a:cubicBezTo>
                  <a:pt x="122932" y="45579"/>
                  <a:pt x="121864" y="49225"/>
                  <a:pt x="120015" y="52324"/>
                </a:cubicBezTo>
                <a:cubicBezTo>
                  <a:pt x="126709" y="55788"/>
                  <a:pt x="131266" y="62768"/>
                  <a:pt x="131266" y="70842"/>
                </a:cubicBezTo>
                <a:cubicBezTo>
                  <a:pt x="131266" y="77666"/>
                  <a:pt x="127985" y="83708"/>
                  <a:pt x="122932" y="87511"/>
                </a:cubicBezTo>
                <a:cubicBezTo>
                  <a:pt x="125537" y="91001"/>
                  <a:pt x="127099" y="95324"/>
                  <a:pt x="127099" y="100013"/>
                </a:cubicBezTo>
                <a:cubicBezTo>
                  <a:pt x="127099" y="111524"/>
                  <a:pt x="117775" y="120848"/>
                  <a:pt x="106263" y="120848"/>
                </a:cubicBezTo>
                <a:cubicBezTo>
                  <a:pt x="106081" y="120848"/>
                  <a:pt x="105925" y="120848"/>
                  <a:pt x="105742" y="120848"/>
                </a:cubicBezTo>
                <a:cubicBezTo>
                  <a:pt x="103893" y="128037"/>
                  <a:pt x="97356" y="133350"/>
                  <a:pt x="89595" y="133350"/>
                </a:cubicBezTo>
                <a:lnTo>
                  <a:pt x="81260" y="133350"/>
                </a:lnTo>
                <a:cubicBezTo>
                  <a:pt x="76650" y="133350"/>
                  <a:pt x="72926" y="129626"/>
                  <a:pt x="72926" y="125016"/>
                </a:cubicBezTo>
                <a:lnTo>
                  <a:pt x="72926" y="8334"/>
                </a:lnTo>
                <a:cubicBezTo>
                  <a:pt x="72926" y="3724"/>
                  <a:pt x="76650" y="0"/>
                  <a:pt x="81260" y="0"/>
                </a:cubicBezTo>
                <a:lnTo>
                  <a:pt x="87511" y="0"/>
                </a:lnTo>
                <a:cubicBezTo>
                  <a:pt x="95559" y="0"/>
                  <a:pt x="102096" y="6537"/>
                  <a:pt x="102096" y="14585"/>
                </a:cubicBezTo>
                <a:close/>
              </a:path>
            </a:pathLst>
          </a:custGeom>
          <a:solidFill>
            <a:srgbClr val="0071E3"/>
          </a:solidFill>
          <a:ln/>
        </p:spPr>
      </p:sp>
      <p:sp>
        <p:nvSpPr>
          <p:cNvPr id="69" name="Text 67"/>
          <p:cNvSpPr/>
          <p:nvPr/>
        </p:nvSpPr>
        <p:spPr>
          <a:xfrm>
            <a:off x="8683228" y="4212671"/>
            <a:ext cx="942975" cy="190500"/>
          </a:xfrm>
          <a:prstGeom prst="rect">
            <a:avLst/>
          </a:prstGeom>
          <a:noFill/>
          <a:ln/>
        </p:spPr>
        <p:txBody>
          <a:bodyPr wrap="square" lIns="0" tIns="0" rIns="0" bIns="0" rtlCol="0" anchor="ctr"/>
          <a:lstStyle/>
          <a:p>
            <a:pPr>
              <a:lnSpc>
                <a:spcPct val="120000"/>
              </a:lnSpc>
            </a:pPr>
            <a:r>
              <a:rPr lang="en-US" sz="1050" b="1" dirty="0">
                <a:solidFill>
                  <a:srgbClr val="1D1D1F"/>
                </a:solidFill>
                <a:latin typeface="Liter" pitchFamily="34" charset="0"/>
                <a:ea typeface="Liter" pitchFamily="34" charset="-122"/>
                <a:cs typeface="Liter" pitchFamily="34" charset="-120"/>
              </a:rPr>
              <a:t>NMF Guidance</a:t>
            </a:r>
            <a:endParaRPr lang="en-US" sz="1600" dirty="0"/>
          </a:p>
        </p:txBody>
      </p:sp>
      <p:sp>
        <p:nvSpPr>
          <p:cNvPr id="70" name="Text 68"/>
          <p:cNvSpPr/>
          <p:nvPr/>
        </p:nvSpPr>
        <p:spPr>
          <a:xfrm>
            <a:off x="8440341" y="4441271"/>
            <a:ext cx="3114675" cy="152400"/>
          </a:xfrm>
          <a:prstGeom prst="rect">
            <a:avLst/>
          </a:prstGeom>
          <a:noFill/>
          <a:ln/>
        </p:spPr>
        <p:txBody>
          <a:bodyPr wrap="square" lIns="0" tIns="0" rIns="0" bIns="0" rtlCol="0" anchor="ctr"/>
          <a:lstStyle/>
          <a:p>
            <a:pP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Informed model parameter selection</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Processing Pipeline</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Data Preprocessing</a:t>
            </a:r>
            <a:endParaRPr lang="en-US" sz="1600" dirty="0"/>
          </a:p>
        </p:txBody>
      </p:sp>
      <p:sp>
        <p:nvSpPr>
          <p:cNvPr id="4" name="Shape 2"/>
          <p:cNvSpPr/>
          <p:nvPr/>
        </p:nvSpPr>
        <p:spPr>
          <a:xfrm>
            <a:off x="384810" y="1337310"/>
            <a:ext cx="11418570" cy="5132070"/>
          </a:xfrm>
          <a:custGeom>
            <a:avLst/>
            <a:gdLst/>
            <a:ahLst/>
            <a:cxnLst/>
            <a:rect l="l" t="t" r="r" b="b"/>
            <a:pathLst>
              <a:path w="11418570" h="5132070">
                <a:moveTo>
                  <a:pt x="228582" y="0"/>
                </a:moveTo>
                <a:lnTo>
                  <a:pt x="11189988" y="0"/>
                </a:lnTo>
                <a:cubicBezTo>
                  <a:pt x="11316230" y="0"/>
                  <a:pt x="11418570" y="102340"/>
                  <a:pt x="11418570" y="228582"/>
                </a:cubicBezTo>
                <a:lnTo>
                  <a:pt x="11418570" y="4903488"/>
                </a:lnTo>
                <a:cubicBezTo>
                  <a:pt x="11418570" y="5029730"/>
                  <a:pt x="11316230" y="5132070"/>
                  <a:pt x="11189988" y="5132070"/>
                </a:cubicBezTo>
                <a:lnTo>
                  <a:pt x="228582" y="5132070"/>
                </a:lnTo>
                <a:cubicBezTo>
                  <a:pt x="102340" y="5132070"/>
                  <a:pt x="0" y="5029730"/>
                  <a:pt x="0" y="4903488"/>
                </a:cubicBezTo>
                <a:lnTo>
                  <a:pt x="0" y="228582"/>
                </a:lnTo>
                <a:cubicBezTo>
                  <a:pt x="0" y="102340"/>
                  <a:pt x="102340" y="0"/>
                  <a:pt x="228582"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4099084" y="1569720"/>
            <a:ext cx="1581150" cy="495300"/>
          </a:xfrm>
          <a:custGeom>
            <a:avLst/>
            <a:gdLst/>
            <a:ahLst/>
            <a:cxnLst/>
            <a:rect l="l" t="t" r="r" b="b"/>
            <a:pathLst>
              <a:path w="1581150" h="495300">
                <a:moveTo>
                  <a:pt x="152399" y="0"/>
                </a:moveTo>
                <a:lnTo>
                  <a:pt x="1428751" y="0"/>
                </a:lnTo>
                <a:cubicBezTo>
                  <a:pt x="1512919" y="0"/>
                  <a:pt x="1581150" y="68231"/>
                  <a:pt x="1581150" y="152399"/>
                </a:cubicBezTo>
                <a:lnTo>
                  <a:pt x="1581150" y="342901"/>
                </a:lnTo>
                <a:cubicBezTo>
                  <a:pt x="1581150" y="427069"/>
                  <a:pt x="1512919" y="495300"/>
                  <a:pt x="1428751" y="495300"/>
                </a:cubicBezTo>
                <a:lnTo>
                  <a:pt x="152399" y="495300"/>
                </a:lnTo>
                <a:cubicBezTo>
                  <a:pt x="68231" y="495300"/>
                  <a:pt x="0" y="427069"/>
                  <a:pt x="0" y="342901"/>
                </a:cubicBezTo>
                <a:lnTo>
                  <a:pt x="0" y="152399"/>
                </a:lnTo>
                <a:cubicBezTo>
                  <a:pt x="0" y="68231"/>
                  <a:pt x="68231" y="0"/>
                  <a:pt x="152399" y="0"/>
                </a:cubicBezTo>
                <a:close/>
              </a:path>
            </a:pathLst>
          </a:custGeom>
          <a:solidFill>
            <a:srgbClr val="1D1D1F"/>
          </a:solidFill>
          <a:ln/>
        </p:spPr>
      </p:sp>
      <p:sp>
        <p:nvSpPr>
          <p:cNvPr id="6" name="Text 4"/>
          <p:cNvSpPr/>
          <p:nvPr/>
        </p:nvSpPr>
        <p:spPr>
          <a:xfrm>
            <a:off x="4099084" y="1569720"/>
            <a:ext cx="1666875" cy="495300"/>
          </a:xfrm>
          <a:prstGeom prst="rect">
            <a:avLst/>
          </a:prstGeom>
          <a:noFill/>
          <a:ln/>
        </p:spPr>
        <p:txBody>
          <a:bodyPr wrap="square" lIns="228600" tIns="114300" rIns="228600" bIns="114300" rtlCol="0" anchor="ctr"/>
          <a:lstStyle/>
          <a:p>
            <a:pPr>
              <a:lnSpc>
                <a:spcPct val="130000"/>
              </a:lnSpc>
            </a:pPr>
            <a:r>
              <a:rPr lang="en-US" sz="1350" dirty="0">
                <a:solidFill>
                  <a:srgbClr val="FFFFFF"/>
                </a:solidFill>
                <a:latin typeface="Liter" pitchFamily="34" charset="0"/>
                <a:ea typeface="Liter" pitchFamily="34" charset="-122"/>
                <a:cs typeface="Liter" pitchFamily="34" charset="-120"/>
              </a:rPr>
              <a:t>Raw Text Input</a:t>
            </a:r>
            <a:endParaRPr lang="en-US" sz="1600" dirty="0"/>
          </a:p>
        </p:txBody>
      </p:sp>
      <p:sp>
        <p:nvSpPr>
          <p:cNvPr id="7" name="Shape 5"/>
          <p:cNvSpPr/>
          <p:nvPr/>
        </p:nvSpPr>
        <p:spPr>
          <a:xfrm>
            <a:off x="5858113" y="170307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0071E3"/>
          </a:solidFill>
          <a:ln/>
        </p:spPr>
      </p:sp>
      <p:sp>
        <p:nvSpPr>
          <p:cNvPr id="8" name="Shape 6"/>
          <p:cNvSpPr/>
          <p:nvPr/>
        </p:nvSpPr>
        <p:spPr>
          <a:xfrm>
            <a:off x="6267688" y="1569720"/>
            <a:ext cx="1828800" cy="495300"/>
          </a:xfrm>
          <a:custGeom>
            <a:avLst/>
            <a:gdLst/>
            <a:ahLst/>
            <a:cxnLst/>
            <a:rect l="l" t="t" r="r" b="b"/>
            <a:pathLst>
              <a:path w="1828800" h="495300">
                <a:moveTo>
                  <a:pt x="152399" y="0"/>
                </a:moveTo>
                <a:lnTo>
                  <a:pt x="1676401" y="0"/>
                </a:lnTo>
                <a:cubicBezTo>
                  <a:pt x="1760569" y="0"/>
                  <a:pt x="1828800" y="68231"/>
                  <a:pt x="1828800" y="152399"/>
                </a:cubicBezTo>
                <a:lnTo>
                  <a:pt x="1828800" y="342901"/>
                </a:lnTo>
                <a:cubicBezTo>
                  <a:pt x="1828800" y="427069"/>
                  <a:pt x="1760569" y="495300"/>
                  <a:pt x="1676401" y="495300"/>
                </a:cubicBezTo>
                <a:lnTo>
                  <a:pt x="152399" y="495300"/>
                </a:lnTo>
                <a:cubicBezTo>
                  <a:pt x="68231" y="495300"/>
                  <a:pt x="0" y="427069"/>
                  <a:pt x="0" y="342901"/>
                </a:cubicBezTo>
                <a:lnTo>
                  <a:pt x="0" y="152399"/>
                </a:lnTo>
                <a:cubicBezTo>
                  <a:pt x="0" y="68231"/>
                  <a:pt x="68231" y="0"/>
                  <a:pt x="152399" y="0"/>
                </a:cubicBezTo>
                <a:close/>
              </a:path>
            </a:pathLst>
          </a:custGeom>
          <a:solidFill>
            <a:srgbClr val="0071E3"/>
          </a:solidFill>
          <a:ln/>
        </p:spPr>
      </p:sp>
      <p:sp>
        <p:nvSpPr>
          <p:cNvPr id="9" name="Text 7"/>
          <p:cNvSpPr/>
          <p:nvPr/>
        </p:nvSpPr>
        <p:spPr>
          <a:xfrm>
            <a:off x="6267688" y="1569720"/>
            <a:ext cx="1914525" cy="495300"/>
          </a:xfrm>
          <a:prstGeom prst="rect">
            <a:avLst/>
          </a:prstGeom>
          <a:noFill/>
          <a:ln/>
        </p:spPr>
        <p:txBody>
          <a:bodyPr wrap="square" lIns="228600" tIns="114300" rIns="228600" bIns="114300" rtlCol="0" anchor="ctr"/>
          <a:lstStyle/>
          <a:p>
            <a:pPr>
              <a:lnSpc>
                <a:spcPct val="130000"/>
              </a:lnSpc>
            </a:pPr>
            <a:r>
              <a:rPr lang="en-US" sz="1350" dirty="0">
                <a:solidFill>
                  <a:srgbClr val="FFFFFF"/>
                </a:solidFill>
                <a:latin typeface="Liter" pitchFamily="34" charset="0"/>
                <a:ea typeface="Liter" pitchFamily="34" charset="-122"/>
                <a:cs typeface="Liter" pitchFamily="34" charset="-120"/>
              </a:rPr>
              <a:t>Clean Text Output</a:t>
            </a:r>
            <a:endParaRPr lang="en-US" sz="1600" dirty="0"/>
          </a:p>
        </p:txBody>
      </p:sp>
      <p:sp>
        <p:nvSpPr>
          <p:cNvPr id="10" name="Shape 8"/>
          <p:cNvSpPr/>
          <p:nvPr/>
        </p:nvSpPr>
        <p:spPr>
          <a:xfrm>
            <a:off x="617220" y="2312673"/>
            <a:ext cx="2066925" cy="2838450"/>
          </a:xfrm>
          <a:custGeom>
            <a:avLst/>
            <a:gdLst/>
            <a:ahLst/>
            <a:cxnLst/>
            <a:rect l="l" t="t" r="r" b="b"/>
            <a:pathLst>
              <a:path w="2066925" h="2838450">
                <a:moveTo>
                  <a:pt x="38100" y="0"/>
                </a:moveTo>
                <a:lnTo>
                  <a:pt x="2028825" y="0"/>
                </a:lnTo>
                <a:cubicBezTo>
                  <a:pt x="2049853" y="0"/>
                  <a:pt x="2066925" y="17072"/>
                  <a:pt x="2066925" y="38100"/>
                </a:cubicBezTo>
                <a:lnTo>
                  <a:pt x="2066925" y="2686056"/>
                </a:lnTo>
                <a:cubicBezTo>
                  <a:pt x="2066925" y="2770221"/>
                  <a:pt x="1998696" y="2838450"/>
                  <a:pt x="1914531" y="2838450"/>
                </a:cubicBezTo>
                <a:lnTo>
                  <a:pt x="152394" y="2838450"/>
                </a:lnTo>
                <a:cubicBezTo>
                  <a:pt x="68229" y="2838450"/>
                  <a:pt x="0" y="2770221"/>
                  <a:pt x="0" y="2686056"/>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11" name="Shape 9"/>
          <p:cNvSpPr/>
          <p:nvPr/>
        </p:nvSpPr>
        <p:spPr>
          <a:xfrm>
            <a:off x="617220" y="2312673"/>
            <a:ext cx="2066925" cy="38100"/>
          </a:xfrm>
          <a:custGeom>
            <a:avLst/>
            <a:gdLst/>
            <a:ahLst/>
            <a:cxnLst/>
            <a:rect l="l" t="t" r="r" b="b"/>
            <a:pathLst>
              <a:path w="2066925" h="38100">
                <a:moveTo>
                  <a:pt x="38100" y="0"/>
                </a:moveTo>
                <a:lnTo>
                  <a:pt x="2028825" y="0"/>
                </a:lnTo>
                <a:cubicBezTo>
                  <a:pt x="2049853" y="0"/>
                  <a:pt x="2066925" y="17072"/>
                  <a:pt x="2066925" y="38100"/>
                </a:cubicBezTo>
                <a:lnTo>
                  <a:pt x="2066925" y="38100"/>
                </a:lnTo>
                <a:lnTo>
                  <a:pt x="0" y="38100"/>
                </a:lnTo>
                <a:lnTo>
                  <a:pt x="0" y="38100"/>
                </a:lnTo>
                <a:cubicBezTo>
                  <a:pt x="0" y="17072"/>
                  <a:pt x="17072" y="0"/>
                  <a:pt x="38100" y="0"/>
                </a:cubicBezTo>
                <a:close/>
              </a:path>
            </a:pathLst>
          </a:custGeom>
          <a:solidFill>
            <a:srgbClr val="0071E3"/>
          </a:solidFill>
          <a:ln/>
        </p:spPr>
      </p:sp>
      <p:sp>
        <p:nvSpPr>
          <p:cNvPr id="12" name="Shape 10"/>
          <p:cNvSpPr/>
          <p:nvPr/>
        </p:nvSpPr>
        <p:spPr>
          <a:xfrm>
            <a:off x="769620" y="24841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13" name="Text 11"/>
          <p:cNvSpPr/>
          <p:nvPr/>
        </p:nvSpPr>
        <p:spPr>
          <a:xfrm>
            <a:off x="731520" y="2484123"/>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1</a:t>
            </a:r>
            <a:endParaRPr lang="en-US" sz="1600" dirty="0"/>
          </a:p>
        </p:txBody>
      </p:sp>
      <p:sp>
        <p:nvSpPr>
          <p:cNvPr id="14" name="Text 12"/>
          <p:cNvSpPr/>
          <p:nvPr/>
        </p:nvSpPr>
        <p:spPr>
          <a:xfrm>
            <a:off x="1226820" y="2560323"/>
            <a:ext cx="10763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Noise Removal</a:t>
            </a:r>
            <a:endParaRPr lang="en-US" sz="1600" dirty="0"/>
          </a:p>
        </p:txBody>
      </p:sp>
      <p:sp>
        <p:nvSpPr>
          <p:cNvPr id="15" name="Shape 13"/>
          <p:cNvSpPr/>
          <p:nvPr/>
        </p:nvSpPr>
        <p:spPr>
          <a:xfrm>
            <a:off x="769620" y="29794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16" name="Shape 14"/>
          <p:cNvSpPr/>
          <p:nvPr/>
        </p:nvSpPr>
        <p:spPr>
          <a:xfrm>
            <a:off x="856536" y="3084198"/>
            <a:ext cx="150019" cy="133350"/>
          </a:xfrm>
          <a:custGeom>
            <a:avLst/>
            <a:gdLst/>
            <a:ahLst/>
            <a:cxnLst/>
            <a:rect l="l" t="t" r="r" b="b"/>
            <a:pathLst>
              <a:path w="150019" h="133350">
                <a:moveTo>
                  <a:pt x="109258" y="25003"/>
                </a:moveTo>
                <a:cubicBezTo>
                  <a:pt x="104935" y="25003"/>
                  <a:pt x="100742" y="26175"/>
                  <a:pt x="97069" y="28311"/>
                </a:cubicBezTo>
                <a:cubicBezTo>
                  <a:pt x="92954" y="24144"/>
                  <a:pt x="88162" y="20654"/>
                  <a:pt x="82875" y="18023"/>
                </a:cubicBezTo>
                <a:cubicBezTo>
                  <a:pt x="90220" y="11772"/>
                  <a:pt x="99570" y="8334"/>
                  <a:pt x="109258" y="8334"/>
                </a:cubicBezTo>
                <a:cubicBezTo>
                  <a:pt x="131761" y="8334"/>
                  <a:pt x="150019" y="26566"/>
                  <a:pt x="150019" y="49095"/>
                </a:cubicBezTo>
                <a:cubicBezTo>
                  <a:pt x="150019" y="59903"/>
                  <a:pt x="145721" y="70269"/>
                  <a:pt x="138090" y="77900"/>
                </a:cubicBezTo>
                <a:lnTo>
                  <a:pt x="119572" y="96418"/>
                </a:lnTo>
                <a:cubicBezTo>
                  <a:pt x="111941" y="104049"/>
                  <a:pt x="101575" y="108347"/>
                  <a:pt x="90767" y="108347"/>
                </a:cubicBezTo>
                <a:cubicBezTo>
                  <a:pt x="68264" y="108347"/>
                  <a:pt x="50006" y="90115"/>
                  <a:pt x="50006" y="67587"/>
                </a:cubicBezTo>
                <a:cubicBezTo>
                  <a:pt x="50006" y="67196"/>
                  <a:pt x="50006" y="66805"/>
                  <a:pt x="50032" y="66415"/>
                </a:cubicBezTo>
                <a:cubicBezTo>
                  <a:pt x="50163" y="61805"/>
                  <a:pt x="53991" y="58184"/>
                  <a:pt x="58601" y="58315"/>
                </a:cubicBezTo>
                <a:cubicBezTo>
                  <a:pt x="63211" y="58445"/>
                  <a:pt x="66831" y="62273"/>
                  <a:pt x="66701" y="66883"/>
                </a:cubicBezTo>
                <a:cubicBezTo>
                  <a:pt x="66701" y="67118"/>
                  <a:pt x="66701" y="67352"/>
                  <a:pt x="66701" y="67561"/>
                </a:cubicBezTo>
                <a:cubicBezTo>
                  <a:pt x="66701" y="80869"/>
                  <a:pt x="77484" y="91652"/>
                  <a:pt x="90793" y="91652"/>
                </a:cubicBezTo>
                <a:cubicBezTo>
                  <a:pt x="97174" y="91652"/>
                  <a:pt x="103294" y="89126"/>
                  <a:pt x="107826" y="84594"/>
                </a:cubicBezTo>
                <a:lnTo>
                  <a:pt x="126344" y="66076"/>
                </a:lnTo>
                <a:cubicBezTo>
                  <a:pt x="130850" y="61570"/>
                  <a:pt x="133402" y="55424"/>
                  <a:pt x="133402" y="49043"/>
                </a:cubicBezTo>
                <a:cubicBezTo>
                  <a:pt x="133402" y="35734"/>
                  <a:pt x="122619" y="24951"/>
                  <a:pt x="109311" y="24951"/>
                </a:cubicBezTo>
                <a:close/>
                <a:moveTo>
                  <a:pt x="71676" y="45136"/>
                </a:moveTo>
                <a:cubicBezTo>
                  <a:pt x="71181" y="44927"/>
                  <a:pt x="70686" y="44641"/>
                  <a:pt x="70243" y="44328"/>
                </a:cubicBezTo>
                <a:cubicBezTo>
                  <a:pt x="66961" y="42636"/>
                  <a:pt x="63211" y="41672"/>
                  <a:pt x="59278" y="41672"/>
                </a:cubicBezTo>
                <a:cubicBezTo>
                  <a:pt x="52897" y="41672"/>
                  <a:pt x="46777" y="44198"/>
                  <a:pt x="42245" y="48730"/>
                </a:cubicBezTo>
                <a:lnTo>
                  <a:pt x="23727" y="67248"/>
                </a:lnTo>
                <a:cubicBezTo>
                  <a:pt x="19221" y="71754"/>
                  <a:pt x="16669" y="77900"/>
                  <a:pt x="16669" y="84281"/>
                </a:cubicBezTo>
                <a:cubicBezTo>
                  <a:pt x="16669" y="97590"/>
                  <a:pt x="27451" y="108373"/>
                  <a:pt x="40760" y="108373"/>
                </a:cubicBezTo>
                <a:cubicBezTo>
                  <a:pt x="45058" y="108373"/>
                  <a:pt x="49251" y="107227"/>
                  <a:pt x="52923" y="105091"/>
                </a:cubicBezTo>
                <a:cubicBezTo>
                  <a:pt x="57038" y="109258"/>
                  <a:pt x="61831" y="112748"/>
                  <a:pt x="67144" y="115379"/>
                </a:cubicBezTo>
                <a:cubicBezTo>
                  <a:pt x="59799" y="121604"/>
                  <a:pt x="50475" y="125068"/>
                  <a:pt x="40760" y="125068"/>
                </a:cubicBezTo>
                <a:cubicBezTo>
                  <a:pt x="18257" y="125068"/>
                  <a:pt x="0" y="106836"/>
                  <a:pt x="0" y="84307"/>
                </a:cubicBezTo>
                <a:cubicBezTo>
                  <a:pt x="0" y="73499"/>
                  <a:pt x="4297" y="63133"/>
                  <a:pt x="11929" y="55502"/>
                </a:cubicBezTo>
                <a:lnTo>
                  <a:pt x="30447" y="36984"/>
                </a:lnTo>
                <a:cubicBezTo>
                  <a:pt x="38078" y="29353"/>
                  <a:pt x="48444" y="25055"/>
                  <a:pt x="59252" y="25055"/>
                </a:cubicBezTo>
                <a:cubicBezTo>
                  <a:pt x="81807" y="25055"/>
                  <a:pt x="100013" y="43443"/>
                  <a:pt x="100013" y="65920"/>
                </a:cubicBezTo>
                <a:cubicBezTo>
                  <a:pt x="100013" y="66258"/>
                  <a:pt x="100013" y="66597"/>
                  <a:pt x="100013" y="66935"/>
                </a:cubicBezTo>
                <a:cubicBezTo>
                  <a:pt x="99908" y="71545"/>
                  <a:pt x="96080" y="75166"/>
                  <a:pt x="91470" y="75061"/>
                </a:cubicBezTo>
                <a:cubicBezTo>
                  <a:pt x="86860" y="74957"/>
                  <a:pt x="83240" y="71129"/>
                  <a:pt x="83344" y="66519"/>
                </a:cubicBezTo>
                <a:cubicBezTo>
                  <a:pt x="83344" y="66310"/>
                  <a:pt x="83344" y="66128"/>
                  <a:pt x="83344" y="65920"/>
                </a:cubicBezTo>
                <a:cubicBezTo>
                  <a:pt x="83344" y="57143"/>
                  <a:pt x="78656" y="49433"/>
                  <a:pt x="71676" y="45188"/>
                </a:cubicBezTo>
                <a:close/>
              </a:path>
            </a:pathLst>
          </a:custGeom>
          <a:solidFill>
            <a:srgbClr val="86868B"/>
          </a:solidFill>
          <a:ln/>
        </p:spPr>
      </p:sp>
      <p:sp>
        <p:nvSpPr>
          <p:cNvPr id="17" name="Text 15"/>
          <p:cNvSpPr/>
          <p:nvPr/>
        </p:nvSpPr>
        <p:spPr>
          <a:xfrm>
            <a:off x="1088708" y="3055623"/>
            <a:ext cx="3619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URLs</a:t>
            </a:r>
            <a:endParaRPr lang="en-US" sz="1600" dirty="0"/>
          </a:p>
        </p:txBody>
      </p:sp>
      <p:sp>
        <p:nvSpPr>
          <p:cNvPr id="18" name="Shape 16"/>
          <p:cNvSpPr/>
          <p:nvPr/>
        </p:nvSpPr>
        <p:spPr>
          <a:xfrm>
            <a:off x="769620" y="33985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19" name="Shape 17"/>
          <p:cNvSpPr/>
          <p:nvPr/>
        </p:nvSpPr>
        <p:spPr>
          <a:xfrm>
            <a:off x="864870" y="3503298"/>
            <a:ext cx="133350" cy="133350"/>
          </a:xfrm>
          <a:custGeom>
            <a:avLst/>
            <a:gdLst/>
            <a:ahLst/>
            <a:cxnLst/>
            <a:rect l="l" t="t" r="r" b="b"/>
            <a:pathLst>
              <a:path w="133350" h="133350">
                <a:moveTo>
                  <a:pt x="12502" y="16669"/>
                </a:moveTo>
                <a:cubicBezTo>
                  <a:pt x="5600" y="16669"/>
                  <a:pt x="0" y="22268"/>
                  <a:pt x="0" y="29170"/>
                </a:cubicBezTo>
                <a:cubicBezTo>
                  <a:pt x="0" y="33103"/>
                  <a:pt x="1849" y="36801"/>
                  <a:pt x="5001" y="39172"/>
                </a:cubicBezTo>
                <a:lnTo>
                  <a:pt x="59174" y="79802"/>
                </a:lnTo>
                <a:cubicBezTo>
                  <a:pt x="63628" y="83135"/>
                  <a:pt x="69722" y="83135"/>
                  <a:pt x="74176" y="79802"/>
                </a:cubicBezTo>
                <a:lnTo>
                  <a:pt x="128349" y="39172"/>
                </a:lnTo>
                <a:cubicBezTo>
                  <a:pt x="131501" y="36801"/>
                  <a:pt x="133350" y="33103"/>
                  <a:pt x="133350" y="29170"/>
                </a:cubicBezTo>
                <a:cubicBezTo>
                  <a:pt x="133350" y="22268"/>
                  <a:pt x="127750" y="16669"/>
                  <a:pt x="120848" y="16669"/>
                </a:cubicBezTo>
                <a:lnTo>
                  <a:pt x="12502" y="16669"/>
                </a:lnTo>
                <a:close/>
                <a:moveTo>
                  <a:pt x="0" y="51048"/>
                </a:moveTo>
                <a:lnTo>
                  <a:pt x="0" y="100013"/>
                </a:lnTo>
                <a:cubicBezTo>
                  <a:pt x="0" y="109206"/>
                  <a:pt x="7475" y="116681"/>
                  <a:pt x="16669" y="116681"/>
                </a:cubicBezTo>
                <a:lnTo>
                  <a:pt x="116681" y="116681"/>
                </a:lnTo>
                <a:cubicBezTo>
                  <a:pt x="125875" y="116681"/>
                  <a:pt x="133350" y="109206"/>
                  <a:pt x="133350" y="100013"/>
                </a:cubicBezTo>
                <a:lnTo>
                  <a:pt x="133350" y="51048"/>
                </a:lnTo>
                <a:lnTo>
                  <a:pt x="81677" y="89803"/>
                </a:lnTo>
                <a:cubicBezTo>
                  <a:pt x="72796" y="96470"/>
                  <a:pt x="60554" y="96470"/>
                  <a:pt x="51673" y="89803"/>
                </a:cubicBezTo>
                <a:lnTo>
                  <a:pt x="0" y="51048"/>
                </a:lnTo>
                <a:close/>
              </a:path>
            </a:pathLst>
          </a:custGeom>
          <a:solidFill>
            <a:srgbClr val="86868B"/>
          </a:solidFill>
          <a:ln/>
        </p:spPr>
      </p:sp>
      <p:sp>
        <p:nvSpPr>
          <p:cNvPr id="20" name="Text 18"/>
          <p:cNvSpPr/>
          <p:nvPr/>
        </p:nvSpPr>
        <p:spPr>
          <a:xfrm>
            <a:off x="1088708" y="3474723"/>
            <a:ext cx="10096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Email Addresses</a:t>
            </a:r>
            <a:endParaRPr lang="en-US" sz="1600" dirty="0"/>
          </a:p>
        </p:txBody>
      </p:sp>
      <p:sp>
        <p:nvSpPr>
          <p:cNvPr id="21" name="Shape 19"/>
          <p:cNvSpPr/>
          <p:nvPr/>
        </p:nvSpPr>
        <p:spPr>
          <a:xfrm>
            <a:off x="769620" y="38176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22" name="Shape 20"/>
          <p:cNvSpPr/>
          <p:nvPr/>
        </p:nvSpPr>
        <p:spPr>
          <a:xfrm>
            <a:off x="864870" y="3922398"/>
            <a:ext cx="133350" cy="133350"/>
          </a:xfrm>
          <a:custGeom>
            <a:avLst/>
            <a:gdLst/>
            <a:ahLst/>
            <a:cxnLst/>
            <a:rect l="l" t="t" r="r" b="b"/>
            <a:pathLst>
              <a:path w="133350" h="133350">
                <a:moveTo>
                  <a:pt x="55918" y="182"/>
                </a:moveTo>
                <a:cubicBezTo>
                  <a:pt x="60424" y="1146"/>
                  <a:pt x="63289" y="5574"/>
                  <a:pt x="62325" y="10079"/>
                </a:cubicBezTo>
                <a:lnTo>
                  <a:pt x="57351" y="33337"/>
                </a:lnTo>
                <a:lnTo>
                  <a:pt x="90298" y="33337"/>
                </a:lnTo>
                <a:lnTo>
                  <a:pt x="96028" y="6589"/>
                </a:lnTo>
                <a:cubicBezTo>
                  <a:pt x="96991" y="2084"/>
                  <a:pt x="101419" y="-781"/>
                  <a:pt x="105925" y="182"/>
                </a:cubicBezTo>
                <a:cubicBezTo>
                  <a:pt x="110430" y="1146"/>
                  <a:pt x="113295" y="5574"/>
                  <a:pt x="112332" y="10079"/>
                </a:cubicBezTo>
                <a:lnTo>
                  <a:pt x="107357" y="33337"/>
                </a:lnTo>
                <a:lnTo>
                  <a:pt x="125016" y="33337"/>
                </a:lnTo>
                <a:cubicBezTo>
                  <a:pt x="129626" y="33337"/>
                  <a:pt x="133350" y="37062"/>
                  <a:pt x="133350" y="41672"/>
                </a:cubicBezTo>
                <a:cubicBezTo>
                  <a:pt x="133350" y="46282"/>
                  <a:pt x="129626" y="50006"/>
                  <a:pt x="125016" y="50006"/>
                </a:cubicBezTo>
                <a:lnTo>
                  <a:pt x="103763" y="50006"/>
                </a:lnTo>
                <a:lnTo>
                  <a:pt x="96627" y="83344"/>
                </a:lnTo>
                <a:lnTo>
                  <a:pt x="114285" y="83344"/>
                </a:lnTo>
                <a:cubicBezTo>
                  <a:pt x="118895" y="83344"/>
                  <a:pt x="122619" y="87068"/>
                  <a:pt x="122619" y="91678"/>
                </a:cubicBezTo>
                <a:cubicBezTo>
                  <a:pt x="122619" y="96288"/>
                  <a:pt x="118895" y="100013"/>
                  <a:pt x="114285" y="100013"/>
                </a:cubicBezTo>
                <a:lnTo>
                  <a:pt x="93032" y="100013"/>
                </a:lnTo>
                <a:lnTo>
                  <a:pt x="87303" y="126761"/>
                </a:lnTo>
                <a:cubicBezTo>
                  <a:pt x="86339" y="131266"/>
                  <a:pt x="81911" y="134131"/>
                  <a:pt x="77406" y="133168"/>
                </a:cubicBezTo>
                <a:cubicBezTo>
                  <a:pt x="72900" y="132204"/>
                  <a:pt x="70035" y="127776"/>
                  <a:pt x="70998" y="123271"/>
                </a:cubicBezTo>
                <a:lnTo>
                  <a:pt x="75973" y="100013"/>
                </a:lnTo>
                <a:lnTo>
                  <a:pt x="43026" y="100013"/>
                </a:lnTo>
                <a:lnTo>
                  <a:pt x="37296" y="126761"/>
                </a:lnTo>
                <a:cubicBezTo>
                  <a:pt x="36333" y="131266"/>
                  <a:pt x="31905" y="134131"/>
                  <a:pt x="27399" y="133168"/>
                </a:cubicBezTo>
                <a:cubicBezTo>
                  <a:pt x="22893" y="132204"/>
                  <a:pt x="20029" y="127776"/>
                  <a:pt x="20992" y="123271"/>
                </a:cubicBezTo>
                <a:lnTo>
                  <a:pt x="25993" y="100013"/>
                </a:lnTo>
                <a:lnTo>
                  <a:pt x="8334" y="100013"/>
                </a:lnTo>
                <a:cubicBezTo>
                  <a:pt x="3724" y="100013"/>
                  <a:pt x="0" y="96288"/>
                  <a:pt x="0" y="91678"/>
                </a:cubicBezTo>
                <a:cubicBezTo>
                  <a:pt x="0" y="87068"/>
                  <a:pt x="3724" y="83344"/>
                  <a:pt x="8334" y="83344"/>
                </a:cubicBezTo>
                <a:lnTo>
                  <a:pt x="29587" y="83344"/>
                </a:lnTo>
                <a:lnTo>
                  <a:pt x="36723" y="50006"/>
                </a:lnTo>
                <a:lnTo>
                  <a:pt x="19065" y="50006"/>
                </a:lnTo>
                <a:cubicBezTo>
                  <a:pt x="14455" y="50006"/>
                  <a:pt x="10731" y="46282"/>
                  <a:pt x="10731" y="41672"/>
                </a:cubicBezTo>
                <a:cubicBezTo>
                  <a:pt x="10731" y="37062"/>
                  <a:pt x="14455" y="33337"/>
                  <a:pt x="19065" y="33337"/>
                </a:cubicBezTo>
                <a:lnTo>
                  <a:pt x="40318" y="33337"/>
                </a:lnTo>
                <a:lnTo>
                  <a:pt x="46047" y="6589"/>
                </a:lnTo>
                <a:cubicBezTo>
                  <a:pt x="46985" y="2084"/>
                  <a:pt x="51413" y="-781"/>
                  <a:pt x="55918" y="182"/>
                </a:cubicBezTo>
                <a:close/>
                <a:moveTo>
                  <a:pt x="53757" y="50006"/>
                </a:moveTo>
                <a:lnTo>
                  <a:pt x="46620" y="83344"/>
                </a:lnTo>
                <a:lnTo>
                  <a:pt x="79567" y="83344"/>
                </a:lnTo>
                <a:lnTo>
                  <a:pt x="86704" y="50006"/>
                </a:lnTo>
                <a:lnTo>
                  <a:pt x="53757" y="50006"/>
                </a:lnTo>
                <a:close/>
              </a:path>
            </a:pathLst>
          </a:custGeom>
          <a:solidFill>
            <a:srgbClr val="86868B"/>
          </a:solidFill>
          <a:ln/>
        </p:spPr>
      </p:sp>
      <p:sp>
        <p:nvSpPr>
          <p:cNvPr id="23" name="Text 21"/>
          <p:cNvSpPr/>
          <p:nvPr/>
        </p:nvSpPr>
        <p:spPr>
          <a:xfrm>
            <a:off x="1088708" y="3893823"/>
            <a:ext cx="5905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Hashtags</a:t>
            </a:r>
            <a:endParaRPr lang="en-US" sz="1600" dirty="0"/>
          </a:p>
        </p:txBody>
      </p:sp>
      <p:sp>
        <p:nvSpPr>
          <p:cNvPr id="24" name="Shape 22"/>
          <p:cNvSpPr/>
          <p:nvPr/>
        </p:nvSpPr>
        <p:spPr>
          <a:xfrm>
            <a:off x="769620" y="42367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25" name="Shape 23"/>
          <p:cNvSpPr/>
          <p:nvPr/>
        </p:nvSpPr>
        <p:spPr>
          <a:xfrm>
            <a:off x="914876" y="4341498"/>
            <a:ext cx="33338" cy="133350"/>
          </a:xfrm>
          <a:custGeom>
            <a:avLst/>
            <a:gdLst/>
            <a:ahLst/>
            <a:cxnLst/>
            <a:rect l="l" t="t" r="r" b="b"/>
            <a:pathLst>
              <a:path w="33338" h="133350">
                <a:moveTo>
                  <a:pt x="25003" y="8334"/>
                </a:moveTo>
                <a:cubicBezTo>
                  <a:pt x="25003" y="3724"/>
                  <a:pt x="21279" y="0"/>
                  <a:pt x="16669" y="0"/>
                </a:cubicBezTo>
                <a:cubicBezTo>
                  <a:pt x="12059" y="0"/>
                  <a:pt x="8334" y="3724"/>
                  <a:pt x="8334" y="8334"/>
                </a:cubicBezTo>
                <a:lnTo>
                  <a:pt x="8334" y="91678"/>
                </a:lnTo>
                <a:cubicBezTo>
                  <a:pt x="8334" y="96288"/>
                  <a:pt x="12059" y="100013"/>
                  <a:pt x="16669" y="100013"/>
                </a:cubicBezTo>
                <a:cubicBezTo>
                  <a:pt x="21279" y="100013"/>
                  <a:pt x="25003" y="96288"/>
                  <a:pt x="25003" y="91678"/>
                </a:cubicBezTo>
                <a:lnTo>
                  <a:pt x="25003" y="8334"/>
                </a:lnTo>
                <a:close/>
                <a:moveTo>
                  <a:pt x="16669" y="133350"/>
                </a:moveTo>
                <a:cubicBezTo>
                  <a:pt x="22425" y="133350"/>
                  <a:pt x="27087" y="128688"/>
                  <a:pt x="27087" y="122932"/>
                </a:cubicBezTo>
                <a:cubicBezTo>
                  <a:pt x="27087" y="117176"/>
                  <a:pt x="22425" y="112514"/>
                  <a:pt x="16669" y="112514"/>
                </a:cubicBezTo>
                <a:cubicBezTo>
                  <a:pt x="10913" y="112514"/>
                  <a:pt x="6251" y="117176"/>
                  <a:pt x="6251" y="122932"/>
                </a:cubicBezTo>
                <a:cubicBezTo>
                  <a:pt x="6251" y="128688"/>
                  <a:pt x="10913" y="133350"/>
                  <a:pt x="16669" y="133350"/>
                </a:cubicBezTo>
                <a:close/>
              </a:path>
            </a:pathLst>
          </a:custGeom>
          <a:solidFill>
            <a:srgbClr val="86868B"/>
          </a:solidFill>
          <a:ln/>
        </p:spPr>
      </p:sp>
      <p:sp>
        <p:nvSpPr>
          <p:cNvPr id="26" name="Text 24"/>
          <p:cNvSpPr/>
          <p:nvPr/>
        </p:nvSpPr>
        <p:spPr>
          <a:xfrm>
            <a:off x="1088708" y="4312923"/>
            <a:ext cx="11334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Special Characters</a:t>
            </a:r>
            <a:endParaRPr lang="en-US" sz="1600" dirty="0"/>
          </a:p>
        </p:txBody>
      </p:sp>
      <p:sp>
        <p:nvSpPr>
          <p:cNvPr id="27" name="Shape 25"/>
          <p:cNvSpPr/>
          <p:nvPr/>
        </p:nvSpPr>
        <p:spPr>
          <a:xfrm>
            <a:off x="769620" y="46558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28" name="Shape 26"/>
          <p:cNvSpPr/>
          <p:nvPr/>
        </p:nvSpPr>
        <p:spPr>
          <a:xfrm>
            <a:off x="889873" y="4760598"/>
            <a:ext cx="83344" cy="133350"/>
          </a:xfrm>
          <a:custGeom>
            <a:avLst/>
            <a:gdLst/>
            <a:ahLst/>
            <a:cxnLst/>
            <a:rect l="l" t="t" r="r" b="b"/>
            <a:pathLst>
              <a:path w="83344" h="133350">
                <a:moveTo>
                  <a:pt x="16669" y="41672"/>
                </a:moveTo>
                <a:cubicBezTo>
                  <a:pt x="16669" y="27868"/>
                  <a:pt x="27868" y="16669"/>
                  <a:pt x="41672" y="16669"/>
                </a:cubicBezTo>
                <a:cubicBezTo>
                  <a:pt x="55476" y="16669"/>
                  <a:pt x="66675" y="27868"/>
                  <a:pt x="66675" y="41672"/>
                </a:cubicBezTo>
                <a:cubicBezTo>
                  <a:pt x="66675" y="52793"/>
                  <a:pt x="59408" y="62221"/>
                  <a:pt x="49355" y="65477"/>
                </a:cubicBezTo>
                <a:cubicBezTo>
                  <a:pt x="41958" y="67873"/>
                  <a:pt x="33337" y="74671"/>
                  <a:pt x="33337" y="85427"/>
                </a:cubicBezTo>
                <a:lnTo>
                  <a:pt x="33337" y="91678"/>
                </a:lnTo>
                <a:cubicBezTo>
                  <a:pt x="33337" y="96288"/>
                  <a:pt x="37062" y="100013"/>
                  <a:pt x="41672" y="100013"/>
                </a:cubicBezTo>
                <a:cubicBezTo>
                  <a:pt x="46282" y="100013"/>
                  <a:pt x="50006" y="96288"/>
                  <a:pt x="50006" y="91678"/>
                </a:cubicBezTo>
                <a:lnTo>
                  <a:pt x="50006" y="85427"/>
                </a:lnTo>
                <a:cubicBezTo>
                  <a:pt x="50006" y="84985"/>
                  <a:pt x="50163" y="84360"/>
                  <a:pt x="50918" y="83526"/>
                </a:cubicBezTo>
                <a:cubicBezTo>
                  <a:pt x="51699" y="82667"/>
                  <a:pt x="52975" y="81833"/>
                  <a:pt x="54486" y="81338"/>
                </a:cubicBezTo>
                <a:cubicBezTo>
                  <a:pt x="71233" y="75947"/>
                  <a:pt x="83344" y="60242"/>
                  <a:pt x="83344" y="41672"/>
                </a:cubicBezTo>
                <a:cubicBezTo>
                  <a:pt x="83344" y="18648"/>
                  <a:pt x="64696" y="0"/>
                  <a:pt x="41672" y="0"/>
                </a:cubicBezTo>
                <a:cubicBezTo>
                  <a:pt x="18648" y="0"/>
                  <a:pt x="0" y="18648"/>
                  <a:pt x="0" y="41672"/>
                </a:cubicBezTo>
                <a:cubicBezTo>
                  <a:pt x="0" y="46282"/>
                  <a:pt x="3724" y="50006"/>
                  <a:pt x="8334" y="50006"/>
                </a:cubicBezTo>
                <a:cubicBezTo>
                  <a:pt x="12944" y="50006"/>
                  <a:pt x="16669" y="46282"/>
                  <a:pt x="16669" y="41672"/>
                </a:cubicBezTo>
                <a:close/>
                <a:moveTo>
                  <a:pt x="41672" y="133350"/>
                </a:moveTo>
                <a:cubicBezTo>
                  <a:pt x="47428" y="133350"/>
                  <a:pt x="52090" y="128688"/>
                  <a:pt x="52090" y="122932"/>
                </a:cubicBezTo>
                <a:cubicBezTo>
                  <a:pt x="52090" y="117176"/>
                  <a:pt x="47428" y="112514"/>
                  <a:pt x="41672" y="112514"/>
                </a:cubicBezTo>
                <a:cubicBezTo>
                  <a:pt x="35916" y="112514"/>
                  <a:pt x="31254" y="117176"/>
                  <a:pt x="31254" y="122932"/>
                </a:cubicBezTo>
                <a:cubicBezTo>
                  <a:pt x="31254" y="128688"/>
                  <a:pt x="35916" y="133350"/>
                  <a:pt x="41672" y="133350"/>
                </a:cubicBezTo>
                <a:close/>
              </a:path>
            </a:pathLst>
          </a:custGeom>
          <a:solidFill>
            <a:srgbClr val="86868B"/>
          </a:solidFill>
          <a:ln/>
        </p:spPr>
      </p:sp>
      <p:sp>
        <p:nvSpPr>
          <p:cNvPr id="29" name="Text 27"/>
          <p:cNvSpPr/>
          <p:nvPr/>
        </p:nvSpPr>
        <p:spPr>
          <a:xfrm>
            <a:off x="1088708" y="4732023"/>
            <a:ext cx="7524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Punctuation</a:t>
            </a:r>
            <a:endParaRPr lang="en-US" sz="1600" dirty="0"/>
          </a:p>
        </p:txBody>
      </p:sp>
      <p:sp>
        <p:nvSpPr>
          <p:cNvPr id="30" name="Shape 28"/>
          <p:cNvSpPr/>
          <p:nvPr/>
        </p:nvSpPr>
        <p:spPr>
          <a:xfrm>
            <a:off x="2839164" y="2312673"/>
            <a:ext cx="2066925" cy="2838450"/>
          </a:xfrm>
          <a:custGeom>
            <a:avLst/>
            <a:gdLst/>
            <a:ahLst/>
            <a:cxnLst/>
            <a:rect l="l" t="t" r="r" b="b"/>
            <a:pathLst>
              <a:path w="2066925" h="2838450">
                <a:moveTo>
                  <a:pt x="38100" y="0"/>
                </a:moveTo>
                <a:lnTo>
                  <a:pt x="2028825" y="0"/>
                </a:lnTo>
                <a:cubicBezTo>
                  <a:pt x="2049853" y="0"/>
                  <a:pt x="2066925" y="17072"/>
                  <a:pt x="2066925" y="38100"/>
                </a:cubicBezTo>
                <a:lnTo>
                  <a:pt x="2066925" y="2686056"/>
                </a:lnTo>
                <a:cubicBezTo>
                  <a:pt x="2066925" y="2770221"/>
                  <a:pt x="1998696" y="2838450"/>
                  <a:pt x="1914531" y="2838450"/>
                </a:cubicBezTo>
                <a:lnTo>
                  <a:pt x="152394" y="2838450"/>
                </a:lnTo>
                <a:cubicBezTo>
                  <a:pt x="68229" y="2838450"/>
                  <a:pt x="0" y="2770221"/>
                  <a:pt x="0" y="2686056"/>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31" name="Shape 29"/>
          <p:cNvSpPr/>
          <p:nvPr/>
        </p:nvSpPr>
        <p:spPr>
          <a:xfrm>
            <a:off x="2839164" y="2312673"/>
            <a:ext cx="2066925" cy="38100"/>
          </a:xfrm>
          <a:custGeom>
            <a:avLst/>
            <a:gdLst/>
            <a:ahLst/>
            <a:cxnLst/>
            <a:rect l="l" t="t" r="r" b="b"/>
            <a:pathLst>
              <a:path w="2066925" h="38100">
                <a:moveTo>
                  <a:pt x="38100" y="0"/>
                </a:moveTo>
                <a:lnTo>
                  <a:pt x="2028825" y="0"/>
                </a:lnTo>
                <a:cubicBezTo>
                  <a:pt x="2049853" y="0"/>
                  <a:pt x="2066925" y="17072"/>
                  <a:pt x="2066925" y="38100"/>
                </a:cubicBezTo>
                <a:lnTo>
                  <a:pt x="2066925" y="38100"/>
                </a:lnTo>
                <a:lnTo>
                  <a:pt x="0" y="38100"/>
                </a:lnTo>
                <a:lnTo>
                  <a:pt x="0" y="38100"/>
                </a:lnTo>
                <a:cubicBezTo>
                  <a:pt x="0" y="17072"/>
                  <a:pt x="17072" y="0"/>
                  <a:pt x="38100" y="0"/>
                </a:cubicBezTo>
                <a:close/>
              </a:path>
            </a:pathLst>
          </a:custGeom>
          <a:solidFill>
            <a:srgbClr val="0071E3"/>
          </a:solidFill>
          <a:ln/>
        </p:spPr>
      </p:sp>
      <p:sp>
        <p:nvSpPr>
          <p:cNvPr id="32" name="Shape 30"/>
          <p:cNvSpPr/>
          <p:nvPr/>
        </p:nvSpPr>
        <p:spPr>
          <a:xfrm>
            <a:off x="2991564" y="24841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33" name="Text 31"/>
          <p:cNvSpPr/>
          <p:nvPr/>
        </p:nvSpPr>
        <p:spPr>
          <a:xfrm>
            <a:off x="2953464" y="2484123"/>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2</a:t>
            </a:r>
            <a:endParaRPr lang="en-US" sz="1600" dirty="0"/>
          </a:p>
        </p:txBody>
      </p:sp>
      <p:sp>
        <p:nvSpPr>
          <p:cNvPr id="34" name="Text 32"/>
          <p:cNvSpPr/>
          <p:nvPr/>
        </p:nvSpPr>
        <p:spPr>
          <a:xfrm>
            <a:off x="3448764" y="2560323"/>
            <a:ext cx="100965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Normalization</a:t>
            </a:r>
            <a:endParaRPr lang="en-US" sz="1600" dirty="0"/>
          </a:p>
        </p:txBody>
      </p:sp>
      <p:sp>
        <p:nvSpPr>
          <p:cNvPr id="35" name="Shape 33"/>
          <p:cNvSpPr/>
          <p:nvPr/>
        </p:nvSpPr>
        <p:spPr>
          <a:xfrm>
            <a:off x="2991564" y="29794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36" name="Shape 34"/>
          <p:cNvSpPr/>
          <p:nvPr/>
        </p:nvSpPr>
        <p:spPr>
          <a:xfrm>
            <a:off x="3086814" y="3084198"/>
            <a:ext cx="133350" cy="133350"/>
          </a:xfrm>
          <a:custGeom>
            <a:avLst/>
            <a:gdLst/>
            <a:ahLst/>
            <a:cxnLst/>
            <a:rect l="l" t="t" r="r" b="b"/>
            <a:pathLst>
              <a:path w="133350" h="133350">
                <a:moveTo>
                  <a:pt x="74254" y="13205"/>
                </a:moveTo>
                <a:cubicBezTo>
                  <a:pt x="72900" y="10236"/>
                  <a:pt x="69931" y="8334"/>
                  <a:pt x="66675" y="8334"/>
                </a:cubicBezTo>
                <a:cubicBezTo>
                  <a:pt x="63419" y="8334"/>
                  <a:pt x="60450" y="10236"/>
                  <a:pt x="59096" y="13205"/>
                </a:cubicBezTo>
                <a:lnTo>
                  <a:pt x="15497" y="108347"/>
                </a:lnTo>
                <a:lnTo>
                  <a:pt x="12502" y="108347"/>
                </a:lnTo>
                <a:cubicBezTo>
                  <a:pt x="7892" y="108347"/>
                  <a:pt x="4167" y="112071"/>
                  <a:pt x="4167" y="116681"/>
                </a:cubicBezTo>
                <a:cubicBezTo>
                  <a:pt x="4167" y="121291"/>
                  <a:pt x="7892" y="125016"/>
                  <a:pt x="12502" y="125016"/>
                </a:cubicBezTo>
                <a:lnTo>
                  <a:pt x="35421" y="125016"/>
                </a:lnTo>
                <a:cubicBezTo>
                  <a:pt x="40031" y="125016"/>
                  <a:pt x="43755" y="121291"/>
                  <a:pt x="43755" y="116681"/>
                </a:cubicBezTo>
                <a:cubicBezTo>
                  <a:pt x="43755" y="112071"/>
                  <a:pt x="40031" y="108347"/>
                  <a:pt x="35421" y="108347"/>
                </a:cubicBezTo>
                <a:lnTo>
                  <a:pt x="33832" y="108347"/>
                </a:lnTo>
                <a:lnTo>
                  <a:pt x="39562" y="95845"/>
                </a:lnTo>
                <a:lnTo>
                  <a:pt x="93814" y="95845"/>
                </a:lnTo>
                <a:lnTo>
                  <a:pt x="99544" y="108347"/>
                </a:lnTo>
                <a:lnTo>
                  <a:pt x="97955" y="108347"/>
                </a:lnTo>
                <a:cubicBezTo>
                  <a:pt x="93345" y="108347"/>
                  <a:pt x="89621" y="112071"/>
                  <a:pt x="89621" y="116681"/>
                </a:cubicBezTo>
                <a:cubicBezTo>
                  <a:pt x="89621" y="121291"/>
                  <a:pt x="93345" y="125016"/>
                  <a:pt x="97955" y="125016"/>
                </a:cubicBezTo>
                <a:lnTo>
                  <a:pt x="120874" y="125016"/>
                </a:lnTo>
                <a:cubicBezTo>
                  <a:pt x="125484" y="125016"/>
                  <a:pt x="129209" y="121291"/>
                  <a:pt x="129209" y="116681"/>
                </a:cubicBezTo>
                <a:cubicBezTo>
                  <a:pt x="129209" y="112071"/>
                  <a:pt x="125484" y="108347"/>
                  <a:pt x="120874" y="108347"/>
                </a:cubicBezTo>
                <a:lnTo>
                  <a:pt x="117879" y="108347"/>
                </a:lnTo>
                <a:lnTo>
                  <a:pt x="74280" y="13205"/>
                </a:lnTo>
                <a:close/>
                <a:moveTo>
                  <a:pt x="86157" y="79177"/>
                </a:moveTo>
                <a:lnTo>
                  <a:pt x="47193" y="79177"/>
                </a:lnTo>
                <a:lnTo>
                  <a:pt x="66675" y="36671"/>
                </a:lnTo>
                <a:lnTo>
                  <a:pt x="86157" y="79177"/>
                </a:lnTo>
                <a:close/>
              </a:path>
            </a:pathLst>
          </a:custGeom>
          <a:solidFill>
            <a:srgbClr val="86868B"/>
          </a:solidFill>
          <a:ln/>
        </p:spPr>
      </p:sp>
      <p:sp>
        <p:nvSpPr>
          <p:cNvPr id="37" name="Text 35"/>
          <p:cNvSpPr/>
          <p:nvPr/>
        </p:nvSpPr>
        <p:spPr>
          <a:xfrm>
            <a:off x="3310652" y="3055623"/>
            <a:ext cx="138112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Lowercase Conversion</a:t>
            </a:r>
            <a:endParaRPr lang="en-US" sz="1600" dirty="0"/>
          </a:p>
        </p:txBody>
      </p:sp>
      <p:sp>
        <p:nvSpPr>
          <p:cNvPr id="38" name="Shape 36"/>
          <p:cNvSpPr/>
          <p:nvPr/>
        </p:nvSpPr>
        <p:spPr>
          <a:xfrm>
            <a:off x="2991564" y="33985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39" name="Shape 37"/>
          <p:cNvSpPr/>
          <p:nvPr/>
        </p:nvSpPr>
        <p:spPr>
          <a:xfrm>
            <a:off x="3095149" y="3503298"/>
            <a:ext cx="116681" cy="133350"/>
          </a:xfrm>
          <a:custGeom>
            <a:avLst/>
            <a:gdLst/>
            <a:ahLst/>
            <a:cxnLst/>
            <a:rect l="l" t="t" r="r" b="b"/>
            <a:pathLst>
              <a:path w="116681" h="133350">
                <a:moveTo>
                  <a:pt x="75009" y="16669"/>
                </a:moveTo>
                <a:cubicBezTo>
                  <a:pt x="75009" y="21279"/>
                  <a:pt x="71285" y="25003"/>
                  <a:pt x="66675" y="25003"/>
                </a:cubicBezTo>
                <a:lnTo>
                  <a:pt x="8334" y="25003"/>
                </a:lnTo>
                <a:cubicBezTo>
                  <a:pt x="3724" y="25003"/>
                  <a:pt x="0" y="21279"/>
                  <a:pt x="0" y="16669"/>
                </a:cubicBezTo>
                <a:cubicBezTo>
                  <a:pt x="0" y="12059"/>
                  <a:pt x="3724" y="8334"/>
                  <a:pt x="8334" y="8334"/>
                </a:cubicBezTo>
                <a:lnTo>
                  <a:pt x="66675" y="8334"/>
                </a:lnTo>
                <a:cubicBezTo>
                  <a:pt x="71285" y="8334"/>
                  <a:pt x="75009" y="12059"/>
                  <a:pt x="75009" y="16669"/>
                </a:cubicBezTo>
                <a:close/>
                <a:moveTo>
                  <a:pt x="75009" y="83344"/>
                </a:moveTo>
                <a:cubicBezTo>
                  <a:pt x="75009" y="87954"/>
                  <a:pt x="71285" y="91678"/>
                  <a:pt x="66675" y="91678"/>
                </a:cubicBezTo>
                <a:lnTo>
                  <a:pt x="8334" y="91678"/>
                </a:lnTo>
                <a:cubicBezTo>
                  <a:pt x="3724" y="91678"/>
                  <a:pt x="0" y="87954"/>
                  <a:pt x="0" y="83344"/>
                </a:cubicBezTo>
                <a:cubicBezTo>
                  <a:pt x="0" y="78734"/>
                  <a:pt x="3724" y="75009"/>
                  <a:pt x="8334" y="75009"/>
                </a:cubicBezTo>
                <a:lnTo>
                  <a:pt x="66675" y="75009"/>
                </a:lnTo>
                <a:cubicBezTo>
                  <a:pt x="71285" y="75009"/>
                  <a:pt x="75009" y="78734"/>
                  <a:pt x="75009" y="83344"/>
                </a:cubicBezTo>
                <a:close/>
                <a:moveTo>
                  <a:pt x="0" y="50006"/>
                </a:moveTo>
                <a:cubicBezTo>
                  <a:pt x="0" y="45396"/>
                  <a:pt x="3724" y="41672"/>
                  <a:pt x="8334" y="41672"/>
                </a:cubicBezTo>
                <a:lnTo>
                  <a:pt x="108347" y="41672"/>
                </a:lnTo>
                <a:cubicBezTo>
                  <a:pt x="112957" y="41672"/>
                  <a:pt x="116681" y="45396"/>
                  <a:pt x="116681" y="50006"/>
                </a:cubicBezTo>
                <a:cubicBezTo>
                  <a:pt x="116681" y="54616"/>
                  <a:pt x="112957" y="58341"/>
                  <a:pt x="108347" y="58341"/>
                </a:cubicBezTo>
                <a:lnTo>
                  <a:pt x="8334" y="58341"/>
                </a:lnTo>
                <a:cubicBezTo>
                  <a:pt x="3724" y="58341"/>
                  <a:pt x="0" y="54616"/>
                  <a:pt x="0" y="50006"/>
                </a:cubicBezTo>
                <a:close/>
                <a:moveTo>
                  <a:pt x="116681" y="116681"/>
                </a:moveTo>
                <a:cubicBezTo>
                  <a:pt x="116681" y="121291"/>
                  <a:pt x="112957" y="125016"/>
                  <a:pt x="108347" y="125016"/>
                </a:cubicBezTo>
                <a:lnTo>
                  <a:pt x="8334" y="125016"/>
                </a:lnTo>
                <a:cubicBezTo>
                  <a:pt x="3724" y="125016"/>
                  <a:pt x="0" y="121291"/>
                  <a:pt x="0" y="116681"/>
                </a:cubicBezTo>
                <a:cubicBezTo>
                  <a:pt x="0" y="112071"/>
                  <a:pt x="3724" y="108347"/>
                  <a:pt x="8334" y="108347"/>
                </a:cubicBezTo>
                <a:lnTo>
                  <a:pt x="108347" y="108347"/>
                </a:lnTo>
                <a:cubicBezTo>
                  <a:pt x="112957" y="108347"/>
                  <a:pt x="116681" y="112071"/>
                  <a:pt x="116681" y="116681"/>
                </a:cubicBezTo>
                <a:close/>
              </a:path>
            </a:pathLst>
          </a:custGeom>
          <a:solidFill>
            <a:srgbClr val="86868B"/>
          </a:solidFill>
          <a:ln/>
        </p:spPr>
      </p:sp>
      <p:sp>
        <p:nvSpPr>
          <p:cNvPr id="40" name="Text 38"/>
          <p:cNvSpPr/>
          <p:nvPr/>
        </p:nvSpPr>
        <p:spPr>
          <a:xfrm>
            <a:off x="3310652" y="3474723"/>
            <a:ext cx="14287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Whitespace Elimination</a:t>
            </a:r>
            <a:endParaRPr lang="en-US" sz="1600" dirty="0"/>
          </a:p>
        </p:txBody>
      </p:sp>
      <p:sp>
        <p:nvSpPr>
          <p:cNvPr id="41" name="Shape 39"/>
          <p:cNvSpPr/>
          <p:nvPr/>
        </p:nvSpPr>
        <p:spPr>
          <a:xfrm>
            <a:off x="2991564" y="38176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42" name="Shape 40"/>
          <p:cNvSpPr/>
          <p:nvPr/>
        </p:nvSpPr>
        <p:spPr>
          <a:xfrm>
            <a:off x="3095149" y="3922398"/>
            <a:ext cx="116681" cy="133350"/>
          </a:xfrm>
          <a:custGeom>
            <a:avLst/>
            <a:gdLst/>
            <a:ahLst/>
            <a:cxnLst/>
            <a:rect l="l" t="t" r="r" b="b"/>
            <a:pathLst>
              <a:path w="116681" h="133350">
                <a:moveTo>
                  <a:pt x="8334" y="33337"/>
                </a:moveTo>
                <a:cubicBezTo>
                  <a:pt x="3724" y="33337"/>
                  <a:pt x="0" y="37062"/>
                  <a:pt x="0" y="41672"/>
                </a:cubicBezTo>
                <a:cubicBezTo>
                  <a:pt x="0" y="46282"/>
                  <a:pt x="3724" y="50006"/>
                  <a:pt x="8334" y="50006"/>
                </a:cubicBezTo>
                <a:lnTo>
                  <a:pt x="108347" y="50006"/>
                </a:lnTo>
                <a:cubicBezTo>
                  <a:pt x="112957" y="50006"/>
                  <a:pt x="116681" y="46282"/>
                  <a:pt x="116681" y="41672"/>
                </a:cubicBezTo>
                <a:cubicBezTo>
                  <a:pt x="116681" y="37062"/>
                  <a:pt x="112957" y="33337"/>
                  <a:pt x="108347" y="33337"/>
                </a:cubicBezTo>
                <a:lnTo>
                  <a:pt x="8334" y="33337"/>
                </a:lnTo>
                <a:close/>
                <a:moveTo>
                  <a:pt x="8334" y="83344"/>
                </a:moveTo>
                <a:cubicBezTo>
                  <a:pt x="3724" y="83344"/>
                  <a:pt x="0" y="87068"/>
                  <a:pt x="0" y="91678"/>
                </a:cubicBezTo>
                <a:cubicBezTo>
                  <a:pt x="0" y="96288"/>
                  <a:pt x="3724" y="100013"/>
                  <a:pt x="8334" y="100013"/>
                </a:cubicBezTo>
                <a:lnTo>
                  <a:pt x="108347" y="100013"/>
                </a:lnTo>
                <a:cubicBezTo>
                  <a:pt x="112957" y="100013"/>
                  <a:pt x="116681" y="96288"/>
                  <a:pt x="116681" y="91678"/>
                </a:cubicBezTo>
                <a:cubicBezTo>
                  <a:pt x="116681" y="87068"/>
                  <a:pt x="112957" y="83344"/>
                  <a:pt x="108347" y="83344"/>
                </a:cubicBezTo>
                <a:lnTo>
                  <a:pt x="8334" y="83344"/>
                </a:lnTo>
                <a:close/>
              </a:path>
            </a:pathLst>
          </a:custGeom>
          <a:solidFill>
            <a:srgbClr val="86868B"/>
          </a:solidFill>
          <a:ln/>
        </p:spPr>
      </p:sp>
      <p:sp>
        <p:nvSpPr>
          <p:cNvPr id="43" name="Text 41"/>
          <p:cNvSpPr/>
          <p:nvPr/>
        </p:nvSpPr>
        <p:spPr>
          <a:xfrm>
            <a:off x="3310652" y="3893823"/>
            <a:ext cx="10477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Text Consistency</a:t>
            </a:r>
            <a:endParaRPr lang="en-US" sz="1600" dirty="0"/>
          </a:p>
        </p:txBody>
      </p:sp>
      <p:sp>
        <p:nvSpPr>
          <p:cNvPr id="44" name="Shape 42"/>
          <p:cNvSpPr/>
          <p:nvPr/>
        </p:nvSpPr>
        <p:spPr>
          <a:xfrm>
            <a:off x="2991564" y="42367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45" name="Shape 43"/>
          <p:cNvSpPr/>
          <p:nvPr/>
        </p:nvSpPr>
        <p:spPr>
          <a:xfrm>
            <a:off x="3095149" y="4341498"/>
            <a:ext cx="116681" cy="133350"/>
          </a:xfrm>
          <a:custGeom>
            <a:avLst/>
            <a:gdLst/>
            <a:ahLst/>
            <a:cxnLst/>
            <a:rect l="l" t="t" r="r" b="b"/>
            <a:pathLst>
              <a:path w="116681" h="133350">
                <a:moveTo>
                  <a:pt x="41672" y="16669"/>
                </a:moveTo>
                <a:cubicBezTo>
                  <a:pt x="41672" y="12059"/>
                  <a:pt x="37947" y="8334"/>
                  <a:pt x="33337" y="8334"/>
                </a:cubicBezTo>
                <a:cubicBezTo>
                  <a:pt x="28728" y="8334"/>
                  <a:pt x="25003" y="12059"/>
                  <a:pt x="25003" y="16669"/>
                </a:cubicBezTo>
                <a:lnTo>
                  <a:pt x="25003" y="33337"/>
                </a:lnTo>
                <a:lnTo>
                  <a:pt x="8334" y="33337"/>
                </a:lnTo>
                <a:cubicBezTo>
                  <a:pt x="3724" y="33337"/>
                  <a:pt x="0" y="37062"/>
                  <a:pt x="0" y="41672"/>
                </a:cubicBezTo>
                <a:cubicBezTo>
                  <a:pt x="0" y="46282"/>
                  <a:pt x="3724" y="50006"/>
                  <a:pt x="8334" y="50006"/>
                </a:cubicBezTo>
                <a:lnTo>
                  <a:pt x="33337" y="50006"/>
                </a:lnTo>
                <a:cubicBezTo>
                  <a:pt x="37947" y="50006"/>
                  <a:pt x="41672" y="46282"/>
                  <a:pt x="41672" y="41672"/>
                </a:cubicBezTo>
                <a:lnTo>
                  <a:pt x="41672" y="16669"/>
                </a:lnTo>
                <a:close/>
                <a:moveTo>
                  <a:pt x="8334" y="83344"/>
                </a:moveTo>
                <a:cubicBezTo>
                  <a:pt x="3724" y="83344"/>
                  <a:pt x="0" y="87068"/>
                  <a:pt x="0" y="91678"/>
                </a:cubicBezTo>
                <a:cubicBezTo>
                  <a:pt x="0" y="96288"/>
                  <a:pt x="3724" y="100013"/>
                  <a:pt x="8334" y="100013"/>
                </a:cubicBezTo>
                <a:lnTo>
                  <a:pt x="25003" y="100013"/>
                </a:lnTo>
                <a:lnTo>
                  <a:pt x="25003" y="116681"/>
                </a:lnTo>
                <a:cubicBezTo>
                  <a:pt x="25003" y="121291"/>
                  <a:pt x="28728" y="125016"/>
                  <a:pt x="33337" y="125016"/>
                </a:cubicBezTo>
                <a:cubicBezTo>
                  <a:pt x="37947" y="125016"/>
                  <a:pt x="41672" y="121291"/>
                  <a:pt x="41672" y="116681"/>
                </a:cubicBezTo>
                <a:lnTo>
                  <a:pt x="41672" y="91678"/>
                </a:lnTo>
                <a:cubicBezTo>
                  <a:pt x="41672" y="87068"/>
                  <a:pt x="37947" y="83344"/>
                  <a:pt x="33337" y="83344"/>
                </a:cubicBezTo>
                <a:lnTo>
                  <a:pt x="8334" y="83344"/>
                </a:lnTo>
                <a:close/>
                <a:moveTo>
                  <a:pt x="91678" y="16669"/>
                </a:moveTo>
                <a:cubicBezTo>
                  <a:pt x="91678" y="12059"/>
                  <a:pt x="87954" y="8334"/>
                  <a:pt x="83344" y="8334"/>
                </a:cubicBezTo>
                <a:cubicBezTo>
                  <a:pt x="78734" y="8334"/>
                  <a:pt x="75009" y="12059"/>
                  <a:pt x="75009" y="16669"/>
                </a:cubicBezTo>
                <a:lnTo>
                  <a:pt x="75009" y="41672"/>
                </a:lnTo>
                <a:cubicBezTo>
                  <a:pt x="75009" y="46282"/>
                  <a:pt x="78734" y="50006"/>
                  <a:pt x="83344" y="50006"/>
                </a:cubicBezTo>
                <a:lnTo>
                  <a:pt x="108347" y="50006"/>
                </a:lnTo>
                <a:cubicBezTo>
                  <a:pt x="112957" y="50006"/>
                  <a:pt x="116681" y="46282"/>
                  <a:pt x="116681" y="41672"/>
                </a:cubicBezTo>
                <a:cubicBezTo>
                  <a:pt x="116681" y="37062"/>
                  <a:pt x="112957" y="33337"/>
                  <a:pt x="108347" y="33337"/>
                </a:cubicBezTo>
                <a:lnTo>
                  <a:pt x="91678" y="33337"/>
                </a:lnTo>
                <a:lnTo>
                  <a:pt x="91678" y="16669"/>
                </a:lnTo>
                <a:close/>
                <a:moveTo>
                  <a:pt x="83344" y="83344"/>
                </a:moveTo>
                <a:cubicBezTo>
                  <a:pt x="78734" y="83344"/>
                  <a:pt x="75009" y="87068"/>
                  <a:pt x="75009" y="91678"/>
                </a:cubicBezTo>
                <a:lnTo>
                  <a:pt x="75009" y="116681"/>
                </a:lnTo>
                <a:cubicBezTo>
                  <a:pt x="75009" y="121291"/>
                  <a:pt x="78734" y="125016"/>
                  <a:pt x="83344" y="125016"/>
                </a:cubicBezTo>
                <a:cubicBezTo>
                  <a:pt x="87954" y="125016"/>
                  <a:pt x="91678" y="121291"/>
                  <a:pt x="91678" y="116681"/>
                </a:cubicBezTo>
                <a:lnTo>
                  <a:pt x="91678" y="100013"/>
                </a:lnTo>
                <a:lnTo>
                  <a:pt x="108347" y="100013"/>
                </a:lnTo>
                <a:cubicBezTo>
                  <a:pt x="112957" y="100013"/>
                  <a:pt x="116681" y="96288"/>
                  <a:pt x="116681" y="91678"/>
                </a:cubicBezTo>
                <a:cubicBezTo>
                  <a:pt x="116681" y="87068"/>
                  <a:pt x="112957" y="83344"/>
                  <a:pt x="108347" y="83344"/>
                </a:cubicBezTo>
                <a:lnTo>
                  <a:pt x="83344" y="83344"/>
                </a:lnTo>
                <a:close/>
              </a:path>
            </a:pathLst>
          </a:custGeom>
          <a:solidFill>
            <a:srgbClr val="86868B"/>
          </a:solidFill>
          <a:ln/>
        </p:spPr>
      </p:sp>
      <p:sp>
        <p:nvSpPr>
          <p:cNvPr id="46" name="Text 44"/>
          <p:cNvSpPr/>
          <p:nvPr/>
        </p:nvSpPr>
        <p:spPr>
          <a:xfrm>
            <a:off x="3310652" y="4312923"/>
            <a:ext cx="96202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Standardization</a:t>
            </a:r>
            <a:endParaRPr lang="en-US" sz="1600" dirty="0"/>
          </a:p>
        </p:txBody>
      </p:sp>
      <p:sp>
        <p:nvSpPr>
          <p:cNvPr id="47" name="Shape 45"/>
          <p:cNvSpPr/>
          <p:nvPr/>
        </p:nvSpPr>
        <p:spPr>
          <a:xfrm>
            <a:off x="5061109" y="2312673"/>
            <a:ext cx="2066925" cy="2838450"/>
          </a:xfrm>
          <a:custGeom>
            <a:avLst/>
            <a:gdLst/>
            <a:ahLst/>
            <a:cxnLst/>
            <a:rect l="l" t="t" r="r" b="b"/>
            <a:pathLst>
              <a:path w="2066925" h="2838450">
                <a:moveTo>
                  <a:pt x="38100" y="0"/>
                </a:moveTo>
                <a:lnTo>
                  <a:pt x="2028825" y="0"/>
                </a:lnTo>
                <a:cubicBezTo>
                  <a:pt x="2049853" y="0"/>
                  <a:pt x="2066925" y="17072"/>
                  <a:pt x="2066925" y="38100"/>
                </a:cubicBezTo>
                <a:lnTo>
                  <a:pt x="2066925" y="2686056"/>
                </a:lnTo>
                <a:cubicBezTo>
                  <a:pt x="2066925" y="2770221"/>
                  <a:pt x="1998696" y="2838450"/>
                  <a:pt x="1914531" y="2838450"/>
                </a:cubicBezTo>
                <a:lnTo>
                  <a:pt x="152394" y="2838450"/>
                </a:lnTo>
                <a:cubicBezTo>
                  <a:pt x="68229" y="2838450"/>
                  <a:pt x="0" y="2770221"/>
                  <a:pt x="0" y="2686056"/>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48" name="Shape 46"/>
          <p:cNvSpPr/>
          <p:nvPr/>
        </p:nvSpPr>
        <p:spPr>
          <a:xfrm>
            <a:off x="5061109" y="2312673"/>
            <a:ext cx="2066925" cy="38100"/>
          </a:xfrm>
          <a:custGeom>
            <a:avLst/>
            <a:gdLst/>
            <a:ahLst/>
            <a:cxnLst/>
            <a:rect l="l" t="t" r="r" b="b"/>
            <a:pathLst>
              <a:path w="2066925" h="38100">
                <a:moveTo>
                  <a:pt x="38100" y="0"/>
                </a:moveTo>
                <a:lnTo>
                  <a:pt x="2028825" y="0"/>
                </a:lnTo>
                <a:cubicBezTo>
                  <a:pt x="2049853" y="0"/>
                  <a:pt x="2066925" y="17072"/>
                  <a:pt x="2066925" y="38100"/>
                </a:cubicBezTo>
                <a:lnTo>
                  <a:pt x="2066925" y="38100"/>
                </a:lnTo>
                <a:lnTo>
                  <a:pt x="0" y="38100"/>
                </a:lnTo>
                <a:lnTo>
                  <a:pt x="0" y="38100"/>
                </a:lnTo>
                <a:cubicBezTo>
                  <a:pt x="0" y="17072"/>
                  <a:pt x="17072" y="0"/>
                  <a:pt x="38100" y="0"/>
                </a:cubicBezTo>
                <a:close/>
              </a:path>
            </a:pathLst>
          </a:custGeom>
          <a:solidFill>
            <a:srgbClr val="0071E3"/>
          </a:solidFill>
          <a:ln/>
        </p:spPr>
      </p:sp>
      <p:sp>
        <p:nvSpPr>
          <p:cNvPr id="49" name="Shape 47"/>
          <p:cNvSpPr/>
          <p:nvPr/>
        </p:nvSpPr>
        <p:spPr>
          <a:xfrm>
            <a:off x="5213509" y="24841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50" name="Text 48"/>
          <p:cNvSpPr/>
          <p:nvPr/>
        </p:nvSpPr>
        <p:spPr>
          <a:xfrm>
            <a:off x="5175409" y="2484123"/>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3</a:t>
            </a:r>
            <a:endParaRPr lang="en-US" sz="1600" dirty="0"/>
          </a:p>
        </p:txBody>
      </p:sp>
      <p:sp>
        <p:nvSpPr>
          <p:cNvPr id="51" name="Text 49"/>
          <p:cNvSpPr/>
          <p:nvPr/>
        </p:nvSpPr>
        <p:spPr>
          <a:xfrm>
            <a:off x="5670709" y="2560323"/>
            <a:ext cx="93345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Tokenization</a:t>
            </a:r>
            <a:endParaRPr lang="en-US" sz="1600" dirty="0"/>
          </a:p>
        </p:txBody>
      </p:sp>
      <p:sp>
        <p:nvSpPr>
          <p:cNvPr id="52" name="Shape 50"/>
          <p:cNvSpPr/>
          <p:nvPr/>
        </p:nvSpPr>
        <p:spPr>
          <a:xfrm>
            <a:off x="5213509" y="29794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53" name="Shape 51"/>
          <p:cNvSpPr/>
          <p:nvPr/>
        </p:nvSpPr>
        <p:spPr>
          <a:xfrm>
            <a:off x="5308759" y="3084198"/>
            <a:ext cx="133350" cy="133350"/>
          </a:xfrm>
          <a:custGeom>
            <a:avLst/>
            <a:gdLst/>
            <a:ahLst/>
            <a:cxnLst/>
            <a:rect l="l" t="t" r="r" b="b"/>
            <a:pathLst>
              <a:path w="133350" h="133350">
                <a:moveTo>
                  <a:pt x="50006" y="66675"/>
                </a:moveTo>
                <a:lnTo>
                  <a:pt x="39719" y="76963"/>
                </a:lnTo>
                <a:cubicBezTo>
                  <a:pt x="36437" y="75687"/>
                  <a:pt x="32895" y="75009"/>
                  <a:pt x="29170" y="75009"/>
                </a:cubicBezTo>
                <a:cubicBezTo>
                  <a:pt x="13049" y="75009"/>
                  <a:pt x="0" y="88058"/>
                  <a:pt x="0" y="104180"/>
                </a:cubicBezTo>
                <a:cubicBezTo>
                  <a:pt x="0" y="120301"/>
                  <a:pt x="13049" y="133350"/>
                  <a:pt x="29170" y="133350"/>
                </a:cubicBezTo>
                <a:cubicBezTo>
                  <a:pt x="45292" y="133350"/>
                  <a:pt x="58341" y="120301"/>
                  <a:pt x="58341" y="104180"/>
                </a:cubicBezTo>
                <a:cubicBezTo>
                  <a:pt x="58341" y="100455"/>
                  <a:pt x="57637" y="96913"/>
                  <a:pt x="56387" y="93631"/>
                </a:cubicBezTo>
                <a:lnTo>
                  <a:pt x="130016" y="20003"/>
                </a:lnTo>
                <a:cubicBezTo>
                  <a:pt x="131865" y="18153"/>
                  <a:pt x="131865" y="15184"/>
                  <a:pt x="130016" y="13335"/>
                </a:cubicBezTo>
                <a:cubicBezTo>
                  <a:pt x="122646" y="5964"/>
                  <a:pt x="110717" y="5964"/>
                  <a:pt x="103346" y="13335"/>
                </a:cubicBezTo>
                <a:lnTo>
                  <a:pt x="66675" y="50006"/>
                </a:lnTo>
                <a:lnTo>
                  <a:pt x="56387" y="39719"/>
                </a:lnTo>
                <a:cubicBezTo>
                  <a:pt x="57663" y="36437"/>
                  <a:pt x="58341" y="32895"/>
                  <a:pt x="58341" y="29170"/>
                </a:cubicBezTo>
                <a:cubicBezTo>
                  <a:pt x="58341" y="13049"/>
                  <a:pt x="45292" y="0"/>
                  <a:pt x="29170" y="0"/>
                </a:cubicBezTo>
                <a:cubicBezTo>
                  <a:pt x="13049" y="0"/>
                  <a:pt x="0" y="13049"/>
                  <a:pt x="0" y="29170"/>
                </a:cubicBezTo>
                <a:cubicBezTo>
                  <a:pt x="0" y="45292"/>
                  <a:pt x="13049" y="58341"/>
                  <a:pt x="29170" y="58341"/>
                </a:cubicBezTo>
                <a:cubicBezTo>
                  <a:pt x="32895" y="58341"/>
                  <a:pt x="36437" y="57637"/>
                  <a:pt x="39719" y="56387"/>
                </a:cubicBezTo>
                <a:lnTo>
                  <a:pt x="50006" y="66675"/>
                </a:lnTo>
                <a:close/>
                <a:moveTo>
                  <a:pt x="75504" y="92173"/>
                </a:moveTo>
                <a:lnTo>
                  <a:pt x="103346" y="120015"/>
                </a:lnTo>
                <a:cubicBezTo>
                  <a:pt x="110717" y="127386"/>
                  <a:pt x="122646" y="127386"/>
                  <a:pt x="130016" y="120015"/>
                </a:cubicBezTo>
                <a:cubicBezTo>
                  <a:pt x="131865" y="118166"/>
                  <a:pt x="131865" y="115197"/>
                  <a:pt x="130016" y="113348"/>
                </a:cubicBezTo>
                <a:lnTo>
                  <a:pt x="92173" y="75504"/>
                </a:lnTo>
                <a:lnTo>
                  <a:pt x="75504" y="92173"/>
                </a:lnTo>
                <a:close/>
                <a:moveTo>
                  <a:pt x="16669" y="29170"/>
                </a:moveTo>
                <a:cubicBezTo>
                  <a:pt x="16669" y="22271"/>
                  <a:pt x="22271" y="16669"/>
                  <a:pt x="29170" y="16669"/>
                </a:cubicBezTo>
                <a:cubicBezTo>
                  <a:pt x="36070" y="16669"/>
                  <a:pt x="41672" y="22271"/>
                  <a:pt x="41672" y="29170"/>
                </a:cubicBezTo>
                <a:cubicBezTo>
                  <a:pt x="41672" y="36070"/>
                  <a:pt x="36070" y="41672"/>
                  <a:pt x="29170" y="41672"/>
                </a:cubicBezTo>
                <a:cubicBezTo>
                  <a:pt x="22271" y="41672"/>
                  <a:pt x="16669" y="36070"/>
                  <a:pt x="16669" y="29170"/>
                </a:cubicBezTo>
                <a:close/>
                <a:moveTo>
                  <a:pt x="29170" y="91678"/>
                </a:moveTo>
                <a:cubicBezTo>
                  <a:pt x="36070" y="91678"/>
                  <a:pt x="41672" y="97280"/>
                  <a:pt x="41672" y="104180"/>
                </a:cubicBezTo>
                <a:cubicBezTo>
                  <a:pt x="41672" y="111079"/>
                  <a:pt x="36070" y="116681"/>
                  <a:pt x="29170" y="116681"/>
                </a:cubicBezTo>
                <a:cubicBezTo>
                  <a:pt x="22271" y="116681"/>
                  <a:pt x="16669" y="111079"/>
                  <a:pt x="16669" y="104180"/>
                </a:cubicBezTo>
                <a:cubicBezTo>
                  <a:pt x="16669" y="97280"/>
                  <a:pt x="22271" y="91678"/>
                  <a:pt x="29170" y="91678"/>
                </a:cubicBezTo>
                <a:close/>
              </a:path>
            </a:pathLst>
          </a:custGeom>
          <a:solidFill>
            <a:srgbClr val="86868B"/>
          </a:solidFill>
          <a:ln/>
        </p:spPr>
      </p:sp>
      <p:sp>
        <p:nvSpPr>
          <p:cNvPr id="54" name="Text 52"/>
          <p:cNvSpPr/>
          <p:nvPr/>
        </p:nvSpPr>
        <p:spPr>
          <a:xfrm>
            <a:off x="5532597" y="3055623"/>
            <a:ext cx="8191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Text Splitting</a:t>
            </a:r>
            <a:endParaRPr lang="en-US" sz="1600" dirty="0"/>
          </a:p>
        </p:txBody>
      </p:sp>
      <p:sp>
        <p:nvSpPr>
          <p:cNvPr id="55" name="Shape 53"/>
          <p:cNvSpPr/>
          <p:nvPr/>
        </p:nvSpPr>
        <p:spPr>
          <a:xfrm>
            <a:off x="5213509" y="33985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56" name="Shape 54"/>
          <p:cNvSpPr/>
          <p:nvPr/>
        </p:nvSpPr>
        <p:spPr>
          <a:xfrm>
            <a:off x="5308759" y="3503298"/>
            <a:ext cx="133350" cy="133350"/>
          </a:xfrm>
          <a:custGeom>
            <a:avLst/>
            <a:gdLst/>
            <a:ahLst/>
            <a:cxnLst/>
            <a:rect l="l" t="t" r="r" b="b"/>
            <a:pathLst>
              <a:path w="133350" h="133350">
                <a:moveTo>
                  <a:pt x="10418" y="12502"/>
                </a:moveTo>
                <a:cubicBezTo>
                  <a:pt x="6954" y="12502"/>
                  <a:pt x="4167" y="15288"/>
                  <a:pt x="4167" y="18752"/>
                </a:cubicBezTo>
                <a:lnTo>
                  <a:pt x="4167" y="31254"/>
                </a:lnTo>
                <a:cubicBezTo>
                  <a:pt x="4167" y="34718"/>
                  <a:pt x="6954" y="37505"/>
                  <a:pt x="10418" y="37505"/>
                </a:cubicBezTo>
                <a:lnTo>
                  <a:pt x="22920" y="37505"/>
                </a:lnTo>
                <a:cubicBezTo>
                  <a:pt x="26384" y="37505"/>
                  <a:pt x="29170" y="34718"/>
                  <a:pt x="29170" y="31254"/>
                </a:cubicBezTo>
                <a:lnTo>
                  <a:pt x="29170" y="18752"/>
                </a:lnTo>
                <a:cubicBezTo>
                  <a:pt x="29170" y="15288"/>
                  <a:pt x="26384" y="12502"/>
                  <a:pt x="22920" y="12502"/>
                </a:cubicBezTo>
                <a:lnTo>
                  <a:pt x="10418" y="12502"/>
                </a:lnTo>
                <a:close/>
                <a:moveTo>
                  <a:pt x="50006" y="16669"/>
                </a:moveTo>
                <a:cubicBezTo>
                  <a:pt x="45396" y="16669"/>
                  <a:pt x="41672" y="20393"/>
                  <a:pt x="41672" y="25003"/>
                </a:cubicBezTo>
                <a:cubicBezTo>
                  <a:pt x="41672" y="29613"/>
                  <a:pt x="45396" y="33337"/>
                  <a:pt x="50006" y="33337"/>
                </a:cubicBezTo>
                <a:lnTo>
                  <a:pt x="125016" y="33337"/>
                </a:lnTo>
                <a:cubicBezTo>
                  <a:pt x="129626" y="33337"/>
                  <a:pt x="133350" y="29613"/>
                  <a:pt x="133350" y="25003"/>
                </a:cubicBezTo>
                <a:cubicBezTo>
                  <a:pt x="133350" y="20393"/>
                  <a:pt x="129626" y="16669"/>
                  <a:pt x="125016" y="16669"/>
                </a:cubicBezTo>
                <a:lnTo>
                  <a:pt x="50006" y="16669"/>
                </a:lnTo>
                <a:close/>
                <a:moveTo>
                  <a:pt x="50006" y="58341"/>
                </a:moveTo>
                <a:cubicBezTo>
                  <a:pt x="45396" y="58341"/>
                  <a:pt x="41672" y="62065"/>
                  <a:pt x="41672" y="66675"/>
                </a:cubicBezTo>
                <a:cubicBezTo>
                  <a:pt x="41672" y="71285"/>
                  <a:pt x="45396" y="75009"/>
                  <a:pt x="50006" y="75009"/>
                </a:cubicBezTo>
                <a:lnTo>
                  <a:pt x="125016" y="75009"/>
                </a:lnTo>
                <a:cubicBezTo>
                  <a:pt x="129626" y="75009"/>
                  <a:pt x="133350" y="71285"/>
                  <a:pt x="133350" y="66675"/>
                </a:cubicBezTo>
                <a:cubicBezTo>
                  <a:pt x="133350" y="62065"/>
                  <a:pt x="129626" y="58341"/>
                  <a:pt x="125016" y="58341"/>
                </a:cubicBezTo>
                <a:lnTo>
                  <a:pt x="50006" y="58341"/>
                </a:lnTo>
                <a:close/>
                <a:moveTo>
                  <a:pt x="50006" y="100013"/>
                </a:moveTo>
                <a:cubicBezTo>
                  <a:pt x="45396" y="100013"/>
                  <a:pt x="41672" y="103737"/>
                  <a:pt x="41672" y="108347"/>
                </a:cubicBezTo>
                <a:cubicBezTo>
                  <a:pt x="41672" y="112957"/>
                  <a:pt x="45396" y="116681"/>
                  <a:pt x="50006" y="116681"/>
                </a:cubicBezTo>
                <a:lnTo>
                  <a:pt x="125016" y="116681"/>
                </a:lnTo>
                <a:cubicBezTo>
                  <a:pt x="129626" y="116681"/>
                  <a:pt x="133350" y="112957"/>
                  <a:pt x="133350" y="108347"/>
                </a:cubicBezTo>
                <a:cubicBezTo>
                  <a:pt x="133350" y="103737"/>
                  <a:pt x="129626" y="100013"/>
                  <a:pt x="125016" y="100013"/>
                </a:cubicBezTo>
                <a:lnTo>
                  <a:pt x="50006" y="100013"/>
                </a:lnTo>
                <a:close/>
                <a:moveTo>
                  <a:pt x="4167" y="60424"/>
                </a:moveTo>
                <a:lnTo>
                  <a:pt x="4167" y="72926"/>
                </a:lnTo>
                <a:cubicBezTo>
                  <a:pt x="4167" y="76390"/>
                  <a:pt x="6954" y="79177"/>
                  <a:pt x="10418" y="79177"/>
                </a:cubicBezTo>
                <a:lnTo>
                  <a:pt x="22920" y="79177"/>
                </a:lnTo>
                <a:cubicBezTo>
                  <a:pt x="26384" y="79177"/>
                  <a:pt x="29170" y="76390"/>
                  <a:pt x="29170" y="72926"/>
                </a:cubicBezTo>
                <a:lnTo>
                  <a:pt x="29170" y="60424"/>
                </a:lnTo>
                <a:cubicBezTo>
                  <a:pt x="29170" y="56960"/>
                  <a:pt x="26384" y="54173"/>
                  <a:pt x="22920" y="54173"/>
                </a:cubicBezTo>
                <a:lnTo>
                  <a:pt x="10418" y="54173"/>
                </a:lnTo>
                <a:cubicBezTo>
                  <a:pt x="6954" y="54173"/>
                  <a:pt x="4167" y="56960"/>
                  <a:pt x="4167" y="60424"/>
                </a:cubicBezTo>
                <a:close/>
                <a:moveTo>
                  <a:pt x="10418" y="95845"/>
                </a:moveTo>
                <a:cubicBezTo>
                  <a:pt x="6954" y="95845"/>
                  <a:pt x="4167" y="98632"/>
                  <a:pt x="4167" y="102096"/>
                </a:cubicBezTo>
                <a:lnTo>
                  <a:pt x="4167" y="114598"/>
                </a:lnTo>
                <a:cubicBezTo>
                  <a:pt x="4167" y="118062"/>
                  <a:pt x="6954" y="120848"/>
                  <a:pt x="10418" y="120848"/>
                </a:cubicBezTo>
                <a:lnTo>
                  <a:pt x="22920" y="120848"/>
                </a:lnTo>
                <a:cubicBezTo>
                  <a:pt x="26384" y="120848"/>
                  <a:pt x="29170" y="118062"/>
                  <a:pt x="29170" y="114598"/>
                </a:cubicBezTo>
                <a:lnTo>
                  <a:pt x="29170" y="102096"/>
                </a:lnTo>
                <a:cubicBezTo>
                  <a:pt x="29170" y="98632"/>
                  <a:pt x="26384" y="95845"/>
                  <a:pt x="22920" y="95845"/>
                </a:cubicBezTo>
                <a:lnTo>
                  <a:pt x="10418" y="95845"/>
                </a:lnTo>
                <a:close/>
              </a:path>
            </a:pathLst>
          </a:custGeom>
          <a:solidFill>
            <a:srgbClr val="86868B"/>
          </a:solidFill>
          <a:ln/>
        </p:spPr>
      </p:sp>
      <p:sp>
        <p:nvSpPr>
          <p:cNvPr id="57" name="Text 55"/>
          <p:cNvSpPr/>
          <p:nvPr/>
        </p:nvSpPr>
        <p:spPr>
          <a:xfrm>
            <a:off x="5532597" y="3474723"/>
            <a:ext cx="11620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Word Tokenization</a:t>
            </a:r>
            <a:endParaRPr lang="en-US" sz="1600" dirty="0"/>
          </a:p>
        </p:txBody>
      </p:sp>
      <p:sp>
        <p:nvSpPr>
          <p:cNvPr id="58" name="Shape 56"/>
          <p:cNvSpPr/>
          <p:nvPr/>
        </p:nvSpPr>
        <p:spPr>
          <a:xfrm>
            <a:off x="5213509" y="38176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59" name="Shape 57"/>
          <p:cNvSpPr/>
          <p:nvPr/>
        </p:nvSpPr>
        <p:spPr>
          <a:xfrm>
            <a:off x="5308759" y="3922398"/>
            <a:ext cx="133350" cy="133350"/>
          </a:xfrm>
          <a:custGeom>
            <a:avLst/>
            <a:gdLst/>
            <a:ahLst/>
            <a:cxnLst/>
            <a:rect l="l" t="t" r="r" b="b"/>
            <a:pathLst>
              <a:path w="133350" h="133350">
                <a:moveTo>
                  <a:pt x="0" y="25003"/>
                </a:moveTo>
                <a:cubicBezTo>
                  <a:pt x="0" y="20393"/>
                  <a:pt x="3724" y="16669"/>
                  <a:pt x="8334" y="16669"/>
                </a:cubicBezTo>
                <a:lnTo>
                  <a:pt x="108347" y="16669"/>
                </a:lnTo>
                <a:cubicBezTo>
                  <a:pt x="112957" y="16669"/>
                  <a:pt x="116681" y="20393"/>
                  <a:pt x="116681" y="25003"/>
                </a:cubicBezTo>
                <a:cubicBezTo>
                  <a:pt x="116681" y="29613"/>
                  <a:pt x="112957" y="33337"/>
                  <a:pt x="108347" y="33337"/>
                </a:cubicBezTo>
                <a:lnTo>
                  <a:pt x="8334" y="33337"/>
                </a:lnTo>
                <a:cubicBezTo>
                  <a:pt x="3724" y="33337"/>
                  <a:pt x="0" y="29613"/>
                  <a:pt x="0" y="25003"/>
                </a:cubicBezTo>
                <a:close/>
                <a:moveTo>
                  <a:pt x="16669" y="66675"/>
                </a:moveTo>
                <a:cubicBezTo>
                  <a:pt x="16669" y="62065"/>
                  <a:pt x="20393" y="58341"/>
                  <a:pt x="25003" y="58341"/>
                </a:cubicBezTo>
                <a:lnTo>
                  <a:pt x="125016" y="58341"/>
                </a:lnTo>
                <a:cubicBezTo>
                  <a:pt x="129626" y="58341"/>
                  <a:pt x="133350" y="62065"/>
                  <a:pt x="133350" y="66675"/>
                </a:cubicBezTo>
                <a:cubicBezTo>
                  <a:pt x="133350" y="71285"/>
                  <a:pt x="129626" y="75009"/>
                  <a:pt x="125016" y="75009"/>
                </a:cubicBezTo>
                <a:lnTo>
                  <a:pt x="25003" y="75009"/>
                </a:lnTo>
                <a:cubicBezTo>
                  <a:pt x="20393" y="75009"/>
                  <a:pt x="16669" y="71285"/>
                  <a:pt x="16669" y="66675"/>
                </a:cubicBezTo>
                <a:close/>
                <a:moveTo>
                  <a:pt x="116681" y="108347"/>
                </a:moveTo>
                <a:cubicBezTo>
                  <a:pt x="116681" y="112957"/>
                  <a:pt x="112957" y="116681"/>
                  <a:pt x="108347" y="116681"/>
                </a:cubicBezTo>
                <a:lnTo>
                  <a:pt x="8334" y="116681"/>
                </a:lnTo>
                <a:cubicBezTo>
                  <a:pt x="3724" y="116681"/>
                  <a:pt x="0" y="112957"/>
                  <a:pt x="0" y="108347"/>
                </a:cubicBezTo>
                <a:cubicBezTo>
                  <a:pt x="0" y="103737"/>
                  <a:pt x="3724" y="100013"/>
                  <a:pt x="8334" y="100013"/>
                </a:cubicBezTo>
                <a:lnTo>
                  <a:pt x="108347" y="100013"/>
                </a:lnTo>
                <a:cubicBezTo>
                  <a:pt x="112957" y="100013"/>
                  <a:pt x="116681" y="103737"/>
                  <a:pt x="116681" y="108347"/>
                </a:cubicBezTo>
                <a:close/>
              </a:path>
            </a:pathLst>
          </a:custGeom>
          <a:solidFill>
            <a:srgbClr val="86868B"/>
          </a:solidFill>
          <a:ln/>
        </p:spPr>
      </p:sp>
      <p:sp>
        <p:nvSpPr>
          <p:cNvPr id="60" name="Text 58"/>
          <p:cNvSpPr/>
          <p:nvPr/>
        </p:nvSpPr>
        <p:spPr>
          <a:xfrm>
            <a:off x="5532597" y="3893823"/>
            <a:ext cx="10953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Sentence Splitting</a:t>
            </a:r>
            <a:endParaRPr lang="en-US" sz="1600" dirty="0"/>
          </a:p>
        </p:txBody>
      </p:sp>
      <p:sp>
        <p:nvSpPr>
          <p:cNvPr id="61" name="Shape 59"/>
          <p:cNvSpPr/>
          <p:nvPr/>
        </p:nvSpPr>
        <p:spPr>
          <a:xfrm>
            <a:off x="5213509" y="42367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62" name="Shape 60"/>
          <p:cNvSpPr/>
          <p:nvPr/>
        </p:nvSpPr>
        <p:spPr>
          <a:xfrm>
            <a:off x="5308759" y="4341498"/>
            <a:ext cx="133350" cy="133350"/>
          </a:xfrm>
          <a:custGeom>
            <a:avLst/>
            <a:gdLst/>
            <a:ahLst/>
            <a:cxnLst/>
            <a:rect l="l" t="t" r="r" b="b"/>
            <a:pathLst>
              <a:path w="133350" h="133350">
                <a:moveTo>
                  <a:pt x="60554" y="1354"/>
                </a:moveTo>
                <a:cubicBezTo>
                  <a:pt x="64435" y="-443"/>
                  <a:pt x="68915" y="-443"/>
                  <a:pt x="72796" y="1354"/>
                </a:cubicBezTo>
                <a:lnTo>
                  <a:pt x="129730" y="27660"/>
                </a:lnTo>
                <a:cubicBezTo>
                  <a:pt x="131944" y="28675"/>
                  <a:pt x="133350" y="30889"/>
                  <a:pt x="133350" y="33337"/>
                </a:cubicBezTo>
                <a:cubicBezTo>
                  <a:pt x="133350" y="35786"/>
                  <a:pt x="131944" y="38000"/>
                  <a:pt x="129730" y="39015"/>
                </a:cubicBezTo>
                <a:lnTo>
                  <a:pt x="72796" y="65321"/>
                </a:lnTo>
                <a:cubicBezTo>
                  <a:pt x="68915" y="67118"/>
                  <a:pt x="64435" y="67118"/>
                  <a:pt x="60554" y="65321"/>
                </a:cubicBezTo>
                <a:lnTo>
                  <a:pt x="3620" y="39015"/>
                </a:lnTo>
                <a:cubicBezTo>
                  <a:pt x="1406" y="37973"/>
                  <a:pt x="0" y="35760"/>
                  <a:pt x="0" y="33337"/>
                </a:cubicBezTo>
                <a:cubicBezTo>
                  <a:pt x="0" y="30915"/>
                  <a:pt x="1406" y="28675"/>
                  <a:pt x="3620" y="27660"/>
                </a:cubicBezTo>
                <a:lnTo>
                  <a:pt x="60554" y="1354"/>
                </a:lnTo>
                <a:close/>
                <a:moveTo>
                  <a:pt x="12528" y="56882"/>
                </a:moveTo>
                <a:lnTo>
                  <a:pt x="55319" y="76650"/>
                </a:lnTo>
                <a:cubicBezTo>
                  <a:pt x="62534" y="79984"/>
                  <a:pt x="70842" y="79984"/>
                  <a:pt x="78057" y="76650"/>
                </a:cubicBezTo>
                <a:lnTo>
                  <a:pt x="120848" y="56882"/>
                </a:lnTo>
                <a:lnTo>
                  <a:pt x="129730" y="60997"/>
                </a:lnTo>
                <a:cubicBezTo>
                  <a:pt x="131944" y="62013"/>
                  <a:pt x="133350" y="64227"/>
                  <a:pt x="133350" y="66675"/>
                </a:cubicBezTo>
                <a:cubicBezTo>
                  <a:pt x="133350" y="69123"/>
                  <a:pt x="131944" y="71337"/>
                  <a:pt x="129730" y="72353"/>
                </a:cubicBezTo>
                <a:lnTo>
                  <a:pt x="72796" y="98658"/>
                </a:lnTo>
                <a:cubicBezTo>
                  <a:pt x="68915" y="100455"/>
                  <a:pt x="64435" y="100455"/>
                  <a:pt x="60554" y="98658"/>
                </a:cubicBezTo>
                <a:lnTo>
                  <a:pt x="3620" y="72353"/>
                </a:lnTo>
                <a:cubicBezTo>
                  <a:pt x="1406" y="71311"/>
                  <a:pt x="0" y="69097"/>
                  <a:pt x="0" y="66675"/>
                </a:cubicBezTo>
                <a:cubicBezTo>
                  <a:pt x="0" y="64253"/>
                  <a:pt x="1406" y="62013"/>
                  <a:pt x="3620" y="60997"/>
                </a:cubicBezTo>
                <a:lnTo>
                  <a:pt x="12502" y="56882"/>
                </a:lnTo>
                <a:close/>
                <a:moveTo>
                  <a:pt x="3620" y="94335"/>
                </a:moveTo>
                <a:lnTo>
                  <a:pt x="12502" y="90220"/>
                </a:lnTo>
                <a:lnTo>
                  <a:pt x="55293" y="109988"/>
                </a:lnTo>
                <a:cubicBezTo>
                  <a:pt x="62508" y="113321"/>
                  <a:pt x="70816" y="113321"/>
                  <a:pt x="78031" y="109988"/>
                </a:cubicBezTo>
                <a:lnTo>
                  <a:pt x="120822" y="90220"/>
                </a:lnTo>
                <a:lnTo>
                  <a:pt x="129704" y="94335"/>
                </a:lnTo>
                <a:cubicBezTo>
                  <a:pt x="131918" y="95350"/>
                  <a:pt x="133324" y="97564"/>
                  <a:pt x="133324" y="100013"/>
                </a:cubicBezTo>
                <a:cubicBezTo>
                  <a:pt x="133324" y="102461"/>
                  <a:pt x="131918" y="104675"/>
                  <a:pt x="129704" y="105690"/>
                </a:cubicBezTo>
                <a:lnTo>
                  <a:pt x="72770" y="131996"/>
                </a:lnTo>
                <a:cubicBezTo>
                  <a:pt x="68889" y="133793"/>
                  <a:pt x="64409" y="133793"/>
                  <a:pt x="60528" y="131996"/>
                </a:cubicBezTo>
                <a:lnTo>
                  <a:pt x="3620" y="105690"/>
                </a:lnTo>
                <a:cubicBezTo>
                  <a:pt x="1406" y="104648"/>
                  <a:pt x="0" y="102435"/>
                  <a:pt x="0" y="100013"/>
                </a:cubicBezTo>
                <a:cubicBezTo>
                  <a:pt x="0" y="97590"/>
                  <a:pt x="1406" y="95350"/>
                  <a:pt x="3620" y="94335"/>
                </a:cubicBezTo>
                <a:close/>
              </a:path>
            </a:pathLst>
          </a:custGeom>
          <a:solidFill>
            <a:srgbClr val="86868B"/>
          </a:solidFill>
          <a:ln/>
        </p:spPr>
      </p:sp>
      <p:sp>
        <p:nvSpPr>
          <p:cNvPr id="63" name="Text 61"/>
          <p:cNvSpPr/>
          <p:nvPr/>
        </p:nvSpPr>
        <p:spPr>
          <a:xfrm>
            <a:off x="5532597" y="4312923"/>
            <a:ext cx="8667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Token Stream</a:t>
            </a:r>
            <a:endParaRPr lang="en-US" sz="1600" dirty="0"/>
          </a:p>
        </p:txBody>
      </p:sp>
      <p:sp>
        <p:nvSpPr>
          <p:cNvPr id="64" name="Shape 62"/>
          <p:cNvSpPr/>
          <p:nvPr/>
        </p:nvSpPr>
        <p:spPr>
          <a:xfrm>
            <a:off x="7283172" y="2312673"/>
            <a:ext cx="2066925" cy="2838450"/>
          </a:xfrm>
          <a:custGeom>
            <a:avLst/>
            <a:gdLst/>
            <a:ahLst/>
            <a:cxnLst/>
            <a:rect l="l" t="t" r="r" b="b"/>
            <a:pathLst>
              <a:path w="2066925" h="2838450">
                <a:moveTo>
                  <a:pt x="38100" y="0"/>
                </a:moveTo>
                <a:lnTo>
                  <a:pt x="2028825" y="0"/>
                </a:lnTo>
                <a:cubicBezTo>
                  <a:pt x="2049853" y="0"/>
                  <a:pt x="2066925" y="17072"/>
                  <a:pt x="2066925" y="38100"/>
                </a:cubicBezTo>
                <a:lnTo>
                  <a:pt x="2066925" y="2686056"/>
                </a:lnTo>
                <a:cubicBezTo>
                  <a:pt x="2066925" y="2770221"/>
                  <a:pt x="1998696" y="2838450"/>
                  <a:pt x="1914531" y="2838450"/>
                </a:cubicBezTo>
                <a:lnTo>
                  <a:pt x="152394" y="2838450"/>
                </a:lnTo>
                <a:cubicBezTo>
                  <a:pt x="68229" y="2838450"/>
                  <a:pt x="0" y="2770221"/>
                  <a:pt x="0" y="2686056"/>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65" name="Shape 63"/>
          <p:cNvSpPr/>
          <p:nvPr/>
        </p:nvSpPr>
        <p:spPr>
          <a:xfrm>
            <a:off x="7283172" y="2312673"/>
            <a:ext cx="2066925" cy="38100"/>
          </a:xfrm>
          <a:custGeom>
            <a:avLst/>
            <a:gdLst/>
            <a:ahLst/>
            <a:cxnLst/>
            <a:rect l="l" t="t" r="r" b="b"/>
            <a:pathLst>
              <a:path w="2066925" h="38100">
                <a:moveTo>
                  <a:pt x="38100" y="0"/>
                </a:moveTo>
                <a:lnTo>
                  <a:pt x="2028825" y="0"/>
                </a:lnTo>
                <a:cubicBezTo>
                  <a:pt x="2049853" y="0"/>
                  <a:pt x="2066925" y="17072"/>
                  <a:pt x="2066925" y="38100"/>
                </a:cubicBezTo>
                <a:lnTo>
                  <a:pt x="2066925" y="38100"/>
                </a:lnTo>
                <a:lnTo>
                  <a:pt x="0" y="38100"/>
                </a:lnTo>
                <a:lnTo>
                  <a:pt x="0" y="38100"/>
                </a:lnTo>
                <a:cubicBezTo>
                  <a:pt x="0" y="17072"/>
                  <a:pt x="17072" y="0"/>
                  <a:pt x="38100" y="0"/>
                </a:cubicBezTo>
                <a:close/>
              </a:path>
            </a:pathLst>
          </a:custGeom>
          <a:solidFill>
            <a:srgbClr val="0071E3"/>
          </a:solidFill>
          <a:ln/>
        </p:spPr>
      </p:sp>
      <p:sp>
        <p:nvSpPr>
          <p:cNvPr id="66" name="Shape 64"/>
          <p:cNvSpPr/>
          <p:nvPr/>
        </p:nvSpPr>
        <p:spPr>
          <a:xfrm>
            <a:off x="7435572" y="24841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67" name="Text 65"/>
          <p:cNvSpPr/>
          <p:nvPr/>
        </p:nvSpPr>
        <p:spPr>
          <a:xfrm>
            <a:off x="7397472" y="2484123"/>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4</a:t>
            </a:r>
            <a:endParaRPr lang="en-US" sz="1600" dirty="0"/>
          </a:p>
        </p:txBody>
      </p:sp>
      <p:sp>
        <p:nvSpPr>
          <p:cNvPr id="68" name="Text 66"/>
          <p:cNvSpPr/>
          <p:nvPr/>
        </p:nvSpPr>
        <p:spPr>
          <a:xfrm>
            <a:off x="7892772" y="2560323"/>
            <a:ext cx="13430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Stopword Removal</a:t>
            </a:r>
            <a:endParaRPr lang="en-US" sz="1600" dirty="0"/>
          </a:p>
        </p:txBody>
      </p:sp>
      <p:sp>
        <p:nvSpPr>
          <p:cNvPr id="69" name="Shape 67"/>
          <p:cNvSpPr/>
          <p:nvPr/>
        </p:nvSpPr>
        <p:spPr>
          <a:xfrm>
            <a:off x="7435572" y="29794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70" name="Shape 68"/>
          <p:cNvSpPr/>
          <p:nvPr/>
        </p:nvSpPr>
        <p:spPr>
          <a:xfrm>
            <a:off x="7530822" y="3084198"/>
            <a:ext cx="133350" cy="133350"/>
          </a:xfrm>
          <a:custGeom>
            <a:avLst/>
            <a:gdLst/>
            <a:ahLst/>
            <a:cxnLst/>
            <a:rect l="l" t="t" r="r" b="b"/>
            <a:pathLst>
              <a:path w="133350" h="133350">
                <a:moveTo>
                  <a:pt x="8334" y="16669"/>
                </a:moveTo>
                <a:cubicBezTo>
                  <a:pt x="4975" y="16669"/>
                  <a:pt x="1927" y="18700"/>
                  <a:pt x="625" y="21826"/>
                </a:cubicBezTo>
                <a:cubicBezTo>
                  <a:pt x="-677" y="24951"/>
                  <a:pt x="52" y="28519"/>
                  <a:pt x="2448" y="30889"/>
                </a:cubicBezTo>
                <a:lnTo>
                  <a:pt x="50006" y="78473"/>
                </a:lnTo>
                <a:lnTo>
                  <a:pt x="50006" y="108347"/>
                </a:lnTo>
                <a:cubicBezTo>
                  <a:pt x="50006" y="110561"/>
                  <a:pt x="50892" y="112670"/>
                  <a:pt x="52454" y="114233"/>
                </a:cubicBezTo>
                <a:lnTo>
                  <a:pt x="69123" y="130902"/>
                </a:lnTo>
                <a:cubicBezTo>
                  <a:pt x="71519" y="133298"/>
                  <a:pt x="75088" y="134001"/>
                  <a:pt x="78213" y="132699"/>
                </a:cubicBezTo>
                <a:cubicBezTo>
                  <a:pt x="81338" y="131397"/>
                  <a:pt x="83344" y="128375"/>
                  <a:pt x="83344" y="125016"/>
                </a:cubicBezTo>
                <a:lnTo>
                  <a:pt x="83344" y="78473"/>
                </a:lnTo>
                <a:lnTo>
                  <a:pt x="130902" y="30915"/>
                </a:lnTo>
                <a:cubicBezTo>
                  <a:pt x="133298" y="28519"/>
                  <a:pt x="134001" y="24951"/>
                  <a:pt x="132699" y="21826"/>
                </a:cubicBezTo>
                <a:cubicBezTo>
                  <a:pt x="131397" y="18700"/>
                  <a:pt x="128375" y="16669"/>
                  <a:pt x="125016" y="16669"/>
                </a:cubicBezTo>
                <a:lnTo>
                  <a:pt x="8334" y="16669"/>
                </a:lnTo>
                <a:close/>
              </a:path>
            </a:pathLst>
          </a:custGeom>
          <a:solidFill>
            <a:srgbClr val="86868B"/>
          </a:solidFill>
          <a:ln/>
        </p:spPr>
      </p:sp>
      <p:sp>
        <p:nvSpPr>
          <p:cNvPr id="71" name="Text 69"/>
          <p:cNvSpPr/>
          <p:nvPr/>
        </p:nvSpPr>
        <p:spPr>
          <a:xfrm>
            <a:off x="7754660" y="3055623"/>
            <a:ext cx="103822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Common Words</a:t>
            </a:r>
            <a:endParaRPr lang="en-US" sz="1600" dirty="0"/>
          </a:p>
        </p:txBody>
      </p:sp>
      <p:sp>
        <p:nvSpPr>
          <p:cNvPr id="72" name="Shape 70"/>
          <p:cNvSpPr/>
          <p:nvPr/>
        </p:nvSpPr>
        <p:spPr>
          <a:xfrm>
            <a:off x="7435572" y="33985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73" name="Shape 71"/>
          <p:cNvSpPr/>
          <p:nvPr/>
        </p:nvSpPr>
        <p:spPr>
          <a:xfrm>
            <a:off x="7530822" y="350329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43755" y="60424"/>
                </a:moveTo>
                <a:lnTo>
                  <a:pt x="89595" y="60424"/>
                </a:lnTo>
                <a:cubicBezTo>
                  <a:pt x="93059" y="60424"/>
                  <a:pt x="95845" y="63211"/>
                  <a:pt x="95845" y="66675"/>
                </a:cubicBezTo>
                <a:cubicBezTo>
                  <a:pt x="95845" y="70139"/>
                  <a:pt x="93059" y="72926"/>
                  <a:pt x="89595" y="72926"/>
                </a:cubicBezTo>
                <a:lnTo>
                  <a:pt x="43755" y="72926"/>
                </a:lnTo>
                <a:cubicBezTo>
                  <a:pt x="40291" y="72926"/>
                  <a:pt x="37505" y="70139"/>
                  <a:pt x="37505" y="66675"/>
                </a:cubicBezTo>
                <a:cubicBezTo>
                  <a:pt x="37505" y="63211"/>
                  <a:pt x="40291" y="60424"/>
                  <a:pt x="43755" y="60424"/>
                </a:cubicBezTo>
                <a:close/>
              </a:path>
            </a:pathLst>
          </a:custGeom>
          <a:solidFill>
            <a:srgbClr val="86868B"/>
          </a:solidFill>
          <a:ln/>
        </p:spPr>
      </p:sp>
      <p:sp>
        <p:nvSpPr>
          <p:cNvPr id="74" name="Text 72"/>
          <p:cNvSpPr/>
          <p:nvPr/>
        </p:nvSpPr>
        <p:spPr>
          <a:xfrm>
            <a:off x="7754660" y="3474723"/>
            <a:ext cx="10096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Noise Reduction</a:t>
            </a:r>
            <a:endParaRPr lang="en-US" sz="1600" dirty="0"/>
          </a:p>
        </p:txBody>
      </p:sp>
      <p:sp>
        <p:nvSpPr>
          <p:cNvPr id="75" name="Shape 73"/>
          <p:cNvSpPr/>
          <p:nvPr/>
        </p:nvSpPr>
        <p:spPr>
          <a:xfrm>
            <a:off x="7435572" y="38176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76" name="Shape 74"/>
          <p:cNvSpPr/>
          <p:nvPr/>
        </p:nvSpPr>
        <p:spPr>
          <a:xfrm>
            <a:off x="7522488" y="3922398"/>
            <a:ext cx="150019" cy="133350"/>
          </a:xfrm>
          <a:custGeom>
            <a:avLst/>
            <a:gdLst/>
            <a:ahLst/>
            <a:cxnLst/>
            <a:rect l="l" t="t" r="r" b="b"/>
            <a:pathLst>
              <a:path w="150019" h="133350">
                <a:moveTo>
                  <a:pt x="147571" y="14221"/>
                </a:moveTo>
                <a:cubicBezTo>
                  <a:pt x="150826" y="10965"/>
                  <a:pt x="150826" y="5678"/>
                  <a:pt x="147571" y="2422"/>
                </a:cubicBezTo>
                <a:cubicBezTo>
                  <a:pt x="144315" y="-833"/>
                  <a:pt x="139028" y="-833"/>
                  <a:pt x="135772" y="2422"/>
                </a:cubicBezTo>
                <a:lnTo>
                  <a:pt x="85766" y="52428"/>
                </a:lnTo>
                <a:lnTo>
                  <a:pt x="76728" y="43391"/>
                </a:lnTo>
                <a:cubicBezTo>
                  <a:pt x="75634" y="42297"/>
                  <a:pt x="74124" y="41672"/>
                  <a:pt x="72561" y="41672"/>
                </a:cubicBezTo>
                <a:cubicBezTo>
                  <a:pt x="69306" y="41672"/>
                  <a:pt x="66675" y="44302"/>
                  <a:pt x="66675" y="47558"/>
                </a:cubicBezTo>
                <a:lnTo>
                  <a:pt x="66675" y="55137"/>
                </a:lnTo>
                <a:lnTo>
                  <a:pt x="94882" y="83344"/>
                </a:lnTo>
                <a:lnTo>
                  <a:pt x="102461" y="83344"/>
                </a:lnTo>
                <a:cubicBezTo>
                  <a:pt x="105716" y="83344"/>
                  <a:pt x="108347" y="80713"/>
                  <a:pt x="108347" y="77458"/>
                </a:cubicBezTo>
                <a:cubicBezTo>
                  <a:pt x="108347" y="75895"/>
                  <a:pt x="107722" y="74384"/>
                  <a:pt x="106628" y="73290"/>
                </a:cubicBezTo>
                <a:lnTo>
                  <a:pt x="97590" y="64253"/>
                </a:lnTo>
                <a:lnTo>
                  <a:pt x="147597" y="14247"/>
                </a:lnTo>
                <a:close/>
                <a:moveTo>
                  <a:pt x="88839" y="92043"/>
                </a:moveTo>
                <a:lnTo>
                  <a:pt x="57976" y="61180"/>
                </a:lnTo>
                <a:cubicBezTo>
                  <a:pt x="46855" y="60216"/>
                  <a:pt x="35786" y="64227"/>
                  <a:pt x="27816" y="72197"/>
                </a:cubicBezTo>
                <a:lnTo>
                  <a:pt x="25732" y="74280"/>
                </a:lnTo>
                <a:cubicBezTo>
                  <a:pt x="19924" y="80088"/>
                  <a:pt x="16669" y="87954"/>
                  <a:pt x="16669" y="96158"/>
                </a:cubicBezTo>
                <a:cubicBezTo>
                  <a:pt x="16669" y="97929"/>
                  <a:pt x="18518" y="99075"/>
                  <a:pt x="20107" y="98294"/>
                </a:cubicBezTo>
                <a:lnTo>
                  <a:pt x="33416" y="91652"/>
                </a:lnTo>
                <a:cubicBezTo>
                  <a:pt x="34718" y="91001"/>
                  <a:pt x="35890" y="92720"/>
                  <a:pt x="34822" y="93710"/>
                </a:cubicBezTo>
                <a:lnTo>
                  <a:pt x="1901" y="123297"/>
                </a:lnTo>
                <a:cubicBezTo>
                  <a:pt x="703" y="124391"/>
                  <a:pt x="0" y="125953"/>
                  <a:pt x="0" y="127594"/>
                </a:cubicBezTo>
                <a:cubicBezTo>
                  <a:pt x="0" y="130772"/>
                  <a:pt x="2578" y="133350"/>
                  <a:pt x="5756" y="133350"/>
                </a:cubicBezTo>
                <a:lnTo>
                  <a:pt x="50892" y="133350"/>
                </a:lnTo>
                <a:cubicBezTo>
                  <a:pt x="60997" y="133350"/>
                  <a:pt x="70660" y="129339"/>
                  <a:pt x="77822" y="122203"/>
                </a:cubicBezTo>
                <a:cubicBezTo>
                  <a:pt x="85792" y="114233"/>
                  <a:pt x="89777" y="103164"/>
                  <a:pt x="88839" y="92043"/>
                </a:cubicBezTo>
                <a:close/>
              </a:path>
            </a:pathLst>
          </a:custGeom>
          <a:solidFill>
            <a:srgbClr val="86868B"/>
          </a:solidFill>
          <a:ln/>
        </p:spPr>
      </p:sp>
      <p:sp>
        <p:nvSpPr>
          <p:cNvPr id="77" name="Text 75"/>
          <p:cNvSpPr/>
          <p:nvPr/>
        </p:nvSpPr>
        <p:spPr>
          <a:xfrm>
            <a:off x="7754660" y="3893823"/>
            <a:ext cx="8667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Data Cleaning</a:t>
            </a:r>
            <a:endParaRPr lang="en-US" sz="1600" dirty="0"/>
          </a:p>
        </p:txBody>
      </p:sp>
      <p:sp>
        <p:nvSpPr>
          <p:cNvPr id="78" name="Shape 76"/>
          <p:cNvSpPr/>
          <p:nvPr/>
        </p:nvSpPr>
        <p:spPr>
          <a:xfrm>
            <a:off x="7435572" y="42367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79" name="Shape 77"/>
          <p:cNvSpPr/>
          <p:nvPr/>
        </p:nvSpPr>
        <p:spPr>
          <a:xfrm>
            <a:off x="7530822" y="4341498"/>
            <a:ext cx="133350" cy="133350"/>
          </a:xfrm>
          <a:custGeom>
            <a:avLst/>
            <a:gdLst/>
            <a:ahLst/>
            <a:cxnLst/>
            <a:rect l="l" t="t" r="r" b="b"/>
            <a:pathLst>
              <a:path w="133350" h="133350">
                <a:moveTo>
                  <a:pt x="118765" y="58341"/>
                </a:moveTo>
                <a:lnTo>
                  <a:pt x="81260" y="58341"/>
                </a:lnTo>
                <a:cubicBezTo>
                  <a:pt x="77796" y="58341"/>
                  <a:pt x="75009" y="55554"/>
                  <a:pt x="75009" y="52090"/>
                </a:cubicBezTo>
                <a:lnTo>
                  <a:pt x="75009" y="14585"/>
                </a:lnTo>
                <a:cubicBezTo>
                  <a:pt x="75009" y="12059"/>
                  <a:pt x="76520" y="9767"/>
                  <a:pt x="78864" y="8803"/>
                </a:cubicBezTo>
                <a:cubicBezTo>
                  <a:pt x="81208" y="7840"/>
                  <a:pt x="83891" y="8386"/>
                  <a:pt x="85688" y="10158"/>
                </a:cubicBezTo>
                <a:lnTo>
                  <a:pt x="96106" y="20575"/>
                </a:lnTo>
                <a:lnTo>
                  <a:pt x="115223" y="1459"/>
                </a:lnTo>
                <a:cubicBezTo>
                  <a:pt x="116160" y="521"/>
                  <a:pt x="117437" y="0"/>
                  <a:pt x="118765" y="0"/>
                </a:cubicBezTo>
                <a:cubicBezTo>
                  <a:pt x="120093" y="0"/>
                  <a:pt x="121369" y="521"/>
                  <a:pt x="122333" y="1485"/>
                </a:cubicBezTo>
                <a:lnTo>
                  <a:pt x="131891" y="11043"/>
                </a:lnTo>
                <a:cubicBezTo>
                  <a:pt x="132829" y="11981"/>
                  <a:pt x="133350" y="13257"/>
                  <a:pt x="133350" y="14585"/>
                </a:cubicBezTo>
                <a:cubicBezTo>
                  <a:pt x="133350" y="15913"/>
                  <a:pt x="132829" y="17190"/>
                  <a:pt x="131865" y="18153"/>
                </a:cubicBezTo>
                <a:lnTo>
                  <a:pt x="112775" y="37244"/>
                </a:lnTo>
                <a:lnTo>
                  <a:pt x="123192" y="47662"/>
                </a:lnTo>
                <a:cubicBezTo>
                  <a:pt x="124990" y="49459"/>
                  <a:pt x="125510" y="52142"/>
                  <a:pt x="124547" y="54486"/>
                </a:cubicBezTo>
                <a:cubicBezTo>
                  <a:pt x="123583" y="56830"/>
                  <a:pt x="121291" y="58341"/>
                  <a:pt x="118765" y="58341"/>
                </a:cubicBezTo>
                <a:close/>
                <a:moveTo>
                  <a:pt x="118765" y="75009"/>
                </a:moveTo>
                <a:cubicBezTo>
                  <a:pt x="121291" y="75009"/>
                  <a:pt x="123583" y="76520"/>
                  <a:pt x="124547" y="78864"/>
                </a:cubicBezTo>
                <a:cubicBezTo>
                  <a:pt x="125510" y="81208"/>
                  <a:pt x="124990" y="83891"/>
                  <a:pt x="123192" y="85688"/>
                </a:cubicBezTo>
                <a:lnTo>
                  <a:pt x="112775" y="96106"/>
                </a:lnTo>
                <a:lnTo>
                  <a:pt x="131891" y="115223"/>
                </a:lnTo>
                <a:cubicBezTo>
                  <a:pt x="132829" y="116160"/>
                  <a:pt x="133376" y="117437"/>
                  <a:pt x="133376" y="118791"/>
                </a:cubicBezTo>
                <a:cubicBezTo>
                  <a:pt x="133376" y="120145"/>
                  <a:pt x="132855" y="121395"/>
                  <a:pt x="131891" y="122359"/>
                </a:cubicBezTo>
                <a:lnTo>
                  <a:pt x="122333" y="131918"/>
                </a:lnTo>
                <a:cubicBezTo>
                  <a:pt x="121369" y="132829"/>
                  <a:pt x="120093" y="133350"/>
                  <a:pt x="118765" y="133350"/>
                </a:cubicBezTo>
                <a:cubicBezTo>
                  <a:pt x="117437" y="133350"/>
                  <a:pt x="116160" y="132829"/>
                  <a:pt x="115197" y="131865"/>
                </a:cubicBezTo>
                <a:lnTo>
                  <a:pt x="96106" y="112775"/>
                </a:lnTo>
                <a:lnTo>
                  <a:pt x="85688" y="123192"/>
                </a:lnTo>
                <a:cubicBezTo>
                  <a:pt x="83891" y="124990"/>
                  <a:pt x="81208" y="125510"/>
                  <a:pt x="78864" y="124547"/>
                </a:cubicBezTo>
                <a:cubicBezTo>
                  <a:pt x="76520" y="123583"/>
                  <a:pt x="75009" y="121291"/>
                  <a:pt x="75009" y="118765"/>
                </a:cubicBezTo>
                <a:lnTo>
                  <a:pt x="75009" y="81260"/>
                </a:lnTo>
                <a:cubicBezTo>
                  <a:pt x="75009" y="77796"/>
                  <a:pt x="77796" y="75009"/>
                  <a:pt x="81260" y="75009"/>
                </a:cubicBezTo>
                <a:lnTo>
                  <a:pt x="118765" y="75009"/>
                </a:lnTo>
                <a:close/>
                <a:moveTo>
                  <a:pt x="52090" y="75009"/>
                </a:moveTo>
                <a:cubicBezTo>
                  <a:pt x="55554" y="75009"/>
                  <a:pt x="58341" y="77796"/>
                  <a:pt x="58341" y="81260"/>
                </a:cubicBezTo>
                <a:lnTo>
                  <a:pt x="58341" y="118765"/>
                </a:lnTo>
                <a:cubicBezTo>
                  <a:pt x="58341" y="121291"/>
                  <a:pt x="56830" y="123583"/>
                  <a:pt x="54486" y="124547"/>
                </a:cubicBezTo>
                <a:cubicBezTo>
                  <a:pt x="52142" y="125510"/>
                  <a:pt x="49459" y="124990"/>
                  <a:pt x="47662" y="123192"/>
                </a:cubicBezTo>
                <a:lnTo>
                  <a:pt x="37244" y="112775"/>
                </a:lnTo>
                <a:lnTo>
                  <a:pt x="18127" y="131891"/>
                </a:lnTo>
                <a:cubicBezTo>
                  <a:pt x="17190" y="132829"/>
                  <a:pt x="15913" y="133350"/>
                  <a:pt x="14585" y="133350"/>
                </a:cubicBezTo>
                <a:cubicBezTo>
                  <a:pt x="13257" y="133350"/>
                  <a:pt x="11981" y="132829"/>
                  <a:pt x="11017" y="131865"/>
                </a:cubicBezTo>
                <a:lnTo>
                  <a:pt x="1485" y="122333"/>
                </a:lnTo>
                <a:cubicBezTo>
                  <a:pt x="521" y="121369"/>
                  <a:pt x="0" y="120093"/>
                  <a:pt x="0" y="118765"/>
                </a:cubicBezTo>
                <a:cubicBezTo>
                  <a:pt x="0" y="117437"/>
                  <a:pt x="521" y="116160"/>
                  <a:pt x="1485" y="115197"/>
                </a:cubicBezTo>
                <a:lnTo>
                  <a:pt x="20575" y="96106"/>
                </a:lnTo>
                <a:lnTo>
                  <a:pt x="10158" y="85688"/>
                </a:lnTo>
                <a:cubicBezTo>
                  <a:pt x="8360" y="83891"/>
                  <a:pt x="7840" y="81208"/>
                  <a:pt x="8803" y="78864"/>
                </a:cubicBezTo>
                <a:cubicBezTo>
                  <a:pt x="9767" y="76520"/>
                  <a:pt x="12059" y="75009"/>
                  <a:pt x="14585" y="75009"/>
                </a:cubicBezTo>
                <a:lnTo>
                  <a:pt x="52090" y="75009"/>
                </a:lnTo>
                <a:close/>
                <a:moveTo>
                  <a:pt x="14585" y="58341"/>
                </a:moveTo>
                <a:cubicBezTo>
                  <a:pt x="12059" y="58341"/>
                  <a:pt x="9767" y="56830"/>
                  <a:pt x="8803" y="54486"/>
                </a:cubicBezTo>
                <a:cubicBezTo>
                  <a:pt x="7840" y="52142"/>
                  <a:pt x="8386" y="49459"/>
                  <a:pt x="10158" y="47662"/>
                </a:cubicBezTo>
                <a:lnTo>
                  <a:pt x="20575" y="37244"/>
                </a:lnTo>
                <a:lnTo>
                  <a:pt x="1485" y="18153"/>
                </a:lnTo>
                <a:cubicBezTo>
                  <a:pt x="521" y="17190"/>
                  <a:pt x="0" y="15913"/>
                  <a:pt x="0" y="14585"/>
                </a:cubicBezTo>
                <a:cubicBezTo>
                  <a:pt x="0" y="13257"/>
                  <a:pt x="521" y="11981"/>
                  <a:pt x="1485" y="11017"/>
                </a:cubicBezTo>
                <a:lnTo>
                  <a:pt x="11017" y="1485"/>
                </a:lnTo>
                <a:cubicBezTo>
                  <a:pt x="11981" y="521"/>
                  <a:pt x="13257" y="0"/>
                  <a:pt x="14585" y="0"/>
                </a:cubicBezTo>
                <a:cubicBezTo>
                  <a:pt x="15913" y="0"/>
                  <a:pt x="17190" y="521"/>
                  <a:pt x="18153" y="1485"/>
                </a:cubicBezTo>
                <a:lnTo>
                  <a:pt x="37244" y="20575"/>
                </a:lnTo>
                <a:lnTo>
                  <a:pt x="47662" y="10158"/>
                </a:lnTo>
                <a:cubicBezTo>
                  <a:pt x="49459" y="8360"/>
                  <a:pt x="52142" y="7840"/>
                  <a:pt x="54486" y="8803"/>
                </a:cubicBezTo>
                <a:cubicBezTo>
                  <a:pt x="56830" y="9767"/>
                  <a:pt x="58341" y="12059"/>
                  <a:pt x="58341" y="14585"/>
                </a:cubicBezTo>
                <a:lnTo>
                  <a:pt x="58341" y="52090"/>
                </a:lnTo>
                <a:cubicBezTo>
                  <a:pt x="58341" y="55554"/>
                  <a:pt x="55554" y="58341"/>
                  <a:pt x="52090" y="58341"/>
                </a:cubicBezTo>
                <a:lnTo>
                  <a:pt x="14585" y="58341"/>
                </a:lnTo>
                <a:close/>
              </a:path>
            </a:pathLst>
          </a:custGeom>
          <a:solidFill>
            <a:srgbClr val="86868B"/>
          </a:solidFill>
          <a:ln/>
        </p:spPr>
      </p:sp>
      <p:sp>
        <p:nvSpPr>
          <p:cNvPr id="80" name="Text 78"/>
          <p:cNvSpPr/>
          <p:nvPr/>
        </p:nvSpPr>
        <p:spPr>
          <a:xfrm>
            <a:off x="7754660" y="4312923"/>
            <a:ext cx="10191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Dimensionality ↓</a:t>
            </a:r>
            <a:endParaRPr lang="en-US" sz="1600" dirty="0"/>
          </a:p>
        </p:txBody>
      </p:sp>
      <p:sp>
        <p:nvSpPr>
          <p:cNvPr id="81" name="Shape 79"/>
          <p:cNvSpPr/>
          <p:nvPr/>
        </p:nvSpPr>
        <p:spPr>
          <a:xfrm>
            <a:off x="9505117" y="2312673"/>
            <a:ext cx="2066925" cy="2838450"/>
          </a:xfrm>
          <a:custGeom>
            <a:avLst/>
            <a:gdLst/>
            <a:ahLst/>
            <a:cxnLst/>
            <a:rect l="l" t="t" r="r" b="b"/>
            <a:pathLst>
              <a:path w="2066925" h="2838450">
                <a:moveTo>
                  <a:pt x="38100" y="0"/>
                </a:moveTo>
                <a:lnTo>
                  <a:pt x="2028825" y="0"/>
                </a:lnTo>
                <a:cubicBezTo>
                  <a:pt x="2049853" y="0"/>
                  <a:pt x="2066925" y="17072"/>
                  <a:pt x="2066925" y="38100"/>
                </a:cubicBezTo>
                <a:lnTo>
                  <a:pt x="2066925" y="2686056"/>
                </a:lnTo>
                <a:cubicBezTo>
                  <a:pt x="2066925" y="2770221"/>
                  <a:pt x="1998696" y="2838450"/>
                  <a:pt x="1914531" y="2838450"/>
                </a:cubicBezTo>
                <a:lnTo>
                  <a:pt x="152394" y="2838450"/>
                </a:lnTo>
                <a:cubicBezTo>
                  <a:pt x="68229" y="2838450"/>
                  <a:pt x="0" y="2770221"/>
                  <a:pt x="0" y="2686056"/>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82" name="Shape 80"/>
          <p:cNvSpPr/>
          <p:nvPr/>
        </p:nvSpPr>
        <p:spPr>
          <a:xfrm>
            <a:off x="9505117" y="2312673"/>
            <a:ext cx="2066925" cy="38100"/>
          </a:xfrm>
          <a:custGeom>
            <a:avLst/>
            <a:gdLst/>
            <a:ahLst/>
            <a:cxnLst/>
            <a:rect l="l" t="t" r="r" b="b"/>
            <a:pathLst>
              <a:path w="2066925" h="38100">
                <a:moveTo>
                  <a:pt x="38100" y="0"/>
                </a:moveTo>
                <a:lnTo>
                  <a:pt x="2028825" y="0"/>
                </a:lnTo>
                <a:cubicBezTo>
                  <a:pt x="2049853" y="0"/>
                  <a:pt x="2066925" y="17072"/>
                  <a:pt x="2066925" y="38100"/>
                </a:cubicBezTo>
                <a:lnTo>
                  <a:pt x="2066925" y="38100"/>
                </a:lnTo>
                <a:lnTo>
                  <a:pt x="0" y="38100"/>
                </a:lnTo>
                <a:lnTo>
                  <a:pt x="0" y="38100"/>
                </a:lnTo>
                <a:cubicBezTo>
                  <a:pt x="0" y="17072"/>
                  <a:pt x="17072" y="0"/>
                  <a:pt x="38100" y="0"/>
                </a:cubicBezTo>
                <a:close/>
              </a:path>
            </a:pathLst>
          </a:custGeom>
          <a:solidFill>
            <a:srgbClr val="0071E3"/>
          </a:solidFill>
          <a:ln/>
        </p:spPr>
      </p:sp>
      <p:sp>
        <p:nvSpPr>
          <p:cNvPr id="83" name="Shape 81"/>
          <p:cNvSpPr/>
          <p:nvPr/>
        </p:nvSpPr>
        <p:spPr>
          <a:xfrm>
            <a:off x="9657517" y="24841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84" name="Text 82"/>
          <p:cNvSpPr/>
          <p:nvPr/>
        </p:nvSpPr>
        <p:spPr>
          <a:xfrm>
            <a:off x="9619417" y="2484123"/>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5</a:t>
            </a:r>
            <a:endParaRPr lang="en-US" sz="1600" dirty="0"/>
          </a:p>
        </p:txBody>
      </p:sp>
      <p:sp>
        <p:nvSpPr>
          <p:cNvPr id="85" name="Text 83"/>
          <p:cNvSpPr/>
          <p:nvPr/>
        </p:nvSpPr>
        <p:spPr>
          <a:xfrm>
            <a:off x="10114716" y="2560323"/>
            <a:ext cx="10763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Lemmatization</a:t>
            </a:r>
            <a:endParaRPr lang="en-US" sz="1600" dirty="0"/>
          </a:p>
        </p:txBody>
      </p:sp>
      <p:sp>
        <p:nvSpPr>
          <p:cNvPr id="86" name="Shape 84"/>
          <p:cNvSpPr/>
          <p:nvPr/>
        </p:nvSpPr>
        <p:spPr>
          <a:xfrm>
            <a:off x="9657517" y="29794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87" name="Shape 85"/>
          <p:cNvSpPr/>
          <p:nvPr/>
        </p:nvSpPr>
        <p:spPr>
          <a:xfrm>
            <a:off x="9744433" y="3084198"/>
            <a:ext cx="150019" cy="133350"/>
          </a:xfrm>
          <a:custGeom>
            <a:avLst/>
            <a:gdLst/>
            <a:ahLst/>
            <a:cxnLst/>
            <a:rect l="l" t="t" r="r" b="b"/>
            <a:pathLst>
              <a:path w="150019" h="133350">
                <a:moveTo>
                  <a:pt x="41672" y="0"/>
                </a:moveTo>
                <a:cubicBezTo>
                  <a:pt x="46282" y="0"/>
                  <a:pt x="50006" y="3724"/>
                  <a:pt x="50006" y="8334"/>
                </a:cubicBezTo>
                <a:lnTo>
                  <a:pt x="50006" y="16669"/>
                </a:lnTo>
                <a:lnTo>
                  <a:pt x="83344" y="16669"/>
                </a:lnTo>
                <a:cubicBezTo>
                  <a:pt x="87954" y="16669"/>
                  <a:pt x="91678" y="20393"/>
                  <a:pt x="91678" y="25003"/>
                </a:cubicBezTo>
                <a:cubicBezTo>
                  <a:pt x="91678" y="29613"/>
                  <a:pt x="87954" y="33337"/>
                  <a:pt x="83344" y="33337"/>
                </a:cubicBezTo>
                <a:lnTo>
                  <a:pt x="80843" y="33337"/>
                </a:lnTo>
                <a:lnTo>
                  <a:pt x="78656" y="39354"/>
                </a:lnTo>
                <a:cubicBezTo>
                  <a:pt x="74384" y="51126"/>
                  <a:pt x="67951" y="61883"/>
                  <a:pt x="59851" y="71129"/>
                </a:cubicBezTo>
                <a:cubicBezTo>
                  <a:pt x="63550" y="73421"/>
                  <a:pt x="67404" y="75452"/>
                  <a:pt x="71415" y="77249"/>
                </a:cubicBezTo>
                <a:lnTo>
                  <a:pt x="84542" y="83083"/>
                </a:lnTo>
                <a:lnTo>
                  <a:pt x="100742" y="46620"/>
                </a:lnTo>
                <a:cubicBezTo>
                  <a:pt x="102070" y="43599"/>
                  <a:pt x="105065" y="41672"/>
                  <a:pt x="108347" y="41672"/>
                </a:cubicBezTo>
                <a:cubicBezTo>
                  <a:pt x="111629" y="41672"/>
                  <a:pt x="114624" y="43599"/>
                  <a:pt x="115952" y="46620"/>
                </a:cubicBezTo>
                <a:lnTo>
                  <a:pt x="149289" y="121630"/>
                </a:lnTo>
                <a:cubicBezTo>
                  <a:pt x="151165" y="125849"/>
                  <a:pt x="149263" y="130772"/>
                  <a:pt x="145070" y="132621"/>
                </a:cubicBezTo>
                <a:cubicBezTo>
                  <a:pt x="140877" y="134470"/>
                  <a:pt x="135928" y="132595"/>
                  <a:pt x="134079" y="128401"/>
                </a:cubicBezTo>
                <a:lnTo>
                  <a:pt x="128870" y="116681"/>
                </a:lnTo>
                <a:lnTo>
                  <a:pt x="87850" y="116681"/>
                </a:lnTo>
                <a:lnTo>
                  <a:pt x="82641" y="128401"/>
                </a:lnTo>
                <a:cubicBezTo>
                  <a:pt x="80765" y="132621"/>
                  <a:pt x="75843" y="134496"/>
                  <a:pt x="71650" y="132621"/>
                </a:cubicBezTo>
                <a:cubicBezTo>
                  <a:pt x="67456" y="130746"/>
                  <a:pt x="65555" y="125823"/>
                  <a:pt x="67430" y="121630"/>
                </a:cubicBezTo>
                <a:lnTo>
                  <a:pt x="77796" y="98320"/>
                </a:lnTo>
                <a:lnTo>
                  <a:pt x="64670" y="92486"/>
                </a:lnTo>
                <a:cubicBezTo>
                  <a:pt x="58679" y="89829"/>
                  <a:pt x="52949" y="86651"/>
                  <a:pt x="47532" y="83005"/>
                </a:cubicBezTo>
                <a:cubicBezTo>
                  <a:pt x="41984" y="87485"/>
                  <a:pt x="35916" y="91392"/>
                  <a:pt x="29431" y="94647"/>
                </a:cubicBezTo>
                <a:lnTo>
                  <a:pt x="20393" y="99127"/>
                </a:lnTo>
                <a:cubicBezTo>
                  <a:pt x="16278" y="101185"/>
                  <a:pt x="11277" y="99518"/>
                  <a:pt x="9220" y="95403"/>
                </a:cubicBezTo>
                <a:cubicBezTo>
                  <a:pt x="7162" y="91287"/>
                  <a:pt x="8829" y="86287"/>
                  <a:pt x="12944" y="84229"/>
                </a:cubicBezTo>
                <a:lnTo>
                  <a:pt x="21930" y="79724"/>
                </a:lnTo>
                <a:cubicBezTo>
                  <a:pt x="26175" y="77588"/>
                  <a:pt x="30212" y="75114"/>
                  <a:pt x="34015" y="72353"/>
                </a:cubicBezTo>
                <a:cubicBezTo>
                  <a:pt x="30420" y="69045"/>
                  <a:pt x="27035" y="65477"/>
                  <a:pt x="23883" y="61700"/>
                </a:cubicBezTo>
                <a:lnTo>
                  <a:pt x="21253" y="58523"/>
                </a:lnTo>
                <a:cubicBezTo>
                  <a:pt x="18310" y="54981"/>
                  <a:pt x="18778" y="49720"/>
                  <a:pt x="22320" y="46777"/>
                </a:cubicBezTo>
                <a:cubicBezTo>
                  <a:pt x="25863" y="43834"/>
                  <a:pt x="31124" y="44302"/>
                  <a:pt x="34067" y="47845"/>
                </a:cubicBezTo>
                <a:lnTo>
                  <a:pt x="36723" y="51022"/>
                </a:lnTo>
                <a:cubicBezTo>
                  <a:pt x="39719" y="54642"/>
                  <a:pt x="43000" y="58002"/>
                  <a:pt x="46464" y="61101"/>
                </a:cubicBezTo>
                <a:cubicBezTo>
                  <a:pt x="53626" y="53184"/>
                  <a:pt x="59278" y="43886"/>
                  <a:pt x="63003" y="33650"/>
                </a:cubicBezTo>
                <a:lnTo>
                  <a:pt x="63133" y="33337"/>
                </a:lnTo>
                <a:lnTo>
                  <a:pt x="8360" y="33337"/>
                </a:lnTo>
                <a:cubicBezTo>
                  <a:pt x="3724" y="33337"/>
                  <a:pt x="0" y="29613"/>
                  <a:pt x="0" y="25003"/>
                </a:cubicBezTo>
                <a:cubicBezTo>
                  <a:pt x="0" y="20393"/>
                  <a:pt x="3724" y="16669"/>
                  <a:pt x="8334" y="16669"/>
                </a:cubicBezTo>
                <a:lnTo>
                  <a:pt x="33337" y="16669"/>
                </a:lnTo>
                <a:lnTo>
                  <a:pt x="33337" y="8334"/>
                </a:lnTo>
                <a:cubicBezTo>
                  <a:pt x="33337" y="3724"/>
                  <a:pt x="37062" y="0"/>
                  <a:pt x="41672" y="0"/>
                </a:cubicBezTo>
                <a:close/>
                <a:moveTo>
                  <a:pt x="108347" y="70530"/>
                </a:moveTo>
                <a:lnTo>
                  <a:pt x="95246" y="100013"/>
                </a:lnTo>
                <a:lnTo>
                  <a:pt x="121447" y="100013"/>
                </a:lnTo>
                <a:lnTo>
                  <a:pt x="108347" y="70530"/>
                </a:lnTo>
                <a:close/>
              </a:path>
            </a:pathLst>
          </a:custGeom>
          <a:solidFill>
            <a:srgbClr val="86868B"/>
          </a:solidFill>
          <a:ln/>
        </p:spPr>
      </p:sp>
      <p:sp>
        <p:nvSpPr>
          <p:cNvPr id="88" name="Text 86"/>
          <p:cNvSpPr/>
          <p:nvPr/>
        </p:nvSpPr>
        <p:spPr>
          <a:xfrm>
            <a:off x="9976604" y="3055623"/>
            <a:ext cx="6667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Base Form</a:t>
            </a:r>
            <a:endParaRPr lang="en-US" sz="1600" dirty="0"/>
          </a:p>
        </p:txBody>
      </p:sp>
      <p:sp>
        <p:nvSpPr>
          <p:cNvPr id="89" name="Shape 87"/>
          <p:cNvSpPr/>
          <p:nvPr/>
        </p:nvSpPr>
        <p:spPr>
          <a:xfrm>
            <a:off x="9657517" y="33985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90" name="Shape 88"/>
          <p:cNvSpPr/>
          <p:nvPr/>
        </p:nvSpPr>
        <p:spPr>
          <a:xfrm>
            <a:off x="9761101" y="3503298"/>
            <a:ext cx="116681" cy="133350"/>
          </a:xfrm>
          <a:custGeom>
            <a:avLst/>
            <a:gdLst/>
            <a:ahLst/>
            <a:cxnLst/>
            <a:rect l="l" t="t" r="r" b="b"/>
            <a:pathLst>
              <a:path w="116681" h="133350">
                <a:moveTo>
                  <a:pt x="41672" y="16669"/>
                </a:moveTo>
                <a:cubicBezTo>
                  <a:pt x="41672" y="12059"/>
                  <a:pt x="37947" y="8334"/>
                  <a:pt x="33337" y="8334"/>
                </a:cubicBezTo>
                <a:cubicBezTo>
                  <a:pt x="28728" y="8334"/>
                  <a:pt x="25003" y="12059"/>
                  <a:pt x="25003" y="16669"/>
                </a:cubicBezTo>
                <a:lnTo>
                  <a:pt x="25003" y="33337"/>
                </a:lnTo>
                <a:lnTo>
                  <a:pt x="8334" y="33337"/>
                </a:lnTo>
                <a:cubicBezTo>
                  <a:pt x="3724" y="33337"/>
                  <a:pt x="0" y="37062"/>
                  <a:pt x="0" y="41672"/>
                </a:cubicBezTo>
                <a:cubicBezTo>
                  <a:pt x="0" y="46282"/>
                  <a:pt x="3724" y="50006"/>
                  <a:pt x="8334" y="50006"/>
                </a:cubicBezTo>
                <a:lnTo>
                  <a:pt x="33337" y="50006"/>
                </a:lnTo>
                <a:cubicBezTo>
                  <a:pt x="37947" y="50006"/>
                  <a:pt x="41672" y="46282"/>
                  <a:pt x="41672" y="41672"/>
                </a:cubicBezTo>
                <a:lnTo>
                  <a:pt x="41672" y="16669"/>
                </a:lnTo>
                <a:close/>
                <a:moveTo>
                  <a:pt x="8334" y="83344"/>
                </a:moveTo>
                <a:cubicBezTo>
                  <a:pt x="3724" y="83344"/>
                  <a:pt x="0" y="87068"/>
                  <a:pt x="0" y="91678"/>
                </a:cubicBezTo>
                <a:cubicBezTo>
                  <a:pt x="0" y="96288"/>
                  <a:pt x="3724" y="100013"/>
                  <a:pt x="8334" y="100013"/>
                </a:cubicBezTo>
                <a:lnTo>
                  <a:pt x="25003" y="100013"/>
                </a:lnTo>
                <a:lnTo>
                  <a:pt x="25003" y="116681"/>
                </a:lnTo>
                <a:cubicBezTo>
                  <a:pt x="25003" y="121291"/>
                  <a:pt x="28728" y="125016"/>
                  <a:pt x="33337" y="125016"/>
                </a:cubicBezTo>
                <a:cubicBezTo>
                  <a:pt x="37947" y="125016"/>
                  <a:pt x="41672" y="121291"/>
                  <a:pt x="41672" y="116681"/>
                </a:cubicBezTo>
                <a:lnTo>
                  <a:pt x="41672" y="91678"/>
                </a:lnTo>
                <a:cubicBezTo>
                  <a:pt x="41672" y="87068"/>
                  <a:pt x="37947" y="83344"/>
                  <a:pt x="33337" y="83344"/>
                </a:cubicBezTo>
                <a:lnTo>
                  <a:pt x="8334" y="83344"/>
                </a:lnTo>
                <a:close/>
                <a:moveTo>
                  <a:pt x="91678" y="16669"/>
                </a:moveTo>
                <a:cubicBezTo>
                  <a:pt x="91678" y="12059"/>
                  <a:pt x="87954" y="8334"/>
                  <a:pt x="83344" y="8334"/>
                </a:cubicBezTo>
                <a:cubicBezTo>
                  <a:pt x="78734" y="8334"/>
                  <a:pt x="75009" y="12059"/>
                  <a:pt x="75009" y="16669"/>
                </a:cubicBezTo>
                <a:lnTo>
                  <a:pt x="75009" y="41672"/>
                </a:lnTo>
                <a:cubicBezTo>
                  <a:pt x="75009" y="46282"/>
                  <a:pt x="78734" y="50006"/>
                  <a:pt x="83344" y="50006"/>
                </a:cubicBezTo>
                <a:lnTo>
                  <a:pt x="108347" y="50006"/>
                </a:lnTo>
                <a:cubicBezTo>
                  <a:pt x="112957" y="50006"/>
                  <a:pt x="116681" y="46282"/>
                  <a:pt x="116681" y="41672"/>
                </a:cubicBezTo>
                <a:cubicBezTo>
                  <a:pt x="116681" y="37062"/>
                  <a:pt x="112957" y="33337"/>
                  <a:pt x="108347" y="33337"/>
                </a:cubicBezTo>
                <a:lnTo>
                  <a:pt x="91678" y="33337"/>
                </a:lnTo>
                <a:lnTo>
                  <a:pt x="91678" y="16669"/>
                </a:lnTo>
                <a:close/>
                <a:moveTo>
                  <a:pt x="83344" y="83344"/>
                </a:moveTo>
                <a:cubicBezTo>
                  <a:pt x="78734" y="83344"/>
                  <a:pt x="75009" y="87068"/>
                  <a:pt x="75009" y="91678"/>
                </a:cubicBezTo>
                <a:lnTo>
                  <a:pt x="75009" y="116681"/>
                </a:lnTo>
                <a:cubicBezTo>
                  <a:pt x="75009" y="121291"/>
                  <a:pt x="78734" y="125016"/>
                  <a:pt x="83344" y="125016"/>
                </a:cubicBezTo>
                <a:cubicBezTo>
                  <a:pt x="87954" y="125016"/>
                  <a:pt x="91678" y="121291"/>
                  <a:pt x="91678" y="116681"/>
                </a:cubicBezTo>
                <a:lnTo>
                  <a:pt x="91678" y="100013"/>
                </a:lnTo>
                <a:lnTo>
                  <a:pt x="108347" y="100013"/>
                </a:lnTo>
                <a:cubicBezTo>
                  <a:pt x="112957" y="100013"/>
                  <a:pt x="116681" y="96288"/>
                  <a:pt x="116681" y="91678"/>
                </a:cubicBezTo>
                <a:cubicBezTo>
                  <a:pt x="116681" y="87068"/>
                  <a:pt x="112957" y="83344"/>
                  <a:pt x="108347" y="83344"/>
                </a:cubicBezTo>
                <a:lnTo>
                  <a:pt x="83344" y="83344"/>
                </a:lnTo>
                <a:close/>
              </a:path>
            </a:pathLst>
          </a:custGeom>
          <a:solidFill>
            <a:srgbClr val="86868B"/>
          </a:solidFill>
          <a:ln/>
        </p:spPr>
      </p:sp>
      <p:sp>
        <p:nvSpPr>
          <p:cNvPr id="91" name="Text 89"/>
          <p:cNvSpPr/>
          <p:nvPr/>
        </p:nvSpPr>
        <p:spPr>
          <a:xfrm>
            <a:off x="9976604" y="3474723"/>
            <a:ext cx="102870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Word Reduction</a:t>
            </a:r>
            <a:endParaRPr lang="en-US" sz="1600" dirty="0"/>
          </a:p>
        </p:txBody>
      </p:sp>
      <p:sp>
        <p:nvSpPr>
          <p:cNvPr id="92" name="Shape 90"/>
          <p:cNvSpPr/>
          <p:nvPr/>
        </p:nvSpPr>
        <p:spPr>
          <a:xfrm>
            <a:off x="9657517" y="38176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93" name="Shape 91"/>
          <p:cNvSpPr/>
          <p:nvPr/>
        </p:nvSpPr>
        <p:spPr>
          <a:xfrm>
            <a:off x="9752767" y="3922398"/>
            <a:ext cx="133350" cy="133350"/>
          </a:xfrm>
          <a:custGeom>
            <a:avLst/>
            <a:gdLst/>
            <a:ahLst/>
            <a:cxnLst/>
            <a:rect l="l" t="t" r="r" b="b"/>
            <a:pathLst>
              <a:path w="133350" h="133350">
                <a:moveTo>
                  <a:pt x="16669" y="16669"/>
                </a:moveTo>
                <a:cubicBezTo>
                  <a:pt x="16669" y="12059"/>
                  <a:pt x="12944" y="8334"/>
                  <a:pt x="8334" y="8334"/>
                </a:cubicBezTo>
                <a:cubicBezTo>
                  <a:pt x="3724" y="8334"/>
                  <a:pt x="0" y="12059"/>
                  <a:pt x="0" y="16669"/>
                </a:cubicBezTo>
                <a:lnTo>
                  <a:pt x="0" y="104180"/>
                </a:lnTo>
                <a:cubicBezTo>
                  <a:pt x="0" y="115692"/>
                  <a:pt x="9324" y="125016"/>
                  <a:pt x="20836" y="125016"/>
                </a:cubicBezTo>
                <a:lnTo>
                  <a:pt x="125016" y="125016"/>
                </a:lnTo>
                <a:cubicBezTo>
                  <a:pt x="129626" y="125016"/>
                  <a:pt x="133350" y="121291"/>
                  <a:pt x="133350" y="116681"/>
                </a:cubicBezTo>
                <a:cubicBezTo>
                  <a:pt x="133350" y="112071"/>
                  <a:pt x="129626" y="108347"/>
                  <a:pt x="125016" y="108347"/>
                </a:cubicBezTo>
                <a:lnTo>
                  <a:pt x="20836" y="108347"/>
                </a:lnTo>
                <a:cubicBezTo>
                  <a:pt x="18544" y="108347"/>
                  <a:pt x="16669" y="106472"/>
                  <a:pt x="16669" y="104180"/>
                </a:cubicBezTo>
                <a:lnTo>
                  <a:pt x="16669" y="16669"/>
                </a:lnTo>
                <a:close/>
                <a:moveTo>
                  <a:pt x="122567" y="39224"/>
                </a:moveTo>
                <a:cubicBezTo>
                  <a:pt x="125823" y="35968"/>
                  <a:pt x="125823" y="30681"/>
                  <a:pt x="122567" y="27425"/>
                </a:cubicBezTo>
                <a:cubicBezTo>
                  <a:pt x="119312" y="24170"/>
                  <a:pt x="114025" y="24170"/>
                  <a:pt x="110769" y="27425"/>
                </a:cubicBezTo>
                <a:lnTo>
                  <a:pt x="83344" y="54877"/>
                </a:lnTo>
                <a:lnTo>
                  <a:pt x="68394" y="39953"/>
                </a:lnTo>
                <a:cubicBezTo>
                  <a:pt x="65138" y="36697"/>
                  <a:pt x="59851" y="36697"/>
                  <a:pt x="56596" y="39953"/>
                </a:cubicBezTo>
                <a:lnTo>
                  <a:pt x="31592" y="64956"/>
                </a:lnTo>
                <a:cubicBezTo>
                  <a:pt x="28337" y="68212"/>
                  <a:pt x="28337" y="73499"/>
                  <a:pt x="31592" y="76754"/>
                </a:cubicBezTo>
                <a:cubicBezTo>
                  <a:pt x="34848" y="80010"/>
                  <a:pt x="40135" y="80010"/>
                  <a:pt x="43391" y="76754"/>
                </a:cubicBezTo>
                <a:lnTo>
                  <a:pt x="62508" y="57637"/>
                </a:lnTo>
                <a:lnTo>
                  <a:pt x="77458" y="72587"/>
                </a:lnTo>
                <a:cubicBezTo>
                  <a:pt x="80713" y="75843"/>
                  <a:pt x="86000" y="75843"/>
                  <a:pt x="89256" y="72587"/>
                </a:cubicBezTo>
                <a:lnTo>
                  <a:pt x="122593" y="39250"/>
                </a:lnTo>
                <a:close/>
              </a:path>
            </a:pathLst>
          </a:custGeom>
          <a:solidFill>
            <a:srgbClr val="86868B"/>
          </a:solidFill>
          <a:ln/>
        </p:spPr>
      </p:sp>
      <p:sp>
        <p:nvSpPr>
          <p:cNvPr id="94" name="Text 92"/>
          <p:cNvSpPr/>
          <p:nvPr/>
        </p:nvSpPr>
        <p:spPr>
          <a:xfrm>
            <a:off x="9976604" y="3893823"/>
            <a:ext cx="90487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Performance ↑</a:t>
            </a:r>
            <a:endParaRPr lang="en-US" sz="1600" dirty="0"/>
          </a:p>
        </p:txBody>
      </p:sp>
      <p:sp>
        <p:nvSpPr>
          <p:cNvPr id="95" name="Shape 93"/>
          <p:cNvSpPr/>
          <p:nvPr/>
        </p:nvSpPr>
        <p:spPr>
          <a:xfrm>
            <a:off x="9657517" y="4236723"/>
            <a:ext cx="1762125" cy="342900"/>
          </a:xfrm>
          <a:custGeom>
            <a:avLst/>
            <a:gdLst/>
            <a:ahLst/>
            <a:cxnLst/>
            <a:rect l="l" t="t" r="r" b="b"/>
            <a:pathLst>
              <a:path w="1762125" h="342900">
                <a:moveTo>
                  <a:pt x="76199" y="0"/>
                </a:moveTo>
                <a:lnTo>
                  <a:pt x="1685926" y="0"/>
                </a:lnTo>
                <a:cubicBezTo>
                  <a:pt x="1728009" y="0"/>
                  <a:pt x="1762125" y="34116"/>
                  <a:pt x="1762125" y="76199"/>
                </a:cubicBezTo>
                <a:lnTo>
                  <a:pt x="1762125" y="266701"/>
                </a:lnTo>
                <a:cubicBezTo>
                  <a:pt x="1762125" y="308784"/>
                  <a:pt x="1728009" y="342900"/>
                  <a:pt x="1685926" y="342900"/>
                </a:cubicBezTo>
                <a:lnTo>
                  <a:pt x="76199" y="342900"/>
                </a:lnTo>
                <a:cubicBezTo>
                  <a:pt x="34144" y="342900"/>
                  <a:pt x="0" y="308756"/>
                  <a:pt x="0" y="266701"/>
                </a:cubicBezTo>
                <a:lnTo>
                  <a:pt x="0" y="76199"/>
                </a:lnTo>
                <a:cubicBezTo>
                  <a:pt x="0" y="34144"/>
                  <a:pt x="34144" y="0"/>
                  <a:pt x="76199" y="0"/>
                </a:cubicBezTo>
                <a:close/>
              </a:path>
            </a:pathLst>
          </a:custGeom>
          <a:solidFill>
            <a:srgbClr val="F5F5F7"/>
          </a:solidFill>
          <a:ln/>
        </p:spPr>
      </p:sp>
      <p:sp>
        <p:nvSpPr>
          <p:cNvPr id="96" name="Shape 94"/>
          <p:cNvSpPr/>
          <p:nvPr/>
        </p:nvSpPr>
        <p:spPr>
          <a:xfrm>
            <a:off x="9752767" y="434149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86868B"/>
          </a:solidFill>
          <a:ln/>
        </p:spPr>
      </p:sp>
      <p:sp>
        <p:nvSpPr>
          <p:cNvPr id="97" name="Text 95"/>
          <p:cNvSpPr/>
          <p:nvPr/>
        </p:nvSpPr>
        <p:spPr>
          <a:xfrm>
            <a:off x="9976604" y="4312923"/>
            <a:ext cx="83820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Quattrocento Sans" pitchFamily="34" charset="0"/>
                <a:ea typeface="Quattrocento Sans" pitchFamily="34" charset="-122"/>
                <a:cs typeface="Quattrocento Sans" pitchFamily="34" charset="-120"/>
              </a:rPr>
              <a:t>Quality Boost</a:t>
            </a:r>
            <a:endParaRPr lang="en-US" sz="1600" dirty="0"/>
          </a:p>
        </p:txBody>
      </p:sp>
      <p:sp>
        <p:nvSpPr>
          <p:cNvPr id="98" name="Shape 96"/>
          <p:cNvSpPr/>
          <p:nvPr/>
        </p:nvSpPr>
        <p:spPr>
          <a:xfrm>
            <a:off x="4077295" y="5341623"/>
            <a:ext cx="2066925" cy="381000"/>
          </a:xfrm>
          <a:custGeom>
            <a:avLst/>
            <a:gdLst/>
            <a:ahLst/>
            <a:cxnLst/>
            <a:rect l="l" t="t" r="r" b="b"/>
            <a:pathLst>
              <a:path w="2066925" h="381000">
                <a:moveTo>
                  <a:pt x="190500" y="0"/>
                </a:moveTo>
                <a:lnTo>
                  <a:pt x="1876425" y="0"/>
                </a:lnTo>
                <a:cubicBezTo>
                  <a:pt x="1981565" y="0"/>
                  <a:pt x="2066925" y="85360"/>
                  <a:pt x="2066925" y="190500"/>
                </a:cubicBezTo>
                <a:lnTo>
                  <a:pt x="2066925" y="190500"/>
                </a:lnTo>
                <a:cubicBezTo>
                  <a:pt x="2066925" y="295640"/>
                  <a:pt x="1981565" y="381000"/>
                  <a:pt x="1876425"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alpha val="10196"/>
            </a:srgbClr>
          </a:solidFill>
          <a:ln/>
        </p:spPr>
      </p:sp>
      <p:sp>
        <p:nvSpPr>
          <p:cNvPr id="99" name="Shape 97"/>
          <p:cNvSpPr/>
          <p:nvPr/>
        </p:nvSpPr>
        <p:spPr>
          <a:xfrm>
            <a:off x="4305895" y="5455923"/>
            <a:ext cx="114300" cy="152400"/>
          </a:xfrm>
          <a:custGeom>
            <a:avLst/>
            <a:gdLst/>
            <a:ahLst/>
            <a:cxnLst/>
            <a:rect l="l" t="t" r="r" b="b"/>
            <a:pathLst>
              <a:path w="114300" h="152400">
                <a:moveTo>
                  <a:pt x="74384" y="19883"/>
                </a:moveTo>
                <a:cubicBezTo>
                  <a:pt x="77480" y="15627"/>
                  <a:pt x="76527" y="9674"/>
                  <a:pt x="72271" y="6578"/>
                </a:cubicBezTo>
                <a:cubicBezTo>
                  <a:pt x="68014" y="3483"/>
                  <a:pt x="62061" y="4435"/>
                  <a:pt x="58966" y="8692"/>
                </a:cubicBezTo>
                <a:lnTo>
                  <a:pt x="27414" y="52060"/>
                </a:lnTo>
                <a:lnTo>
                  <a:pt x="16252" y="40898"/>
                </a:lnTo>
                <a:cubicBezTo>
                  <a:pt x="12531" y="37177"/>
                  <a:pt x="6489" y="37177"/>
                  <a:pt x="2768" y="40898"/>
                </a:cubicBezTo>
                <a:cubicBezTo>
                  <a:pt x="-952" y="44619"/>
                  <a:pt x="-952" y="50661"/>
                  <a:pt x="2768" y="54382"/>
                </a:cubicBezTo>
                <a:lnTo>
                  <a:pt x="21818" y="73432"/>
                </a:lnTo>
                <a:cubicBezTo>
                  <a:pt x="23783" y="75396"/>
                  <a:pt x="26521" y="76408"/>
                  <a:pt x="29289" y="76200"/>
                </a:cubicBezTo>
                <a:cubicBezTo>
                  <a:pt x="32058" y="75992"/>
                  <a:pt x="34617" y="74563"/>
                  <a:pt x="36255" y="72301"/>
                </a:cubicBezTo>
                <a:lnTo>
                  <a:pt x="74355" y="19913"/>
                </a:lnTo>
                <a:close/>
                <a:moveTo>
                  <a:pt x="112484" y="60365"/>
                </a:moveTo>
                <a:cubicBezTo>
                  <a:pt x="115580" y="56108"/>
                  <a:pt x="114627" y="50155"/>
                  <a:pt x="110371" y="47059"/>
                </a:cubicBezTo>
                <a:cubicBezTo>
                  <a:pt x="106114" y="43964"/>
                  <a:pt x="100161" y="44916"/>
                  <a:pt x="97066" y="49173"/>
                </a:cubicBezTo>
                <a:lnTo>
                  <a:pt x="46464" y="118735"/>
                </a:lnTo>
                <a:lnTo>
                  <a:pt x="25777" y="98048"/>
                </a:lnTo>
                <a:cubicBezTo>
                  <a:pt x="22056" y="94327"/>
                  <a:pt x="16014" y="94327"/>
                  <a:pt x="12293" y="98048"/>
                </a:cubicBezTo>
                <a:cubicBezTo>
                  <a:pt x="8572" y="101769"/>
                  <a:pt x="8572" y="107811"/>
                  <a:pt x="12293" y="111532"/>
                </a:cubicBezTo>
                <a:lnTo>
                  <a:pt x="40868" y="140107"/>
                </a:lnTo>
                <a:cubicBezTo>
                  <a:pt x="42833" y="142071"/>
                  <a:pt x="45571" y="143083"/>
                  <a:pt x="48339" y="142875"/>
                </a:cubicBezTo>
                <a:cubicBezTo>
                  <a:pt x="51108" y="142667"/>
                  <a:pt x="53667" y="141238"/>
                  <a:pt x="55305" y="138976"/>
                </a:cubicBezTo>
                <a:lnTo>
                  <a:pt x="112455" y="60394"/>
                </a:lnTo>
                <a:close/>
              </a:path>
            </a:pathLst>
          </a:custGeom>
          <a:solidFill>
            <a:srgbClr val="0071E3"/>
          </a:solidFill>
          <a:ln/>
        </p:spPr>
      </p:sp>
      <p:sp>
        <p:nvSpPr>
          <p:cNvPr id="100" name="Text 98"/>
          <p:cNvSpPr/>
          <p:nvPr/>
        </p:nvSpPr>
        <p:spPr>
          <a:xfrm>
            <a:off x="4534495" y="5436873"/>
            <a:ext cx="148590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Comprehensive Pipeline</a:t>
            </a:r>
            <a:endParaRPr lang="en-US" sz="1600" dirty="0"/>
          </a:p>
        </p:txBody>
      </p:sp>
      <p:sp>
        <p:nvSpPr>
          <p:cNvPr id="101" name="Shape 99"/>
          <p:cNvSpPr/>
          <p:nvPr/>
        </p:nvSpPr>
        <p:spPr>
          <a:xfrm>
            <a:off x="6261854" y="5341623"/>
            <a:ext cx="1857375" cy="381000"/>
          </a:xfrm>
          <a:custGeom>
            <a:avLst/>
            <a:gdLst/>
            <a:ahLst/>
            <a:cxnLst/>
            <a:rect l="l" t="t" r="r" b="b"/>
            <a:pathLst>
              <a:path w="1857375" h="381000">
                <a:moveTo>
                  <a:pt x="190500" y="0"/>
                </a:moveTo>
                <a:lnTo>
                  <a:pt x="1666875" y="0"/>
                </a:lnTo>
                <a:cubicBezTo>
                  <a:pt x="1772015" y="0"/>
                  <a:pt x="1857375" y="85360"/>
                  <a:pt x="1857375" y="190500"/>
                </a:cubicBezTo>
                <a:lnTo>
                  <a:pt x="1857375" y="190500"/>
                </a:lnTo>
                <a:cubicBezTo>
                  <a:pt x="1857375" y="295640"/>
                  <a:pt x="1772015" y="381000"/>
                  <a:pt x="1666875"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alpha val="10196"/>
            </a:srgbClr>
          </a:solidFill>
          <a:ln/>
        </p:spPr>
      </p:sp>
      <p:sp>
        <p:nvSpPr>
          <p:cNvPr id="102" name="Shape 100"/>
          <p:cNvSpPr/>
          <p:nvPr/>
        </p:nvSpPr>
        <p:spPr>
          <a:xfrm>
            <a:off x="6471404" y="5455923"/>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071E3"/>
          </a:solidFill>
          <a:ln/>
        </p:spPr>
      </p:sp>
      <p:sp>
        <p:nvSpPr>
          <p:cNvPr id="103" name="Text 101"/>
          <p:cNvSpPr/>
          <p:nvPr/>
        </p:nvSpPr>
        <p:spPr>
          <a:xfrm>
            <a:off x="6719054" y="5436873"/>
            <a:ext cx="127635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Model Ready Output</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63398" y="363398"/>
            <a:ext cx="11528799" cy="181699"/>
          </a:xfrm>
          <a:prstGeom prst="rect">
            <a:avLst/>
          </a:prstGeom>
          <a:noFill/>
          <a:ln/>
        </p:spPr>
        <p:txBody>
          <a:bodyPr wrap="square" lIns="0" tIns="0" rIns="0" bIns="0" rtlCol="0" anchor="ctr"/>
          <a:lstStyle/>
          <a:p>
            <a:pPr>
              <a:lnSpc>
                <a:spcPct val="120000"/>
              </a:lnSpc>
            </a:pPr>
            <a:r>
              <a:rPr lang="en-US" sz="1001" kern="0" spc="100" dirty="0">
                <a:solidFill>
                  <a:srgbClr val="0071E3"/>
                </a:solidFill>
                <a:latin typeface="Liter" pitchFamily="34" charset="0"/>
                <a:ea typeface="Liter" pitchFamily="34" charset="-122"/>
                <a:cs typeface="Liter" pitchFamily="34" charset="-120"/>
              </a:rPr>
              <a:t>Feature Engineering</a:t>
            </a:r>
            <a:endParaRPr lang="en-US" sz="1600" dirty="0"/>
          </a:p>
        </p:txBody>
      </p:sp>
      <p:sp>
        <p:nvSpPr>
          <p:cNvPr id="3" name="Text 1"/>
          <p:cNvSpPr/>
          <p:nvPr/>
        </p:nvSpPr>
        <p:spPr>
          <a:xfrm>
            <a:off x="363398" y="617776"/>
            <a:ext cx="11683243" cy="436077"/>
          </a:xfrm>
          <a:prstGeom prst="rect">
            <a:avLst/>
          </a:prstGeom>
          <a:noFill/>
          <a:ln/>
        </p:spPr>
        <p:txBody>
          <a:bodyPr wrap="square" lIns="0" tIns="0" rIns="0" bIns="0" rtlCol="0" anchor="ctr"/>
          <a:lstStyle/>
          <a:p>
            <a:pPr>
              <a:lnSpc>
                <a:spcPct val="80000"/>
              </a:lnSpc>
            </a:pPr>
            <a:r>
              <a:rPr lang="en-US" sz="3434" b="1" dirty="0">
                <a:solidFill>
                  <a:srgbClr val="1D1D1F"/>
                </a:solidFill>
                <a:latin typeface="Liter" pitchFamily="34" charset="0"/>
                <a:ea typeface="Liter" pitchFamily="34" charset="-122"/>
                <a:cs typeface="Liter" pitchFamily="34" charset="-120"/>
              </a:rPr>
              <a:t>Feature Extraction with TF-IDF</a:t>
            </a:r>
            <a:endParaRPr lang="en-US" sz="1600" dirty="0"/>
          </a:p>
        </p:txBody>
      </p:sp>
      <p:sp>
        <p:nvSpPr>
          <p:cNvPr id="4" name="Shape 2"/>
          <p:cNvSpPr/>
          <p:nvPr/>
        </p:nvSpPr>
        <p:spPr>
          <a:xfrm>
            <a:off x="367032" y="1275527"/>
            <a:ext cx="5621766" cy="3604907"/>
          </a:xfrm>
          <a:custGeom>
            <a:avLst/>
            <a:gdLst/>
            <a:ahLst/>
            <a:cxnLst/>
            <a:rect l="l" t="t" r="r" b="b"/>
            <a:pathLst>
              <a:path w="5621766" h="3604907">
                <a:moveTo>
                  <a:pt x="218025" y="0"/>
                </a:moveTo>
                <a:lnTo>
                  <a:pt x="5403741" y="0"/>
                </a:lnTo>
                <a:cubicBezTo>
                  <a:pt x="5524072" y="0"/>
                  <a:pt x="5621766" y="97694"/>
                  <a:pt x="5621766" y="218025"/>
                </a:cubicBezTo>
                <a:lnTo>
                  <a:pt x="5621766" y="3386883"/>
                </a:lnTo>
                <a:cubicBezTo>
                  <a:pt x="5621766" y="3507214"/>
                  <a:pt x="5524072" y="3604907"/>
                  <a:pt x="5403741" y="3604907"/>
                </a:cubicBezTo>
                <a:lnTo>
                  <a:pt x="218025" y="3604907"/>
                </a:lnTo>
                <a:cubicBezTo>
                  <a:pt x="97694" y="3604907"/>
                  <a:pt x="0" y="3507214"/>
                  <a:pt x="0" y="3386883"/>
                </a:cubicBezTo>
                <a:lnTo>
                  <a:pt x="0" y="218025"/>
                </a:lnTo>
                <a:cubicBezTo>
                  <a:pt x="0" y="97694"/>
                  <a:pt x="97694" y="0"/>
                  <a:pt x="218025"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588705" y="1497202"/>
            <a:ext cx="363398" cy="363398"/>
          </a:xfrm>
          <a:custGeom>
            <a:avLst/>
            <a:gdLst/>
            <a:ahLst/>
            <a:cxnLst/>
            <a:rect l="l" t="t" r="r" b="b"/>
            <a:pathLst>
              <a:path w="363398" h="363398">
                <a:moveTo>
                  <a:pt x="109019" y="0"/>
                </a:moveTo>
                <a:lnTo>
                  <a:pt x="254379" y="0"/>
                </a:lnTo>
                <a:cubicBezTo>
                  <a:pt x="314588" y="0"/>
                  <a:pt x="363398" y="48810"/>
                  <a:pt x="363398" y="109019"/>
                </a:cubicBezTo>
                <a:lnTo>
                  <a:pt x="363398" y="254379"/>
                </a:lnTo>
                <a:cubicBezTo>
                  <a:pt x="363398" y="314588"/>
                  <a:pt x="314588" y="363398"/>
                  <a:pt x="254379" y="363398"/>
                </a:cubicBezTo>
                <a:lnTo>
                  <a:pt x="109019" y="363398"/>
                </a:lnTo>
                <a:cubicBezTo>
                  <a:pt x="48810" y="363398"/>
                  <a:pt x="0" y="314588"/>
                  <a:pt x="0" y="254379"/>
                </a:cubicBezTo>
                <a:lnTo>
                  <a:pt x="0" y="109019"/>
                </a:lnTo>
                <a:cubicBezTo>
                  <a:pt x="0" y="48810"/>
                  <a:pt x="48810" y="0"/>
                  <a:pt x="109019" y="0"/>
                </a:cubicBezTo>
                <a:close/>
              </a:path>
            </a:pathLst>
          </a:custGeom>
          <a:solidFill>
            <a:srgbClr val="0071E3">
              <a:alpha val="10196"/>
            </a:srgbClr>
          </a:solidFill>
          <a:ln/>
        </p:spPr>
      </p:sp>
      <p:sp>
        <p:nvSpPr>
          <p:cNvPr id="6" name="Shape 4"/>
          <p:cNvSpPr/>
          <p:nvPr/>
        </p:nvSpPr>
        <p:spPr>
          <a:xfrm>
            <a:off x="690910" y="1597136"/>
            <a:ext cx="163529" cy="163529"/>
          </a:xfrm>
          <a:custGeom>
            <a:avLst/>
            <a:gdLst/>
            <a:ahLst/>
            <a:cxnLst/>
            <a:rect l="l" t="t" r="r" b="b"/>
            <a:pathLst>
              <a:path w="163529" h="163529">
                <a:moveTo>
                  <a:pt x="160527" y="48101"/>
                </a:moveTo>
                <a:lnTo>
                  <a:pt x="129865" y="78762"/>
                </a:lnTo>
                <a:cubicBezTo>
                  <a:pt x="126927" y="81701"/>
                  <a:pt x="122551" y="82563"/>
                  <a:pt x="118718" y="80966"/>
                </a:cubicBezTo>
                <a:cubicBezTo>
                  <a:pt x="114886" y="79369"/>
                  <a:pt x="112426" y="75664"/>
                  <a:pt x="112426" y="71544"/>
                </a:cubicBezTo>
                <a:lnTo>
                  <a:pt x="112426" y="51103"/>
                </a:lnTo>
                <a:lnTo>
                  <a:pt x="10221" y="51103"/>
                </a:lnTo>
                <a:cubicBezTo>
                  <a:pt x="4567" y="51103"/>
                  <a:pt x="0" y="46536"/>
                  <a:pt x="0" y="40882"/>
                </a:cubicBezTo>
                <a:cubicBezTo>
                  <a:pt x="0" y="35229"/>
                  <a:pt x="4567" y="30662"/>
                  <a:pt x="10221" y="30662"/>
                </a:cubicBezTo>
                <a:lnTo>
                  <a:pt x="112426" y="30662"/>
                </a:lnTo>
                <a:lnTo>
                  <a:pt x="112426" y="10221"/>
                </a:lnTo>
                <a:cubicBezTo>
                  <a:pt x="112426" y="6100"/>
                  <a:pt x="114917" y="2364"/>
                  <a:pt x="118750" y="767"/>
                </a:cubicBezTo>
                <a:cubicBezTo>
                  <a:pt x="122583" y="-830"/>
                  <a:pt x="126959" y="64"/>
                  <a:pt x="129897" y="2970"/>
                </a:cubicBezTo>
                <a:lnTo>
                  <a:pt x="160559" y="33632"/>
                </a:lnTo>
                <a:cubicBezTo>
                  <a:pt x="164551" y="37624"/>
                  <a:pt x="164551" y="44108"/>
                  <a:pt x="160559" y="48101"/>
                </a:cubicBezTo>
                <a:close/>
                <a:moveTo>
                  <a:pt x="33632" y="160527"/>
                </a:moveTo>
                <a:lnTo>
                  <a:pt x="2970" y="129865"/>
                </a:lnTo>
                <a:cubicBezTo>
                  <a:pt x="-1022" y="125873"/>
                  <a:pt x="-1022" y="119389"/>
                  <a:pt x="2970" y="115397"/>
                </a:cubicBezTo>
                <a:lnTo>
                  <a:pt x="33632" y="84735"/>
                </a:lnTo>
                <a:cubicBezTo>
                  <a:pt x="36570" y="81796"/>
                  <a:pt x="40946" y="80934"/>
                  <a:pt x="44779" y="82531"/>
                </a:cubicBezTo>
                <a:cubicBezTo>
                  <a:pt x="48612" y="84128"/>
                  <a:pt x="51103" y="87865"/>
                  <a:pt x="51103" y="91985"/>
                </a:cubicBezTo>
                <a:lnTo>
                  <a:pt x="51103" y="112426"/>
                </a:lnTo>
                <a:lnTo>
                  <a:pt x="153308" y="112426"/>
                </a:lnTo>
                <a:cubicBezTo>
                  <a:pt x="158962" y="112426"/>
                  <a:pt x="163529" y="116994"/>
                  <a:pt x="163529" y="122647"/>
                </a:cubicBezTo>
                <a:cubicBezTo>
                  <a:pt x="163529" y="128300"/>
                  <a:pt x="158962" y="132867"/>
                  <a:pt x="153308" y="132867"/>
                </a:cubicBezTo>
                <a:lnTo>
                  <a:pt x="51103" y="132867"/>
                </a:lnTo>
                <a:lnTo>
                  <a:pt x="51103" y="153308"/>
                </a:lnTo>
                <a:cubicBezTo>
                  <a:pt x="51103" y="157429"/>
                  <a:pt x="48612" y="161166"/>
                  <a:pt x="44779" y="162763"/>
                </a:cubicBezTo>
                <a:cubicBezTo>
                  <a:pt x="40946" y="164359"/>
                  <a:pt x="36570" y="163465"/>
                  <a:pt x="33632" y="160559"/>
                </a:cubicBezTo>
                <a:close/>
              </a:path>
            </a:pathLst>
          </a:custGeom>
          <a:solidFill>
            <a:srgbClr val="0071E3"/>
          </a:solidFill>
          <a:ln/>
        </p:spPr>
      </p:sp>
      <p:sp>
        <p:nvSpPr>
          <p:cNvPr id="7" name="Text 5"/>
          <p:cNvSpPr/>
          <p:nvPr/>
        </p:nvSpPr>
        <p:spPr>
          <a:xfrm>
            <a:off x="1061122" y="1533542"/>
            <a:ext cx="2107708" cy="290718"/>
          </a:xfrm>
          <a:prstGeom prst="rect">
            <a:avLst/>
          </a:prstGeom>
          <a:noFill/>
          <a:ln/>
        </p:spPr>
        <p:txBody>
          <a:bodyPr wrap="square" lIns="0" tIns="0" rIns="0" bIns="0" rtlCol="0" anchor="ctr"/>
          <a:lstStyle/>
          <a:p>
            <a:pPr>
              <a:lnSpc>
                <a:spcPct val="110000"/>
              </a:lnSpc>
            </a:pPr>
            <a:r>
              <a:rPr lang="en-US" sz="1717" b="1" dirty="0">
                <a:solidFill>
                  <a:srgbClr val="1D1D1F"/>
                </a:solidFill>
                <a:latin typeface="Liter" pitchFamily="34" charset="0"/>
                <a:ea typeface="Liter" pitchFamily="34" charset="-122"/>
                <a:cs typeface="Liter" pitchFamily="34" charset="-120"/>
              </a:rPr>
              <a:t>TF-IDF Vectorization</a:t>
            </a:r>
            <a:endParaRPr lang="en-US" sz="1600" dirty="0"/>
          </a:p>
        </p:txBody>
      </p:sp>
      <p:sp>
        <p:nvSpPr>
          <p:cNvPr id="8" name="Text 6"/>
          <p:cNvSpPr/>
          <p:nvPr/>
        </p:nvSpPr>
        <p:spPr>
          <a:xfrm>
            <a:off x="588705" y="2042299"/>
            <a:ext cx="5251100" cy="472417"/>
          </a:xfrm>
          <a:prstGeom prst="rect">
            <a:avLst/>
          </a:prstGeom>
          <a:noFill/>
          <a:ln/>
        </p:spPr>
        <p:txBody>
          <a:bodyPr wrap="square" lIns="0" tIns="0" rIns="0" bIns="0" rtlCol="0" anchor="ctr"/>
          <a:lstStyle/>
          <a:p>
            <a:pPr>
              <a:lnSpc>
                <a:spcPct val="140000"/>
              </a:lnSpc>
            </a:pPr>
            <a:r>
              <a:rPr lang="en-US" sz="1145" dirty="0">
                <a:solidFill>
                  <a:srgbClr val="1D1D1F"/>
                </a:solidFill>
                <a:latin typeface="Quattrocento Sans" pitchFamily="34" charset="0"/>
                <a:ea typeface="Quattrocento Sans" pitchFamily="34" charset="-122"/>
                <a:cs typeface="Quattrocento Sans" pitchFamily="34" charset="-120"/>
              </a:rPr>
              <a:t>Transforms preprocessed text into </a:t>
            </a:r>
            <a:r>
              <a:rPr lang="en-US" sz="1145" b="1" dirty="0">
                <a:solidFill>
                  <a:srgbClr val="1D1D1F"/>
                </a:solidFill>
                <a:latin typeface="Quattrocento Sans" pitchFamily="34" charset="0"/>
                <a:ea typeface="Quattrocento Sans" pitchFamily="34" charset="-122"/>
                <a:cs typeface="Quattrocento Sans" pitchFamily="34" charset="-120"/>
              </a:rPr>
              <a:t>numerical representations</a:t>
            </a:r>
            <a:r>
              <a:rPr lang="en-US" sz="1145" dirty="0">
                <a:solidFill>
                  <a:srgbClr val="1D1D1F"/>
                </a:solidFill>
                <a:latin typeface="Quattrocento Sans" pitchFamily="34" charset="0"/>
                <a:ea typeface="Quattrocento Sans" pitchFamily="34" charset="-122"/>
                <a:cs typeface="Quattrocento Sans" pitchFamily="34" charset="-120"/>
              </a:rPr>
              <a:t> using Term Frequency-Inverse Document Frequency (TF-IDF) vectorization technique.</a:t>
            </a:r>
            <a:endParaRPr lang="en-US" sz="1600" dirty="0"/>
          </a:p>
        </p:txBody>
      </p:sp>
      <p:sp>
        <p:nvSpPr>
          <p:cNvPr id="9" name="Shape 7"/>
          <p:cNvSpPr/>
          <p:nvPr/>
        </p:nvSpPr>
        <p:spPr>
          <a:xfrm>
            <a:off x="588705" y="2696415"/>
            <a:ext cx="5178420" cy="1962349"/>
          </a:xfrm>
          <a:custGeom>
            <a:avLst/>
            <a:gdLst/>
            <a:ahLst/>
            <a:cxnLst/>
            <a:rect l="l" t="t" r="r" b="b"/>
            <a:pathLst>
              <a:path w="5178420" h="1962349">
                <a:moveTo>
                  <a:pt x="145351" y="0"/>
                </a:moveTo>
                <a:lnTo>
                  <a:pt x="5033069" y="0"/>
                </a:lnTo>
                <a:cubicBezTo>
                  <a:pt x="5113344" y="0"/>
                  <a:pt x="5178420" y="65076"/>
                  <a:pt x="5178420" y="145351"/>
                </a:cubicBezTo>
                <a:lnTo>
                  <a:pt x="5178420" y="1816998"/>
                </a:lnTo>
                <a:cubicBezTo>
                  <a:pt x="5178420" y="1897273"/>
                  <a:pt x="5113344" y="1962349"/>
                  <a:pt x="5033069" y="1962349"/>
                </a:cubicBezTo>
                <a:lnTo>
                  <a:pt x="145351" y="1962349"/>
                </a:lnTo>
                <a:cubicBezTo>
                  <a:pt x="65076" y="1962349"/>
                  <a:pt x="0" y="1897273"/>
                  <a:pt x="0" y="1816998"/>
                </a:cubicBezTo>
                <a:lnTo>
                  <a:pt x="0" y="145351"/>
                </a:lnTo>
                <a:cubicBezTo>
                  <a:pt x="0" y="65130"/>
                  <a:pt x="65130" y="0"/>
                  <a:pt x="145351" y="0"/>
                </a:cubicBezTo>
                <a:close/>
              </a:path>
            </a:pathLst>
          </a:custGeom>
          <a:solidFill>
            <a:srgbClr val="1D1D1F"/>
          </a:solidFill>
          <a:ln/>
        </p:spPr>
      </p:sp>
      <p:sp>
        <p:nvSpPr>
          <p:cNvPr id="10" name="Shape 8"/>
          <p:cNvSpPr/>
          <p:nvPr/>
        </p:nvSpPr>
        <p:spPr>
          <a:xfrm>
            <a:off x="2466109" y="2878114"/>
            <a:ext cx="1417252" cy="399738"/>
          </a:xfrm>
          <a:custGeom>
            <a:avLst/>
            <a:gdLst/>
            <a:ahLst/>
            <a:cxnLst/>
            <a:rect l="l" t="t" r="r" b="b"/>
            <a:pathLst>
              <a:path w="1417252" h="399738">
                <a:moveTo>
                  <a:pt x="72680" y="0"/>
                </a:moveTo>
                <a:lnTo>
                  <a:pt x="1344572" y="0"/>
                </a:lnTo>
                <a:cubicBezTo>
                  <a:pt x="1384712" y="0"/>
                  <a:pt x="1417252" y="32540"/>
                  <a:pt x="1417252" y="72680"/>
                </a:cubicBezTo>
                <a:lnTo>
                  <a:pt x="1417252" y="327057"/>
                </a:lnTo>
                <a:cubicBezTo>
                  <a:pt x="1417252" y="367198"/>
                  <a:pt x="1384712" y="399738"/>
                  <a:pt x="1344572" y="399738"/>
                </a:cubicBezTo>
                <a:lnTo>
                  <a:pt x="72680" y="399738"/>
                </a:lnTo>
                <a:cubicBezTo>
                  <a:pt x="32540" y="399738"/>
                  <a:pt x="0" y="367198"/>
                  <a:pt x="0" y="327057"/>
                </a:cubicBezTo>
                <a:lnTo>
                  <a:pt x="0" y="72680"/>
                </a:lnTo>
                <a:cubicBezTo>
                  <a:pt x="0" y="32540"/>
                  <a:pt x="32540" y="0"/>
                  <a:pt x="72680" y="0"/>
                </a:cubicBezTo>
                <a:close/>
              </a:path>
            </a:pathLst>
          </a:custGeom>
          <a:solidFill>
            <a:srgbClr val="0071E3"/>
          </a:solidFill>
          <a:ln/>
        </p:spPr>
      </p:sp>
      <p:sp>
        <p:nvSpPr>
          <p:cNvPr id="11" name="Text 9"/>
          <p:cNvSpPr/>
          <p:nvPr/>
        </p:nvSpPr>
        <p:spPr>
          <a:xfrm>
            <a:off x="2425227" y="2878114"/>
            <a:ext cx="1499016" cy="399738"/>
          </a:xfrm>
          <a:prstGeom prst="rect">
            <a:avLst/>
          </a:prstGeom>
          <a:noFill/>
          <a:ln/>
        </p:spPr>
        <p:txBody>
          <a:bodyPr wrap="square" lIns="145359" tIns="72680" rIns="145359" bIns="72680" rtlCol="0" anchor="ctr"/>
          <a:lstStyle/>
          <a:p>
            <a:pPr algn="ctr">
              <a:lnSpc>
                <a:spcPct val="130000"/>
              </a:lnSpc>
            </a:pPr>
            <a:r>
              <a:rPr lang="en-US" sz="1288" dirty="0">
                <a:solidFill>
                  <a:srgbClr val="FFFFFF"/>
                </a:solidFill>
                <a:latin typeface="Liter" pitchFamily="34" charset="0"/>
                <a:ea typeface="Liter" pitchFamily="34" charset="-122"/>
                <a:cs typeface="Liter" pitchFamily="34" charset="-120"/>
              </a:rPr>
              <a:t>TF-IDF Formula</a:t>
            </a:r>
            <a:endParaRPr lang="en-US" sz="1600" dirty="0"/>
          </a:p>
        </p:txBody>
      </p:sp>
      <p:sp>
        <p:nvSpPr>
          <p:cNvPr id="12" name="Text 10"/>
          <p:cNvSpPr/>
          <p:nvPr/>
        </p:nvSpPr>
        <p:spPr>
          <a:xfrm>
            <a:off x="715894" y="3495891"/>
            <a:ext cx="4924042" cy="290718"/>
          </a:xfrm>
          <a:prstGeom prst="rect">
            <a:avLst/>
          </a:prstGeom>
          <a:noFill/>
          <a:ln/>
        </p:spPr>
        <p:txBody>
          <a:bodyPr wrap="square" lIns="0" tIns="0" rIns="0" bIns="0" rtlCol="0" anchor="ctr"/>
          <a:lstStyle/>
          <a:p>
            <a:pPr algn="ctr">
              <a:lnSpc>
                <a:spcPct val="110000"/>
              </a:lnSpc>
            </a:pPr>
            <a:r>
              <a:rPr lang="en-US" sz="1717" dirty="0">
                <a:solidFill>
                  <a:srgbClr val="FFFFFF"/>
                </a:solidFill>
                <a:latin typeface="Liter" pitchFamily="34" charset="0"/>
                <a:ea typeface="Liter" pitchFamily="34" charset="-122"/>
                <a:cs typeface="Liter" pitchFamily="34" charset="-120"/>
              </a:rPr>
              <a:t>TF-IDF = </a:t>
            </a:r>
            <a:r>
              <a:rPr lang="en-US" sz="1717" dirty="0">
                <a:solidFill>
                  <a:srgbClr val="0071E3"/>
                </a:solidFill>
                <a:latin typeface="Liter" pitchFamily="34" charset="0"/>
                <a:ea typeface="Liter" pitchFamily="34" charset="-122"/>
                <a:cs typeface="Liter" pitchFamily="34" charset="-120"/>
              </a:rPr>
              <a:t>TF</a:t>
            </a:r>
            <a:r>
              <a:rPr lang="en-US" sz="1717" dirty="0">
                <a:solidFill>
                  <a:srgbClr val="FFFFFF"/>
                </a:solidFill>
                <a:latin typeface="Liter" pitchFamily="34" charset="0"/>
                <a:ea typeface="Liter" pitchFamily="34" charset="-122"/>
                <a:cs typeface="Liter" pitchFamily="34" charset="-120"/>
              </a:rPr>
              <a:t> × </a:t>
            </a:r>
            <a:r>
              <a:rPr lang="en-US" sz="1717" dirty="0">
                <a:solidFill>
                  <a:srgbClr val="00C7BE"/>
                </a:solidFill>
                <a:latin typeface="Liter" pitchFamily="34" charset="0"/>
                <a:ea typeface="Liter" pitchFamily="34" charset="-122"/>
                <a:cs typeface="Liter" pitchFamily="34" charset="-120"/>
              </a:rPr>
              <a:t>IDF</a:t>
            </a:r>
            <a:endParaRPr lang="en-US" sz="1600" dirty="0"/>
          </a:p>
        </p:txBody>
      </p:sp>
      <p:sp>
        <p:nvSpPr>
          <p:cNvPr id="13" name="Shape 11"/>
          <p:cNvSpPr/>
          <p:nvPr/>
        </p:nvSpPr>
        <p:spPr>
          <a:xfrm>
            <a:off x="770404" y="3895513"/>
            <a:ext cx="2353001" cy="581437"/>
          </a:xfrm>
          <a:custGeom>
            <a:avLst/>
            <a:gdLst/>
            <a:ahLst/>
            <a:cxnLst/>
            <a:rect l="l" t="t" r="r" b="b"/>
            <a:pathLst>
              <a:path w="2353001" h="581437">
                <a:moveTo>
                  <a:pt x="109019" y="0"/>
                </a:moveTo>
                <a:lnTo>
                  <a:pt x="2243982" y="0"/>
                </a:lnTo>
                <a:cubicBezTo>
                  <a:pt x="2304192" y="0"/>
                  <a:pt x="2353001" y="48810"/>
                  <a:pt x="2353001" y="109019"/>
                </a:cubicBezTo>
                <a:lnTo>
                  <a:pt x="2353001" y="472417"/>
                </a:lnTo>
                <a:cubicBezTo>
                  <a:pt x="2353001" y="532627"/>
                  <a:pt x="2304192" y="581437"/>
                  <a:pt x="2243982" y="581437"/>
                </a:cubicBezTo>
                <a:lnTo>
                  <a:pt x="109019" y="581437"/>
                </a:lnTo>
                <a:cubicBezTo>
                  <a:pt x="48810" y="581437"/>
                  <a:pt x="0" y="532627"/>
                  <a:pt x="0" y="472417"/>
                </a:cubicBezTo>
                <a:lnTo>
                  <a:pt x="0" y="109019"/>
                </a:lnTo>
                <a:cubicBezTo>
                  <a:pt x="0" y="48810"/>
                  <a:pt x="48810" y="0"/>
                  <a:pt x="109019" y="0"/>
                </a:cubicBezTo>
                <a:close/>
              </a:path>
            </a:pathLst>
          </a:custGeom>
          <a:solidFill>
            <a:srgbClr val="FFFFFF">
              <a:alpha val="10196"/>
            </a:srgbClr>
          </a:solidFill>
          <a:ln/>
        </p:spPr>
      </p:sp>
      <p:sp>
        <p:nvSpPr>
          <p:cNvPr id="14" name="Text 12"/>
          <p:cNvSpPr/>
          <p:nvPr/>
        </p:nvSpPr>
        <p:spPr>
          <a:xfrm>
            <a:off x="879423" y="4004532"/>
            <a:ext cx="2198557" cy="181699"/>
          </a:xfrm>
          <a:prstGeom prst="rect">
            <a:avLst/>
          </a:prstGeom>
          <a:noFill/>
          <a:ln/>
        </p:spPr>
        <p:txBody>
          <a:bodyPr wrap="square" lIns="0" tIns="0" rIns="0" bIns="0" rtlCol="0" anchor="ctr"/>
          <a:lstStyle/>
          <a:p>
            <a:pPr>
              <a:lnSpc>
                <a:spcPct val="120000"/>
              </a:lnSpc>
            </a:pPr>
            <a:r>
              <a:rPr lang="en-US" sz="1001" b="1" dirty="0">
                <a:solidFill>
                  <a:srgbClr val="0071E3"/>
                </a:solidFill>
                <a:latin typeface="Liter" pitchFamily="34" charset="0"/>
                <a:ea typeface="Liter" pitchFamily="34" charset="-122"/>
                <a:cs typeface="Liter" pitchFamily="34" charset="-120"/>
              </a:rPr>
              <a:t>TF</a:t>
            </a:r>
            <a:endParaRPr lang="en-US" sz="1600" dirty="0"/>
          </a:p>
        </p:txBody>
      </p:sp>
      <p:sp>
        <p:nvSpPr>
          <p:cNvPr id="15" name="Text 13"/>
          <p:cNvSpPr/>
          <p:nvPr/>
        </p:nvSpPr>
        <p:spPr>
          <a:xfrm>
            <a:off x="879423" y="4222571"/>
            <a:ext cx="2189472" cy="145359"/>
          </a:xfrm>
          <a:prstGeom prst="rect">
            <a:avLst/>
          </a:prstGeom>
          <a:noFill/>
          <a:ln/>
        </p:spPr>
        <p:txBody>
          <a:bodyPr wrap="square" lIns="0" tIns="0" rIns="0" bIns="0" rtlCol="0" anchor="ctr"/>
          <a:lstStyle/>
          <a:p>
            <a:pPr>
              <a:lnSpc>
                <a:spcPct val="110000"/>
              </a:lnSpc>
            </a:pPr>
            <a:r>
              <a:rPr lang="en-US" sz="858" dirty="0">
                <a:solidFill>
                  <a:srgbClr val="FFFFFF">
                    <a:alpha val="80000"/>
                  </a:srgbClr>
                </a:solidFill>
                <a:latin typeface="Quattrocento Sans" pitchFamily="34" charset="0"/>
                <a:ea typeface="Quattrocento Sans" pitchFamily="34" charset="-122"/>
                <a:cs typeface="Quattrocento Sans" pitchFamily="34" charset="-120"/>
              </a:rPr>
              <a:t>Term Frequency</a:t>
            </a:r>
            <a:endParaRPr lang="en-US" sz="1600" dirty="0"/>
          </a:p>
        </p:txBody>
      </p:sp>
      <p:sp>
        <p:nvSpPr>
          <p:cNvPr id="16" name="Shape 14"/>
          <p:cNvSpPr/>
          <p:nvPr/>
        </p:nvSpPr>
        <p:spPr>
          <a:xfrm>
            <a:off x="3230153" y="3895513"/>
            <a:ext cx="2353001" cy="581437"/>
          </a:xfrm>
          <a:custGeom>
            <a:avLst/>
            <a:gdLst/>
            <a:ahLst/>
            <a:cxnLst/>
            <a:rect l="l" t="t" r="r" b="b"/>
            <a:pathLst>
              <a:path w="2353001" h="581437">
                <a:moveTo>
                  <a:pt x="109019" y="0"/>
                </a:moveTo>
                <a:lnTo>
                  <a:pt x="2243982" y="0"/>
                </a:lnTo>
                <a:cubicBezTo>
                  <a:pt x="2304192" y="0"/>
                  <a:pt x="2353001" y="48810"/>
                  <a:pt x="2353001" y="109019"/>
                </a:cubicBezTo>
                <a:lnTo>
                  <a:pt x="2353001" y="472417"/>
                </a:lnTo>
                <a:cubicBezTo>
                  <a:pt x="2353001" y="532627"/>
                  <a:pt x="2304192" y="581437"/>
                  <a:pt x="2243982" y="581437"/>
                </a:cubicBezTo>
                <a:lnTo>
                  <a:pt x="109019" y="581437"/>
                </a:lnTo>
                <a:cubicBezTo>
                  <a:pt x="48810" y="581437"/>
                  <a:pt x="0" y="532627"/>
                  <a:pt x="0" y="472417"/>
                </a:cubicBezTo>
                <a:lnTo>
                  <a:pt x="0" y="109019"/>
                </a:lnTo>
                <a:cubicBezTo>
                  <a:pt x="0" y="48810"/>
                  <a:pt x="48810" y="0"/>
                  <a:pt x="109019" y="0"/>
                </a:cubicBezTo>
                <a:close/>
              </a:path>
            </a:pathLst>
          </a:custGeom>
          <a:solidFill>
            <a:srgbClr val="FFFFFF">
              <a:alpha val="10196"/>
            </a:srgbClr>
          </a:solidFill>
          <a:ln/>
        </p:spPr>
      </p:sp>
      <p:sp>
        <p:nvSpPr>
          <p:cNvPr id="17" name="Text 15"/>
          <p:cNvSpPr/>
          <p:nvPr/>
        </p:nvSpPr>
        <p:spPr>
          <a:xfrm>
            <a:off x="3339173" y="4004532"/>
            <a:ext cx="2198557" cy="181699"/>
          </a:xfrm>
          <a:prstGeom prst="rect">
            <a:avLst/>
          </a:prstGeom>
          <a:noFill/>
          <a:ln/>
        </p:spPr>
        <p:txBody>
          <a:bodyPr wrap="square" lIns="0" tIns="0" rIns="0" bIns="0" rtlCol="0" anchor="ctr"/>
          <a:lstStyle/>
          <a:p>
            <a:pPr>
              <a:lnSpc>
                <a:spcPct val="120000"/>
              </a:lnSpc>
            </a:pPr>
            <a:r>
              <a:rPr lang="en-US" sz="1001" b="1" dirty="0">
                <a:solidFill>
                  <a:srgbClr val="00C7BE"/>
                </a:solidFill>
                <a:latin typeface="Liter" pitchFamily="34" charset="0"/>
                <a:ea typeface="Liter" pitchFamily="34" charset="-122"/>
                <a:cs typeface="Liter" pitchFamily="34" charset="-120"/>
              </a:rPr>
              <a:t>IDF</a:t>
            </a:r>
            <a:endParaRPr lang="en-US" sz="1600" dirty="0"/>
          </a:p>
        </p:txBody>
      </p:sp>
      <p:sp>
        <p:nvSpPr>
          <p:cNvPr id="18" name="Text 16"/>
          <p:cNvSpPr/>
          <p:nvPr/>
        </p:nvSpPr>
        <p:spPr>
          <a:xfrm>
            <a:off x="3339173" y="4222571"/>
            <a:ext cx="2189472" cy="145359"/>
          </a:xfrm>
          <a:prstGeom prst="rect">
            <a:avLst/>
          </a:prstGeom>
          <a:noFill/>
          <a:ln/>
        </p:spPr>
        <p:txBody>
          <a:bodyPr wrap="square" lIns="0" tIns="0" rIns="0" bIns="0" rtlCol="0" anchor="ctr"/>
          <a:lstStyle/>
          <a:p>
            <a:pPr>
              <a:lnSpc>
                <a:spcPct val="110000"/>
              </a:lnSpc>
            </a:pPr>
            <a:r>
              <a:rPr lang="en-US" sz="858" dirty="0">
                <a:solidFill>
                  <a:srgbClr val="FFFFFF">
                    <a:alpha val="80000"/>
                  </a:srgbClr>
                </a:solidFill>
                <a:latin typeface="Quattrocento Sans" pitchFamily="34" charset="0"/>
                <a:ea typeface="Quattrocento Sans" pitchFamily="34" charset="-122"/>
                <a:cs typeface="Quattrocento Sans" pitchFamily="34" charset="-120"/>
              </a:rPr>
              <a:t>Inverse Doc Freq</a:t>
            </a:r>
            <a:endParaRPr lang="en-US" sz="1600" dirty="0"/>
          </a:p>
        </p:txBody>
      </p:sp>
      <p:sp>
        <p:nvSpPr>
          <p:cNvPr id="19" name="Shape 17"/>
          <p:cNvSpPr/>
          <p:nvPr/>
        </p:nvSpPr>
        <p:spPr>
          <a:xfrm>
            <a:off x="367032" y="5069176"/>
            <a:ext cx="5621766" cy="1787918"/>
          </a:xfrm>
          <a:custGeom>
            <a:avLst/>
            <a:gdLst/>
            <a:ahLst/>
            <a:cxnLst/>
            <a:rect l="l" t="t" r="r" b="b"/>
            <a:pathLst>
              <a:path w="5621766" h="1787918">
                <a:moveTo>
                  <a:pt x="218037" y="0"/>
                </a:moveTo>
                <a:lnTo>
                  <a:pt x="5403729" y="0"/>
                </a:lnTo>
                <a:cubicBezTo>
                  <a:pt x="5524147" y="0"/>
                  <a:pt x="5621766" y="97618"/>
                  <a:pt x="5621766" y="218037"/>
                </a:cubicBezTo>
                <a:lnTo>
                  <a:pt x="5621766" y="1569881"/>
                </a:lnTo>
                <a:cubicBezTo>
                  <a:pt x="5621766" y="1690299"/>
                  <a:pt x="5524147" y="1787918"/>
                  <a:pt x="5403729" y="1787918"/>
                </a:cubicBezTo>
                <a:lnTo>
                  <a:pt x="218037" y="1787918"/>
                </a:lnTo>
                <a:cubicBezTo>
                  <a:pt x="97618" y="1787918"/>
                  <a:pt x="0" y="1690299"/>
                  <a:pt x="0" y="1569881"/>
                </a:cubicBezTo>
                <a:lnTo>
                  <a:pt x="0" y="218037"/>
                </a:lnTo>
                <a:cubicBezTo>
                  <a:pt x="0" y="97699"/>
                  <a:pt x="97699" y="0"/>
                  <a:pt x="218037" y="0"/>
                </a:cubicBezTo>
                <a:close/>
              </a:path>
            </a:pathLst>
          </a:custGeom>
          <a:solidFill>
            <a:srgbClr val="FFFFFF">
              <a:alpha val="85098"/>
            </a:srgbClr>
          </a:solidFill>
          <a:ln w="10160">
            <a:solidFill>
              <a:srgbClr val="FFFFFF">
                <a:alpha val="30196"/>
              </a:srgbClr>
            </a:solidFill>
            <a:prstDash val="solid"/>
          </a:ln>
        </p:spPr>
      </p:sp>
      <p:sp>
        <p:nvSpPr>
          <p:cNvPr id="20" name="Shape 18"/>
          <p:cNvSpPr/>
          <p:nvPr/>
        </p:nvSpPr>
        <p:spPr>
          <a:xfrm>
            <a:off x="552365" y="5254507"/>
            <a:ext cx="363398" cy="363398"/>
          </a:xfrm>
          <a:custGeom>
            <a:avLst/>
            <a:gdLst/>
            <a:ahLst/>
            <a:cxnLst/>
            <a:rect l="l" t="t" r="r" b="b"/>
            <a:pathLst>
              <a:path w="363398" h="363398">
                <a:moveTo>
                  <a:pt x="109019" y="0"/>
                </a:moveTo>
                <a:lnTo>
                  <a:pt x="254379" y="0"/>
                </a:lnTo>
                <a:cubicBezTo>
                  <a:pt x="314588" y="0"/>
                  <a:pt x="363398" y="48810"/>
                  <a:pt x="363398" y="109019"/>
                </a:cubicBezTo>
                <a:lnTo>
                  <a:pt x="363398" y="254379"/>
                </a:lnTo>
                <a:cubicBezTo>
                  <a:pt x="363398" y="314588"/>
                  <a:pt x="314588" y="363398"/>
                  <a:pt x="254379" y="363398"/>
                </a:cubicBezTo>
                <a:lnTo>
                  <a:pt x="109019" y="363398"/>
                </a:lnTo>
                <a:cubicBezTo>
                  <a:pt x="48810" y="363398"/>
                  <a:pt x="0" y="314588"/>
                  <a:pt x="0" y="254379"/>
                </a:cubicBezTo>
                <a:lnTo>
                  <a:pt x="0" y="109019"/>
                </a:lnTo>
                <a:cubicBezTo>
                  <a:pt x="0" y="48810"/>
                  <a:pt x="48810" y="0"/>
                  <a:pt x="109019" y="0"/>
                </a:cubicBezTo>
                <a:close/>
              </a:path>
            </a:pathLst>
          </a:custGeom>
          <a:solidFill>
            <a:srgbClr val="0071E3">
              <a:alpha val="10196"/>
            </a:srgbClr>
          </a:solidFill>
          <a:ln/>
        </p:spPr>
      </p:sp>
      <p:sp>
        <p:nvSpPr>
          <p:cNvPr id="21" name="Shape 19"/>
          <p:cNvSpPr/>
          <p:nvPr/>
        </p:nvSpPr>
        <p:spPr>
          <a:xfrm>
            <a:off x="644350" y="5354441"/>
            <a:ext cx="183970" cy="163529"/>
          </a:xfrm>
          <a:custGeom>
            <a:avLst/>
            <a:gdLst/>
            <a:ahLst/>
            <a:cxnLst/>
            <a:rect l="l" t="t" r="r" b="b"/>
            <a:pathLst>
              <a:path w="183970" h="163529">
                <a:moveTo>
                  <a:pt x="98852" y="-6037"/>
                </a:moveTo>
                <a:cubicBezTo>
                  <a:pt x="97543" y="-8592"/>
                  <a:pt x="94892" y="-10221"/>
                  <a:pt x="92017" y="-10221"/>
                </a:cubicBezTo>
                <a:cubicBezTo>
                  <a:pt x="89143" y="-10221"/>
                  <a:pt x="86492" y="-8592"/>
                  <a:pt x="85182" y="-6037"/>
                </a:cubicBezTo>
                <a:lnTo>
                  <a:pt x="61675" y="40020"/>
                </a:lnTo>
                <a:lnTo>
                  <a:pt x="10604" y="48132"/>
                </a:lnTo>
                <a:cubicBezTo>
                  <a:pt x="7761" y="48580"/>
                  <a:pt x="5398" y="50592"/>
                  <a:pt x="4503" y="53339"/>
                </a:cubicBezTo>
                <a:cubicBezTo>
                  <a:pt x="3609" y="56085"/>
                  <a:pt x="4344" y="59088"/>
                  <a:pt x="6356" y="61132"/>
                </a:cubicBezTo>
                <a:lnTo>
                  <a:pt x="42894" y="97702"/>
                </a:lnTo>
                <a:lnTo>
                  <a:pt x="34846" y="148773"/>
                </a:lnTo>
                <a:cubicBezTo>
                  <a:pt x="34399" y="151616"/>
                  <a:pt x="35580" y="154490"/>
                  <a:pt x="37912" y="156183"/>
                </a:cubicBezTo>
                <a:cubicBezTo>
                  <a:pt x="40243" y="157876"/>
                  <a:pt x="43310" y="158131"/>
                  <a:pt x="45897" y="156822"/>
                </a:cubicBezTo>
                <a:lnTo>
                  <a:pt x="92017" y="133378"/>
                </a:lnTo>
                <a:lnTo>
                  <a:pt x="138105" y="156822"/>
                </a:lnTo>
                <a:cubicBezTo>
                  <a:pt x="140661" y="158131"/>
                  <a:pt x="143759" y="157876"/>
                  <a:pt x="146090" y="156183"/>
                </a:cubicBezTo>
                <a:cubicBezTo>
                  <a:pt x="148422" y="154490"/>
                  <a:pt x="149604" y="151648"/>
                  <a:pt x="149156" y="148773"/>
                </a:cubicBezTo>
                <a:lnTo>
                  <a:pt x="141076" y="97702"/>
                </a:lnTo>
                <a:lnTo>
                  <a:pt x="177614" y="61132"/>
                </a:lnTo>
                <a:cubicBezTo>
                  <a:pt x="179658" y="59088"/>
                  <a:pt x="180361" y="56085"/>
                  <a:pt x="179467" y="53339"/>
                </a:cubicBezTo>
                <a:cubicBezTo>
                  <a:pt x="178572" y="50592"/>
                  <a:pt x="176241" y="48580"/>
                  <a:pt x="173366" y="48132"/>
                </a:cubicBezTo>
                <a:lnTo>
                  <a:pt x="122327" y="40020"/>
                </a:lnTo>
                <a:lnTo>
                  <a:pt x="98852" y="-6037"/>
                </a:lnTo>
                <a:close/>
              </a:path>
            </a:pathLst>
          </a:custGeom>
          <a:solidFill>
            <a:srgbClr val="0071E3"/>
          </a:solidFill>
          <a:ln/>
        </p:spPr>
      </p:sp>
      <p:sp>
        <p:nvSpPr>
          <p:cNvPr id="22" name="Text 20"/>
          <p:cNvSpPr/>
          <p:nvPr/>
        </p:nvSpPr>
        <p:spPr>
          <a:xfrm>
            <a:off x="1024782" y="5309016"/>
            <a:ext cx="1090194" cy="254379"/>
          </a:xfrm>
          <a:prstGeom prst="rect">
            <a:avLst/>
          </a:prstGeom>
          <a:noFill/>
          <a:ln/>
        </p:spPr>
        <p:txBody>
          <a:bodyPr wrap="square" lIns="0" tIns="0" rIns="0" bIns="0" rtlCol="0" anchor="ctr"/>
          <a:lstStyle/>
          <a:p>
            <a:pPr>
              <a:lnSpc>
                <a:spcPct val="120000"/>
              </a:lnSpc>
            </a:pPr>
            <a:r>
              <a:rPr lang="en-US" sz="1431" b="1" dirty="0">
                <a:solidFill>
                  <a:srgbClr val="1D1D1F"/>
                </a:solidFill>
                <a:latin typeface="Liter" pitchFamily="34" charset="0"/>
                <a:ea typeface="Liter" pitchFamily="34" charset="-122"/>
                <a:cs typeface="Liter" pitchFamily="34" charset="-120"/>
              </a:rPr>
              <a:t>Key Benefits</a:t>
            </a:r>
            <a:endParaRPr lang="en-US" sz="1600" dirty="0"/>
          </a:p>
        </p:txBody>
      </p:sp>
      <p:sp>
        <p:nvSpPr>
          <p:cNvPr id="23" name="Shape 21"/>
          <p:cNvSpPr/>
          <p:nvPr/>
        </p:nvSpPr>
        <p:spPr>
          <a:xfrm>
            <a:off x="552365" y="5763264"/>
            <a:ext cx="2571040" cy="399738"/>
          </a:xfrm>
          <a:custGeom>
            <a:avLst/>
            <a:gdLst/>
            <a:ahLst/>
            <a:cxnLst/>
            <a:rect l="l" t="t" r="r" b="b"/>
            <a:pathLst>
              <a:path w="2571040" h="399738">
                <a:moveTo>
                  <a:pt x="109020" y="0"/>
                </a:moveTo>
                <a:lnTo>
                  <a:pt x="2462020" y="0"/>
                </a:lnTo>
                <a:cubicBezTo>
                  <a:pt x="2522190" y="0"/>
                  <a:pt x="2571040" y="48850"/>
                  <a:pt x="2571040" y="109020"/>
                </a:cubicBezTo>
                <a:lnTo>
                  <a:pt x="2571040" y="290717"/>
                </a:lnTo>
                <a:cubicBezTo>
                  <a:pt x="2571040" y="350887"/>
                  <a:pt x="2522190" y="399738"/>
                  <a:pt x="2462020" y="399738"/>
                </a:cubicBezTo>
                <a:lnTo>
                  <a:pt x="109020" y="399738"/>
                </a:lnTo>
                <a:cubicBezTo>
                  <a:pt x="48850" y="399738"/>
                  <a:pt x="0" y="350887"/>
                  <a:pt x="0" y="290717"/>
                </a:cubicBezTo>
                <a:lnTo>
                  <a:pt x="0" y="109020"/>
                </a:lnTo>
                <a:cubicBezTo>
                  <a:pt x="0" y="48850"/>
                  <a:pt x="48850" y="0"/>
                  <a:pt x="109020" y="0"/>
                </a:cubicBezTo>
                <a:close/>
              </a:path>
            </a:pathLst>
          </a:custGeom>
          <a:solidFill>
            <a:srgbClr val="FFFFFF">
              <a:alpha val="60000"/>
            </a:srgbClr>
          </a:solidFill>
          <a:ln/>
        </p:spPr>
      </p:sp>
      <p:sp>
        <p:nvSpPr>
          <p:cNvPr id="24" name="Shape 22"/>
          <p:cNvSpPr/>
          <p:nvPr/>
        </p:nvSpPr>
        <p:spPr>
          <a:xfrm>
            <a:off x="679554" y="5890453"/>
            <a:ext cx="145359" cy="145359"/>
          </a:xfrm>
          <a:custGeom>
            <a:avLst/>
            <a:gdLst/>
            <a:ahLst/>
            <a:cxnLst/>
            <a:rect l="l" t="t" r="r" b="b"/>
            <a:pathLst>
              <a:path w="145359" h="145359">
                <a:moveTo>
                  <a:pt x="63595" y="27255"/>
                </a:moveTo>
                <a:cubicBezTo>
                  <a:pt x="63595" y="22241"/>
                  <a:pt x="67665" y="18170"/>
                  <a:pt x="72680" y="18170"/>
                </a:cubicBezTo>
                <a:cubicBezTo>
                  <a:pt x="77694" y="18170"/>
                  <a:pt x="81765" y="22241"/>
                  <a:pt x="81765" y="27255"/>
                </a:cubicBezTo>
                <a:cubicBezTo>
                  <a:pt x="81765" y="32269"/>
                  <a:pt x="77694" y="36340"/>
                  <a:pt x="72680" y="36340"/>
                </a:cubicBezTo>
                <a:cubicBezTo>
                  <a:pt x="67665" y="36340"/>
                  <a:pt x="63595" y="32269"/>
                  <a:pt x="63595" y="27255"/>
                </a:cubicBezTo>
                <a:close/>
                <a:moveTo>
                  <a:pt x="98373" y="36340"/>
                </a:moveTo>
                <a:cubicBezTo>
                  <a:pt x="99367" y="33501"/>
                  <a:pt x="99934" y="30435"/>
                  <a:pt x="99934" y="27255"/>
                </a:cubicBezTo>
                <a:cubicBezTo>
                  <a:pt x="99934" y="12208"/>
                  <a:pt x="87727" y="0"/>
                  <a:pt x="72680" y="0"/>
                </a:cubicBezTo>
                <a:cubicBezTo>
                  <a:pt x="57633" y="0"/>
                  <a:pt x="45425" y="12208"/>
                  <a:pt x="45425" y="27255"/>
                </a:cubicBezTo>
                <a:cubicBezTo>
                  <a:pt x="45425" y="30435"/>
                  <a:pt x="45964" y="33501"/>
                  <a:pt x="46986" y="36340"/>
                </a:cubicBezTo>
                <a:lnTo>
                  <a:pt x="40797" y="36340"/>
                </a:lnTo>
                <a:cubicBezTo>
                  <a:pt x="32763" y="36340"/>
                  <a:pt x="25693" y="41592"/>
                  <a:pt x="23394" y="49286"/>
                </a:cubicBezTo>
                <a:lnTo>
                  <a:pt x="681" y="124975"/>
                </a:lnTo>
                <a:cubicBezTo>
                  <a:pt x="227" y="126451"/>
                  <a:pt x="0" y="127984"/>
                  <a:pt x="0" y="129517"/>
                </a:cubicBezTo>
                <a:cubicBezTo>
                  <a:pt x="0" y="138262"/>
                  <a:pt x="7098" y="145359"/>
                  <a:pt x="15842" y="145359"/>
                </a:cubicBezTo>
                <a:lnTo>
                  <a:pt x="129517" y="145359"/>
                </a:lnTo>
                <a:cubicBezTo>
                  <a:pt x="138262" y="145359"/>
                  <a:pt x="145359" y="138262"/>
                  <a:pt x="145359" y="129517"/>
                </a:cubicBezTo>
                <a:cubicBezTo>
                  <a:pt x="145359" y="127984"/>
                  <a:pt x="145132" y="126451"/>
                  <a:pt x="144678" y="124975"/>
                </a:cubicBezTo>
                <a:lnTo>
                  <a:pt x="121965" y="49314"/>
                </a:lnTo>
                <a:cubicBezTo>
                  <a:pt x="119666" y="41620"/>
                  <a:pt x="112597" y="36368"/>
                  <a:pt x="104562" y="36368"/>
                </a:cubicBezTo>
                <a:lnTo>
                  <a:pt x="98373" y="36368"/>
                </a:lnTo>
                <a:close/>
              </a:path>
            </a:pathLst>
          </a:custGeom>
          <a:solidFill>
            <a:srgbClr val="0071E3"/>
          </a:solidFill>
          <a:ln/>
        </p:spPr>
      </p:sp>
      <p:sp>
        <p:nvSpPr>
          <p:cNvPr id="25" name="Text 23"/>
          <p:cNvSpPr/>
          <p:nvPr/>
        </p:nvSpPr>
        <p:spPr>
          <a:xfrm>
            <a:off x="915763" y="5872283"/>
            <a:ext cx="1053854" cy="181699"/>
          </a:xfrm>
          <a:prstGeom prst="rect">
            <a:avLst/>
          </a:prstGeom>
          <a:noFill/>
          <a:ln/>
        </p:spPr>
        <p:txBody>
          <a:bodyPr wrap="square" lIns="0" tIns="0" rIns="0" bIns="0" rtlCol="0" anchor="ctr"/>
          <a:lstStyle/>
          <a:p>
            <a:pPr>
              <a:lnSpc>
                <a:spcPct val="120000"/>
              </a:lnSpc>
            </a:pPr>
            <a:r>
              <a:rPr lang="en-US" sz="1001" dirty="0">
                <a:solidFill>
                  <a:srgbClr val="1D1D1F"/>
                </a:solidFill>
                <a:latin typeface="Quattrocento Sans" pitchFamily="34" charset="0"/>
                <a:ea typeface="Quattrocento Sans" pitchFamily="34" charset="-122"/>
                <a:cs typeface="Quattrocento Sans" pitchFamily="34" charset="-120"/>
              </a:rPr>
              <a:t>Word Importance</a:t>
            </a:r>
            <a:endParaRPr lang="en-US" sz="1600" dirty="0"/>
          </a:p>
        </p:txBody>
      </p:sp>
      <p:sp>
        <p:nvSpPr>
          <p:cNvPr id="26" name="Shape 24"/>
          <p:cNvSpPr/>
          <p:nvPr/>
        </p:nvSpPr>
        <p:spPr>
          <a:xfrm>
            <a:off x="3230153" y="5763264"/>
            <a:ext cx="2571040" cy="399738"/>
          </a:xfrm>
          <a:custGeom>
            <a:avLst/>
            <a:gdLst/>
            <a:ahLst/>
            <a:cxnLst/>
            <a:rect l="l" t="t" r="r" b="b"/>
            <a:pathLst>
              <a:path w="2571040" h="399738">
                <a:moveTo>
                  <a:pt x="109020" y="0"/>
                </a:moveTo>
                <a:lnTo>
                  <a:pt x="2462020" y="0"/>
                </a:lnTo>
                <a:cubicBezTo>
                  <a:pt x="2522190" y="0"/>
                  <a:pt x="2571040" y="48850"/>
                  <a:pt x="2571040" y="109020"/>
                </a:cubicBezTo>
                <a:lnTo>
                  <a:pt x="2571040" y="290717"/>
                </a:lnTo>
                <a:cubicBezTo>
                  <a:pt x="2571040" y="350887"/>
                  <a:pt x="2522190" y="399738"/>
                  <a:pt x="2462020" y="399738"/>
                </a:cubicBezTo>
                <a:lnTo>
                  <a:pt x="109020" y="399738"/>
                </a:lnTo>
                <a:cubicBezTo>
                  <a:pt x="48850" y="399738"/>
                  <a:pt x="0" y="350887"/>
                  <a:pt x="0" y="290717"/>
                </a:cubicBezTo>
                <a:lnTo>
                  <a:pt x="0" y="109020"/>
                </a:lnTo>
                <a:cubicBezTo>
                  <a:pt x="0" y="48850"/>
                  <a:pt x="48850" y="0"/>
                  <a:pt x="109020" y="0"/>
                </a:cubicBezTo>
                <a:close/>
              </a:path>
            </a:pathLst>
          </a:custGeom>
          <a:solidFill>
            <a:srgbClr val="FFFFFF">
              <a:alpha val="60000"/>
            </a:srgbClr>
          </a:solidFill>
          <a:ln/>
        </p:spPr>
      </p:sp>
      <p:sp>
        <p:nvSpPr>
          <p:cNvPr id="27" name="Shape 25"/>
          <p:cNvSpPr/>
          <p:nvPr/>
        </p:nvSpPr>
        <p:spPr>
          <a:xfrm>
            <a:off x="3357343" y="5890453"/>
            <a:ext cx="145359" cy="145359"/>
          </a:xfrm>
          <a:custGeom>
            <a:avLst/>
            <a:gdLst/>
            <a:ahLst/>
            <a:cxnLst/>
            <a:rect l="l" t="t" r="r" b="b"/>
            <a:pathLst>
              <a:path w="145359" h="145359">
                <a:moveTo>
                  <a:pt x="9085" y="18170"/>
                </a:moveTo>
                <a:cubicBezTo>
                  <a:pt x="5423" y="18170"/>
                  <a:pt x="2101" y="20384"/>
                  <a:pt x="681" y="23791"/>
                </a:cubicBezTo>
                <a:cubicBezTo>
                  <a:pt x="-738" y="27198"/>
                  <a:pt x="57" y="31088"/>
                  <a:pt x="2669" y="33671"/>
                </a:cubicBezTo>
                <a:lnTo>
                  <a:pt x="54510" y="85540"/>
                </a:lnTo>
                <a:lnTo>
                  <a:pt x="54510" y="118104"/>
                </a:lnTo>
                <a:cubicBezTo>
                  <a:pt x="54510" y="120518"/>
                  <a:pt x="55475" y="122817"/>
                  <a:pt x="57178" y="124521"/>
                </a:cubicBezTo>
                <a:lnTo>
                  <a:pt x="75348" y="142690"/>
                </a:lnTo>
                <a:cubicBezTo>
                  <a:pt x="77960" y="145302"/>
                  <a:pt x="81850" y="146069"/>
                  <a:pt x="85257" y="144649"/>
                </a:cubicBezTo>
                <a:cubicBezTo>
                  <a:pt x="88663" y="143230"/>
                  <a:pt x="90849" y="139937"/>
                  <a:pt x="90849" y="136274"/>
                </a:cubicBezTo>
                <a:lnTo>
                  <a:pt x="90849" y="85540"/>
                </a:lnTo>
                <a:lnTo>
                  <a:pt x="142690" y="33699"/>
                </a:lnTo>
                <a:cubicBezTo>
                  <a:pt x="145302" y="31088"/>
                  <a:pt x="146069" y="27198"/>
                  <a:pt x="144649" y="23791"/>
                </a:cubicBezTo>
                <a:cubicBezTo>
                  <a:pt x="143230" y="20384"/>
                  <a:pt x="139937" y="18170"/>
                  <a:pt x="136274" y="18170"/>
                </a:cubicBezTo>
                <a:lnTo>
                  <a:pt x="9085" y="18170"/>
                </a:lnTo>
                <a:close/>
              </a:path>
            </a:pathLst>
          </a:custGeom>
          <a:solidFill>
            <a:srgbClr val="0071E3"/>
          </a:solidFill>
          <a:ln/>
        </p:spPr>
      </p:sp>
      <p:sp>
        <p:nvSpPr>
          <p:cNvPr id="28" name="Text 26"/>
          <p:cNvSpPr/>
          <p:nvPr/>
        </p:nvSpPr>
        <p:spPr>
          <a:xfrm>
            <a:off x="3593551" y="5872283"/>
            <a:ext cx="963004" cy="181699"/>
          </a:xfrm>
          <a:prstGeom prst="rect">
            <a:avLst/>
          </a:prstGeom>
          <a:noFill/>
          <a:ln/>
        </p:spPr>
        <p:txBody>
          <a:bodyPr wrap="square" lIns="0" tIns="0" rIns="0" bIns="0" rtlCol="0" anchor="ctr"/>
          <a:lstStyle/>
          <a:p>
            <a:pPr>
              <a:lnSpc>
                <a:spcPct val="120000"/>
              </a:lnSpc>
            </a:pPr>
            <a:r>
              <a:rPr lang="en-US" sz="1001" dirty="0">
                <a:solidFill>
                  <a:srgbClr val="1D1D1F"/>
                </a:solidFill>
                <a:latin typeface="Quattrocento Sans" pitchFamily="34" charset="0"/>
                <a:ea typeface="Quattrocento Sans" pitchFamily="34" charset="-122"/>
                <a:cs typeface="Quattrocento Sans" pitchFamily="34" charset="-120"/>
              </a:rPr>
              <a:t>Noise Reduction</a:t>
            </a:r>
            <a:endParaRPr lang="en-US" sz="1600" dirty="0"/>
          </a:p>
        </p:txBody>
      </p:sp>
      <p:sp>
        <p:nvSpPr>
          <p:cNvPr id="29" name="Shape 27"/>
          <p:cNvSpPr/>
          <p:nvPr/>
        </p:nvSpPr>
        <p:spPr>
          <a:xfrm>
            <a:off x="552365" y="6272021"/>
            <a:ext cx="2571040" cy="399738"/>
          </a:xfrm>
          <a:custGeom>
            <a:avLst/>
            <a:gdLst/>
            <a:ahLst/>
            <a:cxnLst/>
            <a:rect l="l" t="t" r="r" b="b"/>
            <a:pathLst>
              <a:path w="2571040" h="399738">
                <a:moveTo>
                  <a:pt x="109020" y="0"/>
                </a:moveTo>
                <a:lnTo>
                  <a:pt x="2462020" y="0"/>
                </a:lnTo>
                <a:cubicBezTo>
                  <a:pt x="2522190" y="0"/>
                  <a:pt x="2571040" y="48850"/>
                  <a:pt x="2571040" y="109020"/>
                </a:cubicBezTo>
                <a:lnTo>
                  <a:pt x="2571040" y="290717"/>
                </a:lnTo>
                <a:cubicBezTo>
                  <a:pt x="2571040" y="350887"/>
                  <a:pt x="2522190" y="399738"/>
                  <a:pt x="2462020" y="399738"/>
                </a:cubicBezTo>
                <a:lnTo>
                  <a:pt x="109020" y="399738"/>
                </a:lnTo>
                <a:cubicBezTo>
                  <a:pt x="48850" y="399738"/>
                  <a:pt x="0" y="350887"/>
                  <a:pt x="0" y="290717"/>
                </a:cubicBezTo>
                <a:lnTo>
                  <a:pt x="0" y="109020"/>
                </a:lnTo>
                <a:cubicBezTo>
                  <a:pt x="0" y="48850"/>
                  <a:pt x="48850" y="0"/>
                  <a:pt x="109020" y="0"/>
                </a:cubicBezTo>
                <a:close/>
              </a:path>
            </a:pathLst>
          </a:custGeom>
          <a:solidFill>
            <a:srgbClr val="FFFFFF">
              <a:alpha val="60000"/>
            </a:srgbClr>
          </a:solidFill>
          <a:ln/>
        </p:spPr>
      </p:sp>
      <p:sp>
        <p:nvSpPr>
          <p:cNvPr id="30" name="Shape 28"/>
          <p:cNvSpPr/>
          <p:nvPr/>
        </p:nvSpPr>
        <p:spPr>
          <a:xfrm>
            <a:off x="679554" y="6399210"/>
            <a:ext cx="145359" cy="145359"/>
          </a:xfrm>
          <a:custGeom>
            <a:avLst/>
            <a:gdLst/>
            <a:ahLst/>
            <a:cxnLst/>
            <a:rect l="l" t="t" r="r" b="b"/>
            <a:pathLst>
              <a:path w="145359" h="145359">
                <a:moveTo>
                  <a:pt x="127189" y="72680"/>
                </a:moveTo>
                <a:cubicBezTo>
                  <a:pt x="127189" y="42595"/>
                  <a:pt x="102764" y="18170"/>
                  <a:pt x="72680" y="18170"/>
                </a:cubicBezTo>
                <a:cubicBezTo>
                  <a:pt x="42595" y="18170"/>
                  <a:pt x="18170" y="42595"/>
                  <a:pt x="18170" y="72680"/>
                </a:cubicBezTo>
                <a:cubicBezTo>
                  <a:pt x="18170" y="102764"/>
                  <a:pt x="42595" y="127189"/>
                  <a:pt x="72680" y="127189"/>
                </a:cubicBezTo>
                <a:cubicBezTo>
                  <a:pt x="102764" y="127189"/>
                  <a:pt x="127189" y="102764"/>
                  <a:pt x="127189" y="72680"/>
                </a:cubicBezTo>
                <a:close/>
                <a:moveTo>
                  <a:pt x="0" y="72680"/>
                </a:moveTo>
                <a:cubicBezTo>
                  <a:pt x="0" y="32567"/>
                  <a:pt x="32567" y="0"/>
                  <a:pt x="72680" y="0"/>
                </a:cubicBezTo>
                <a:cubicBezTo>
                  <a:pt x="112793" y="0"/>
                  <a:pt x="145359" y="32567"/>
                  <a:pt x="145359" y="72680"/>
                </a:cubicBezTo>
                <a:cubicBezTo>
                  <a:pt x="145359" y="112793"/>
                  <a:pt x="112793" y="145359"/>
                  <a:pt x="72680" y="145359"/>
                </a:cubicBezTo>
                <a:cubicBezTo>
                  <a:pt x="32567" y="145359"/>
                  <a:pt x="0" y="112793"/>
                  <a:pt x="0" y="72680"/>
                </a:cubicBezTo>
                <a:close/>
                <a:moveTo>
                  <a:pt x="72680" y="95392"/>
                </a:moveTo>
                <a:cubicBezTo>
                  <a:pt x="85215" y="95392"/>
                  <a:pt x="95392" y="85215"/>
                  <a:pt x="95392" y="72680"/>
                </a:cubicBezTo>
                <a:cubicBezTo>
                  <a:pt x="95392" y="60144"/>
                  <a:pt x="85215" y="49967"/>
                  <a:pt x="72680" y="49967"/>
                </a:cubicBezTo>
                <a:cubicBezTo>
                  <a:pt x="60144" y="49967"/>
                  <a:pt x="49967" y="60144"/>
                  <a:pt x="49967" y="72680"/>
                </a:cubicBezTo>
                <a:cubicBezTo>
                  <a:pt x="49967" y="85215"/>
                  <a:pt x="60144" y="95392"/>
                  <a:pt x="72680" y="95392"/>
                </a:cubicBezTo>
                <a:close/>
                <a:moveTo>
                  <a:pt x="72680" y="31797"/>
                </a:moveTo>
                <a:cubicBezTo>
                  <a:pt x="95243" y="31797"/>
                  <a:pt x="113562" y="50116"/>
                  <a:pt x="113562" y="72680"/>
                </a:cubicBezTo>
                <a:cubicBezTo>
                  <a:pt x="113562" y="95243"/>
                  <a:pt x="95243" y="113562"/>
                  <a:pt x="72680" y="113562"/>
                </a:cubicBezTo>
                <a:cubicBezTo>
                  <a:pt x="50116" y="113562"/>
                  <a:pt x="31797" y="95243"/>
                  <a:pt x="31797" y="72680"/>
                </a:cubicBezTo>
                <a:cubicBezTo>
                  <a:pt x="31797" y="50116"/>
                  <a:pt x="50116" y="31797"/>
                  <a:pt x="72680" y="31797"/>
                </a:cubicBezTo>
                <a:close/>
                <a:moveTo>
                  <a:pt x="63595" y="72680"/>
                </a:moveTo>
                <a:cubicBezTo>
                  <a:pt x="63595" y="67665"/>
                  <a:pt x="67665" y="63595"/>
                  <a:pt x="72680" y="63595"/>
                </a:cubicBezTo>
                <a:cubicBezTo>
                  <a:pt x="77694" y="63595"/>
                  <a:pt x="81765" y="67665"/>
                  <a:pt x="81765" y="72680"/>
                </a:cubicBezTo>
                <a:cubicBezTo>
                  <a:pt x="81765" y="77694"/>
                  <a:pt x="77694" y="81765"/>
                  <a:pt x="72680" y="81765"/>
                </a:cubicBezTo>
                <a:cubicBezTo>
                  <a:pt x="67665" y="81765"/>
                  <a:pt x="63595" y="77694"/>
                  <a:pt x="63595" y="72680"/>
                </a:cubicBezTo>
                <a:close/>
              </a:path>
            </a:pathLst>
          </a:custGeom>
          <a:solidFill>
            <a:srgbClr val="0071E3"/>
          </a:solidFill>
          <a:ln/>
        </p:spPr>
      </p:sp>
      <p:sp>
        <p:nvSpPr>
          <p:cNvPr id="31" name="Text 29"/>
          <p:cNvSpPr/>
          <p:nvPr/>
        </p:nvSpPr>
        <p:spPr>
          <a:xfrm>
            <a:off x="915763" y="6381040"/>
            <a:ext cx="917580" cy="181699"/>
          </a:xfrm>
          <a:prstGeom prst="rect">
            <a:avLst/>
          </a:prstGeom>
          <a:noFill/>
          <a:ln/>
        </p:spPr>
        <p:txBody>
          <a:bodyPr wrap="square" lIns="0" tIns="0" rIns="0" bIns="0" rtlCol="0" anchor="ctr"/>
          <a:lstStyle/>
          <a:p>
            <a:pPr>
              <a:lnSpc>
                <a:spcPct val="120000"/>
              </a:lnSpc>
            </a:pPr>
            <a:r>
              <a:rPr lang="en-US" sz="1001" dirty="0">
                <a:solidFill>
                  <a:srgbClr val="1D1D1F"/>
                </a:solidFill>
                <a:latin typeface="Quattrocento Sans" pitchFamily="34" charset="0"/>
                <a:ea typeface="Quattrocento Sans" pitchFamily="34" charset="-122"/>
                <a:cs typeface="Quattrocento Sans" pitchFamily="34" charset="-120"/>
              </a:rPr>
              <a:t>Keyword Focus</a:t>
            </a:r>
            <a:endParaRPr lang="en-US" sz="1600" dirty="0"/>
          </a:p>
        </p:txBody>
      </p:sp>
      <p:sp>
        <p:nvSpPr>
          <p:cNvPr id="32" name="Shape 30"/>
          <p:cNvSpPr/>
          <p:nvPr/>
        </p:nvSpPr>
        <p:spPr>
          <a:xfrm>
            <a:off x="3230153" y="6272021"/>
            <a:ext cx="2571040" cy="399738"/>
          </a:xfrm>
          <a:custGeom>
            <a:avLst/>
            <a:gdLst/>
            <a:ahLst/>
            <a:cxnLst/>
            <a:rect l="l" t="t" r="r" b="b"/>
            <a:pathLst>
              <a:path w="2571040" h="399738">
                <a:moveTo>
                  <a:pt x="109020" y="0"/>
                </a:moveTo>
                <a:lnTo>
                  <a:pt x="2462020" y="0"/>
                </a:lnTo>
                <a:cubicBezTo>
                  <a:pt x="2522190" y="0"/>
                  <a:pt x="2571040" y="48850"/>
                  <a:pt x="2571040" y="109020"/>
                </a:cubicBezTo>
                <a:lnTo>
                  <a:pt x="2571040" y="290717"/>
                </a:lnTo>
                <a:cubicBezTo>
                  <a:pt x="2571040" y="350887"/>
                  <a:pt x="2522190" y="399738"/>
                  <a:pt x="2462020" y="399738"/>
                </a:cubicBezTo>
                <a:lnTo>
                  <a:pt x="109020" y="399738"/>
                </a:lnTo>
                <a:cubicBezTo>
                  <a:pt x="48850" y="399738"/>
                  <a:pt x="0" y="350887"/>
                  <a:pt x="0" y="290717"/>
                </a:cubicBezTo>
                <a:lnTo>
                  <a:pt x="0" y="109020"/>
                </a:lnTo>
                <a:cubicBezTo>
                  <a:pt x="0" y="48850"/>
                  <a:pt x="48850" y="0"/>
                  <a:pt x="109020" y="0"/>
                </a:cubicBezTo>
                <a:close/>
              </a:path>
            </a:pathLst>
          </a:custGeom>
          <a:solidFill>
            <a:srgbClr val="FFFFFF">
              <a:alpha val="60000"/>
            </a:srgbClr>
          </a:solidFill>
          <a:ln/>
        </p:spPr>
      </p:sp>
      <p:sp>
        <p:nvSpPr>
          <p:cNvPr id="33" name="Shape 31"/>
          <p:cNvSpPr/>
          <p:nvPr/>
        </p:nvSpPr>
        <p:spPr>
          <a:xfrm>
            <a:off x="3366428" y="6399210"/>
            <a:ext cx="127189" cy="145359"/>
          </a:xfrm>
          <a:custGeom>
            <a:avLst/>
            <a:gdLst/>
            <a:ahLst/>
            <a:cxnLst/>
            <a:rect l="l" t="t" r="r" b="b"/>
            <a:pathLst>
              <a:path w="127189" h="145359">
                <a:moveTo>
                  <a:pt x="72680" y="45425"/>
                </a:moveTo>
                <a:lnTo>
                  <a:pt x="72680" y="72680"/>
                </a:lnTo>
                <a:lnTo>
                  <a:pt x="109019" y="72680"/>
                </a:lnTo>
                <a:lnTo>
                  <a:pt x="109019" y="45425"/>
                </a:lnTo>
                <a:lnTo>
                  <a:pt x="72680" y="45425"/>
                </a:lnTo>
                <a:close/>
                <a:moveTo>
                  <a:pt x="54510" y="45425"/>
                </a:moveTo>
                <a:lnTo>
                  <a:pt x="18170" y="45425"/>
                </a:lnTo>
                <a:lnTo>
                  <a:pt x="18170" y="72680"/>
                </a:lnTo>
                <a:lnTo>
                  <a:pt x="54510" y="72680"/>
                </a:lnTo>
                <a:lnTo>
                  <a:pt x="54510" y="45425"/>
                </a:lnTo>
                <a:close/>
                <a:moveTo>
                  <a:pt x="0" y="90849"/>
                </a:moveTo>
                <a:lnTo>
                  <a:pt x="0" y="27255"/>
                </a:lnTo>
                <a:cubicBezTo>
                  <a:pt x="0" y="17233"/>
                  <a:pt x="8148" y="9085"/>
                  <a:pt x="18170" y="9085"/>
                </a:cubicBezTo>
                <a:lnTo>
                  <a:pt x="109019" y="9085"/>
                </a:lnTo>
                <a:cubicBezTo>
                  <a:pt x="119041" y="9085"/>
                  <a:pt x="127189" y="17233"/>
                  <a:pt x="127189" y="27255"/>
                </a:cubicBezTo>
                <a:lnTo>
                  <a:pt x="127189" y="118104"/>
                </a:lnTo>
                <a:cubicBezTo>
                  <a:pt x="127189" y="128126"/>
                  <a:pt x="119041" y="136274"/>
                  <a:pt x="109019" y="136274"/>
                </a:cubicBezTo>
                <a:lnTo>
                  <a:pt x="18170" y="136274"/>
                </a:lnTo>
                <a:cubicBezTo>
                  <a:pt x="8148" y="136274"/>
                  <a:pt x="0" y="128126"/>
                  <a:pt x="0" y="118104"/>
                </a:cubicBezTo>
                <a:lnTo>
                  <a:pt x="0" y="90849"/>
                </a:lnTo>
                <a:close/>
                <a:moveTo>
                  <a:pt x="109019" y="90849"/>
                </a:moveTo>
                <a:lnTo>
                  <a:pt x="72680" y="90849"/>
                </a:lnTo>
                <a:lnTo>
                  <a:pt x="72680" y="118104"/>
                </a:lnTo>
                <a:lnTo>
                  <a:pt x="109019" y="118104"/>
                </a:lnTo>
                <a:lnTo>
                  <a:pt x="109019" y="90849"/>
                </a:lnTo>
                <a:close/>
                <a:moveTo>
                  <a:pt x="54510" y="118104"/>
                </a:moveTo>
                <a:lnTo>
                  <a:pt x="54510" y="90849"/>
                </a:lnTo>
                <a:lnTo>
                  <a:pt x="18170" y="90849"/>
                </a:lnTo>
                <a:lnTo>
                  <a:pt x="18170" y="118104"/>
                </a:lnTo>
                <a:lnTo>
                  <a:pt x="54510" y="118104"/>
                </a:lnTo>
                <a:close/>
              </a:path>
            </a:pathLst>
          </a:custGeom>
          <a:solidFill>
            <a:srgbClr val="0071E3"/>
          </a:solidFill>
          <a:ln/>
        </p:spPr>
      </p:sp>
      <p:sp>
        <p:nvSpPr>
          <p:cNvPr id="34" name="Text 32"/>
          <p:cNvSpPr/>
          <p:nvPr/>
        </p:nvSpPr>
        <p:spPr>
          <a:xfrm>
            <a:off x="3593551" y="6381040"/>
            <a:ext cx="853985" cy="181699"/>
          </a:xfrm>
          <a:prstGeom prst="rect">
            <a:avLst/>
          </a:prstGeom>
          <a:noFill/>
          <a:ln/>
        </p:spPr>
        <p:txBody>
          <a:bodyPr wrap="square" lIns="0" tIns="0" rIns="0" bIns="0" rtlCol="0" anchor="ctr"/>
          <a:lstStyle/>
          <a:p>
            <a:pPr>
              <a:lnSpc>
                <a:spcPct val="120000"/>
              </a:lnSpc>
            </a:pPr>
            <a:r>
              <a:rPr lang="en-US" sz="1001" dirty="0">
                <a:solidFill>
                  <a:srgbClr val="1D1D1F"/>
                </a:solidFill>
                <a:latin typeface="Quattrocento Sans" pitchFamily="34" charset="0"/>
                <a:ea typeface="Quattrocento Sans" pitchFamily="34" charset="-122"/>
                <a:cs typeface="Quattrocento Sans" pitchFamily="34" charset="-120"/>
              </a:rPr>
              <a:t>Feature Matrix</a:t>
            </a:r>
            <a:endParaRPr lang="en-US" sz="1600" dirty="0"/>
          </a:p>
        </p:txBody>
      </p:sp>
      <p:sp>
        <p:nvSpPr>
          <p:cNvPr id="35" name="Shape 33"/>
          <p:cNvSpPr/>
          <p:nvPr/>
        </p:nvSpPr>
        <p:spPr>
          <a:xfrm>
            <a:off x="6209562" y="1275527"/>
            <a:ext cx="5621766" cy="3659417"/>
          </a:xfrm>
          <a:custGeom>
            <a:avLst/>
            <a:gdLst/>
            <a:ahLst/>
            <a:cxnLst/>
            <a:rect l="l" t="t" r="r" b="b"/>
            <a:pathLst>
              <a:path w="5621766" h="3659417">
                <a:moveTo>
                  <a:pt x="218028" y="0"/>
                </a:moveTo>
                <a:lnTo>
                  <a:pt x="5403738" y="0"/>
                </a:lnTo>
                <a:cubicBezTo>
                  <a:pt x="5524151" y="0"/>
                  <a:pt x="5621766" y="97614"/>
                  <a:pt x="5621766" y="218028"/>
                </a:cubicBezTo>
                <a:lnTo>
                  <a:pt x="5621766" y="3441389"/>
                </a:lnTo>
                <a:cubicBezTo>
                  <a:pt x="5621766" y="3561803"/>
                  <a:pt x="5524151" y="3659417"/>
                  <a:pt x="5403738" y="3659417"/>
                </a:cubicBezTo>
                <a:lnTo>
                  <a:pt x="218028" y="3659417"/>
                </a:lnTo>
                <a:cubicBezTo>
                  <a:pt x="97614" y="3659417"/>
                  <a:pt x="0" y="3561803"/>
                  <a:pt x="0" y="3441389"/>
                </a:cubicBezTo>
                <a:lnTo>
                  <a:pt x="0" y="218028"/>
                </a:lnTo>
                <a:cubicBezTo>
                  <a:pt x="0" y="97695"/>
                  <a:pt x="97695" y="0"/>
                  <a:pt x="218028" y="0"/>
                </a:cubicBezTo>
                <a:close/>
              </a:path>
            </a:pathLst>
          </a:custGeom>
          <a:solidFill>
            <a:srgbClr val="FFFFFF">
              <a:alpha val="85098"/>
            </a:srgbClr>
          </a:solidFill>
          <a:ln w="10160">
            <a:solidFill>
              <a:srgbClr val="FFFFFF">
                <a:alpha val="30196"/>
              </a:srgbClr>
            </a:solidFill>
            <a:prstDash val="solid"/>
          </a:ln>
        </p:spPr>
      </p:sp>
      <p:sp>
        <p:nvSpPr>
          <p:cNvPr id="36" name="Shape 34"/>
          <p:cNvSpPr/>
          <p:nvPr/>
        </p:nvSpPr>
        <p:spPr>
          <a:xfrm>
            <a:off x="6431235" y="1497202"/>
            <a:ext cx="363398" cy="363398"/>
          </a:xfrm>
          <a:custGeom>
            <a:avLst/>
            <a:gdLst/>
            <a:ahLst/>
            <a:cxnLst/>
            <a:rect l="l" t="t" r="r" b="b"/>
            <a:pathLst>
              <a:path w="363398" h="363398">
                <a:moveTo>
                  <a:pt x="109019" y="0"/>
                </a:moveTo>
                <a:lnTo>
                  <a:pt x="254379" y="0"/>
                </a:lnTo>
                <a:cubicBezTo>
                  <a:pt x="314588" y="0"/>
                  <a:pt x="363398" y="48810"/>
                  <a:pt x="363398" y="109019"/>
                </a:cubicBezTo>
                <a:lnTo>
                  <a:pt x="363398" y="254379"/>
                </a:lnTo>
                <a:cubicBezTo>
                  <a:pt x="363398" y="314588"/>
                  <a:pt x="314588" y="363398"/>
                  <a:pt x="254379" y="363398"/>
                </a:cubicBezTo>
                <a:lnTo>
                  <a:pt x="109019" y="363398"/>
                </a:lnTo>
                <a:cubicBezTo>
                  <a:pt x="48810" y="363398"/>
                  <a:pt x="0" y="314588"/>
                  <a:pt x="0" y="254379"/>
                </a:cubicBezTo>
                <a:lnTo>
                  <a:pt x="0" y="109019"/>
                </a:lnTo>
                <a:cubicBezTo>
                  <a:pt x="0" y="48810"/>
                  <a:pt x="48810" y="0"/>
                  <a:pt x="109019" y="0"/>
                </a:cubicBezTo>
                <a:close/>
              </a:path>
            </a:pathLst>
          </a:custGeom>
          <a:solidFill>
            <a:srgbClr val="0071E3">
              <a:alpha val="10196"/>
            </a:srgbClr>
          </a:solidFill>
          <a:ln/>
        </p:spPr>
      </p:sp>
      <p:sp>
        <p:nvSpPr>
          <p:cNvPr id="37" name="Shape 35"/>
          <p:cNvSpPr/>
          <p:nvPr/>
        </p:nvSpPr>
        <p:spPr>
          <a:xfrm>
            <a:off x="6512999" y="1597136"/>
            <a:ext cx="204411" cy="163529"/>
          </a:xfrm>
          <a:custGeom>
            <a:avLst/>
            <a:gdLst/>
            <a:ahLst/>
            <a:cxnLst/>
            <a:rect l="l" t="t" r="r" b="b"/>
            <a:pathLst>
              <a:path w="204411" h="163529">
                <a:moveTo>
                  <a:pt x="132835" y="67232"/>
                </a:moveTo>
                <a:cubicBezTo>
                  <a:pt x="136732" y="66178"/>
                  <a:pt x="140820" y="68031"/>
                  <a:pt x="142577" y="71640"/>
                </a:cubicBezTo>
                <a:lnTo>
                  <a:pt x="148518" y="83649"/>
                </a:lnTo>
                <a:cubicBezTo>
                  <a:pt x="151807" y="84096"/>
                  <a:pt x="155033" y="84990"/>
                  <a:pt x="158067" y="86236"/>
                </a:cubicBezTo>
                <a:lnTo>
                  <a:pt x="169246" y="78794"/>
                </a:lnTo>
                <a:cubicBezTo>
                  <a:pt x="172600" y="76558"/>
                  <a:pt x="177039" y="77006"/>
                  <a:pt x="179882" y="79848"/>
                </a:cubicBezTo>
                <a:lnTo>
                  <a:pt x="186014" y="85981"/>
                </a:lnTo>
                <a:cubicBezTo>
                  <a:pt x="188857" y="88823"/>
                  <a:pt x="189304" y="93295"/>
                  <a:pt x="187068" y="96616"/>
                </a:cubicBezTo>
                <a:lnTo>
                  <a:pt x="179626" y="107763"/>
                </a:lnTo>
                <a:cubicBezTo>
                  <a:pt x="180233" y="109264"/>
                  <a:pt x="180776" y="110829"/>
                  <a:pt x="181223" y="112458"/>
                </a:cubicBezTo>
                <a:cubicBezTo>
                  <a:pt x="181671" y="114087"/>
                  <a:pt x="181958" y="115684"/>
                  <a:pt x="182182" y="117313"/>
                </a:cubicBezTo>
                <a:lnTo>
                  <a:pt x="194223" y="123254"/>
                </a:lnTo>
                <a:cubicBezTo>
                  <a:pt x="197832" y="125042"/>
                  <a:pt x="199684" y="129130"/>
                  <a:pt x="198630" y="132995"/>
                </a:cubicBezTo>
                <a:lnTo>
                  <a:pt x="196395" y="141363"/>
                </a:lnTo>
                <a:cubicBezTo>
                  <a:pt x="195341" y="145228"/>
                  <a:pt x="191731" y="147847"/>
                  <a:pt x="187707" y="147591"/>
                </a:cubicBezTo>
                <a:lnTo>
                  <a:pt x="174293" y="146729"/>
                </a:lnTo>
                <a:cubicBezTo>
                  <a:pt x="172280" y="149316"/>
                  <a:pt x="169949" y="151712"/>
                  <a:pt x="167298" y="153756"/>
                </a:cubicBezTo>
                <a:lnTo>
                  <a:pt x="168160" y="167138"/>
                </a:lnTo>
                <a:cubicBezTo>
                  <a:pt x="168416" y="171163"/>
                  <a:pt x="165797" y="174804"/>
                  <a:pt x="161932" y="175826"/>
                </a:cubicBezTo>
                <a:lnTo>
                  <a:pt x="153564" y="178061"/>
                </a:lnTo>
                <a:cubicBezTo>
                  <a:pt x="149667" y="179115"/>
                  <a:pt x="145611" y="177263"/>
                  <a:pt x="143823" y="173654"/>
                </a:cubicBezTo>
                <a:lnTo>
                  <a:pt x="137882" y="161645"/>
                </a:lnTo>
                <a:cubicBezTo>
                  <a:pt x="134592" y="161197"/>
                  <a:pt x="131366" y="160303"/>
                  <a:pt x="128332" y="159058"/>
                </a:cubicBezTo>
                <a:lnTo>
                  <a:pt x="117153" y="166499"/>
                </a:lnTo>
                <a:cubicBezTo>
                  <a:pt x="113800" y="168735"/>
                  <a:pt x="109360" y="168288"/>
                  <a:pt x="106517" y="165445"/>
                </a:cubicBezTo>
                <a:lnTo>
                  <a:pt x="100385" y="159313"/>
                </a:lnTo>
                <a:cubicBezTo>
                  <a:pt x="97543" y="156470"/>
                  <a:pt x="97095" y="152031"/>
                  <a:pt x="99331" y="148677"/>
                </a:cubicBezTo>
                <a:lnTo>
                  <a:pt x="106773" y="137499"/>
                </a:lnTo>
                <a:cubicBezTo>
                  <a:pt x="106166" y="135997"/>
                  <a:pt x="105623" y="134432"/>
                  <a:pt x="105176" y="132803"/>
                </a:cubicBezTo>
                <a:cubicBezTo>
                  <a:pt x="104729" y="131175"/>
                  <a:pt x="104441" y="129546"/>
                  <a:pt x="104218" y="127949"/>
                </a:cubicBezTo>
                <a:lnTo>
                  <a:pt x="92177" y="122008"/>
                </a:lnTo>
                <a:cubicBezTo>
                  <a:pt x="88568" y="120219"/>
                  <a:pt x="86747" y="116131"/>
                  <a:pt x="87769" y="112267"/>
                </a:cubicBezTo>
                <a:lnTo>
                  <a:pt x="90005" y="103898"/>
                </a:lnTo>
                <a:cubicBezTo>
                  <a:pt x="91059" y="100034"/>
                  <a:pt x="94668" y="97415"/>
                  <a:pt x="98692" y="97670"/>
                </a:cubicBezTo>
                <a:lnTo>
                  <a:pt x="112075" y="98533"/>
                </a:lnTo>
                <a:cubicBezTo>
                  <a:pt x="114087" y="95946"/>
                  <a:pt x="116419" y="93550"/>
                  <a:pt x="119070" y="91506"/>
                </a:cubicBezTo>
                <a:lnTo>
                  <a:pt x="118207" y="78155"/>
                </a:lnTo>
                <a:cubicBezTo>
                  <a:pt x="117952" y="74131"/>
                  <a:pt x="120571" y="70490"/>
                  <a:pt x="124435" y="69468"/>
                </a:cubicBezTo>
                <a:lnTo>
                  <a:pt x="132803" y="67232"/>
                </a:lnTo>
                <a:close/>
                <a:moveTo>
                  <a:pt x="143216" y="108594"/>
                </a:moveTo>
                <a:cubicBezTo>
                  <a:pt x="135459" y="108602"/>
                  <a:pt x="129170" y="114907"/>
                  <a:pt x="129178" y="122663"/>
                </a:cubicBezTo>
                <a:cubicBezTo>
                  <a:pt x="129187" y="130419"/>
                  <a:pt x="135491" y="136709"/>
                  <a:pt x="143248" y="136700"/>
                </a:cubicBezTo>
                <a:cubicBezTo>
                  <a:pt x="151004" y="136691"/>
                  <a:pt x="157294" y="130387"/>
                  <a:pt x="157285" y="122631"/>
                </a:cubicBezTo>
                <a:cubicBezTo>
                  <a:pt x="157276" y="114875"/>
                  <a:pt x="150972" y="108585"/>
                  <a:pt x="143216" y="108594"/>
                </a:cubicBezTo>
                <a:close/>
                <a:moveTo>
                  <a:pt x="71831" y="-14532"/>
                </a:moveTo>
                <a:lnTo>
                  <a:pt x="80200" y="-12297"/>
                </a:lnTo>
                <a:cubicBezTo>
                  <a:pt x="84064" y="-11243"/>
                  <a:pt x="86683" y="-7602"/>
                  <a:pt x="86428" y="-3609"/>
                </a:cubicBezTo>
                <a:lnTo>
                  <a:pt x="85565" y="9741"/>
                </a:lnTo>
                <a:cubicBezTo>
                  <a:pt x="88216" y="11786"/>
                  <a:pt x="90548" y="14149"/>
                  <a:pt x="92560" y="16768"/>
                </a:cubicBezTo>
                <a:lnTo>
                  <a:pt x="105974" y="15906"/>
                </a:lnTo>
                <a:cubicBezTo>
                  <a:pt x="109967" y="15650"/>
                  <a:pt x="113608" y="18269"/>
                  <a:pt x="114662" y="22134"/>
                </a:cubicBezTo>
                <a:lnTo>
                  <a:pt x="116898" y="30502"/>
                </a:lnTo>
                <a:cubicBezTo>
                  <a:pt x="117920" y="34367"/>
                  <a:pt x="116099" y="38455"/>
                  <a:pt x="112490" y="40243"/>
                </a:cubicBezTo>
                <a:lnTo>
                  <a:pt x="100449" y="46184"/>
                </a:lnTo>
                <a:cubicBezTo>
                  <a:pt x="100225" y="47813"/>
                  <a:pt x="99906" y="49442"/>
                  <a:pt x="99491" y="51039"/>
                </a:cubicBezTo>
                <a:cubicBezTo>
                  <a:pt x="99076" y="52636"/>
                  <a:pt x="98501" y="54233"/>
                  <a:pt x="97894" y="55734"/>
                </a:cubicBezTo>
                <a:lnTo>
                  <a:pt x="105336" y="66913"/>
                </a:lnTo>
                <a:cubicBezTo>
                  <a:pt x="107571" y="70266"/>
                  <a:pt x="107124" y="74706"/>
                  <a:pt x="104282" y="77549"/>
                </a:cubicBezTo>
                <a:lnTo>
                  <a:pt x="98149" y="83681"/>
                </a:lnTo>
                <a:cubicBezTo>
                  <a:pt x="95307" y="86523"/>
                  <a:pt x="90867" y="86971"/>
                  <a:pt x="87514" y="84735"/>
                </a:cubicBezTo>
                <a:lnTo>
                  <a:pt x="76335" y="77293"/>
                </a:lnTo>
                <a:cubicBezTo>
                  <a:pt x="73301" y="78539"/>
                  <a:pt x="70075" y="79433"/>
                  <a:pt x="66785" y="79880"/>
                </a:cubicBezTo>
                <a:lnTo>
                  <a:pt x="60844" y="91889"/>
                </a:lnTo>
                <a:cubicBezTo>
                  <a:pt x="59056" y="95498"/>
                  <a:pt x="54967" y="97319"/>
                  <a:pt x="51103" y="96297"/>
                </a:cubicBezTo>
                <a:lnTo>
                  <a:pt x="42735" y="94061"/>
                </a:lnTo>
                <a:cubicBezTo>
                  <a:pt x="38838" y="93007"/>
                  <a:pt x="36251" y="89366"/>
                  <a:pt x="36507" y="85374"/>
                </a:cubicBezTo>
                <a:lnTo>
                  <a:pt x="37369" y="71991"/>
                </a:lnTo>
                <a:cubicBezTo>
                  <a:pt x="34718" y="69947"/>
                  <a:pt x="32386" y="67583"/>
                  <a:pt x="30374" y="64964"/>
                </a:cubicBezTo>
                <a:lnTo>
                  <a:pt x="16960" y="65827"/>
                </a:lnTo>
                <a:cubicBezTo>
                  <a:pt x="12967" y="66082"/>
                  <a:pt x="9326" y="63463"/>
                  <a:pt x="8272" y="59599"/>
                </a:cubicBezTo>
                <a:lnTo>
                  <a:pt x="6037" y="51231"/>
                </a:lnTo>
                <a:cubicBezTo>
                  <a:pt x="5014" y="47366"/>
                  <a:pt x="6835" y="43278"/>
                  <a:pt x="10444" y="41489"/>
                </a:cubicBezTo>
                <a:lnTo>
                  <a:pt x="22485" y="35548"/>
                </a:lnTo>
                <a:cubicBezTo>
                  <a:pt x="22709" y="33920"/>
                  <a:pt x="23028" y="32323"/>
                  <a:pt x="23443" y="30694"/>
                </a:cubicBezTo>
                <a:cubicBezTo>
                  <a:pt x="23891" y="29065"/>
                  <a:pt x="24402" y="27500"/>
                  <a:pt x="25040" y="25999"/>
                </a:cubicBezTo>
                <a:lnTo>
                  <a:pt x="17599" y="14852"/>
                </a:lnTo>
                <a:cubicBezTo>
                  <a:pt x="15363" y="11498"/>
                  <a:pt x="15810" y="7059"/>
                  <a:pt x="18653" y="4216"/>
                </a:cubicBezTo>
                <a:lnTo>
                  <a:pt x="24785" y="-1916"/>
                </a:lnTo>
                <a:cubicBezTo>
                  <a:pt x="27627" y="-4759"/>
                  <a:pt x="32067" y="-5206"/>
                  <a:pt x="35421" y="-2970"/>
                </a:cubicBezTo>
                <a:lnTo>
                  <a:pt x="46599" y="4471"/>
                </a:lnTo>
                <a:cubicBezTo>
                  <a:pt x="49634" y="3226"/>
                  <a:pt x="52859" y="2332"/>
                  <a:pt x="56149" y="1884"/>
                </a:cubicBezTo>
                <a:lnTo>
                  <a:pt x="62090" y="-10125"/>
                </a:lnTo>
                <a:cubicBezTo>
                  <a:pt x="63879" y="-13734"/>
                  <a:pt x="67935" y="-15554"/>
                  <a:pt x="71831" y="-14532"/>
                </a:cubicBezTo>
                <a:close/>
                <a:moveTo>
                  <a:pt x="61451" y="26829"/>
                </a:moveTo>
                <a:cubicBezTo>
                  <a:pt x="53695" y="26829"/>
                  <a:pt x="47398" y="33126"/>
                  <a:pt x="47398" y="40882"/>
                </a:cubicBezTo>
                <a:cubicBezTo>
                  <a:pt x="47398" y="48638"/>
                  <a:pt x="53695" y="54936"/>
                  <a:pt x="61451" y="54936"/>
                </a:cubicBezTo>
                <a:cubicBezTo>
                  <a:pt x="69207" y="54936"/>
                  <a:pt x="75504" y="48638"/>
                  <a:pt x="75504" y="40882"/>
                </a:cubicBezTo>
                <a:cubicBezTo>
                  <a:pt x="75504" y="33126"/>
                  <a:pt x="69207" y="26829"/>
                  <a:pt x="61451" y="26829"/>
                </a:cubicBezTo>
                <a:close/>
              </a:path>
            </a:pathLst>
          </a:custGeom>
          <a:solidFill>
            <a:srgbClr val="0071E3"/>
          </a:solidFill>
          <a:ln/>
        </p:spPr>
      </p:sp>
      <p:sp>
        <p:nvSpPr>
          <p:cNvPr id="38" name="Text 36"/>
          <p:cNvSpPr/>
          <p:nvPr/>
        </p:nvSpPr>
        <p:spPr>
          <a:xfrm>
            <a:off x="6903652" y="1533542"/>
            <a:ext cx="1399082" cy="290718"/>
          </a:xfrm>
          <a:prstGeom prst="rect">
            <a:avLst/>
          </a:prstGeom>
          <a:noFill/>
          <a:ln/>
        </p:spPr>
        <p:txBody>
          <a:bodyPr wrap="square" lIns="0" tIns="0" rIns="0" bIns="0" rtlCol="0" anchor="ctr"/>
          <a:lstStyle/>
          <a:p>
            <a:pPr>
              <a:lnSpc>
                <a:spcPct val="110000"/>
              </a:lnSpc>
            </a:pPr>
            <a:r>
              <a:rPr lang="en-US" sz="1717" b="1" dirty="0">
                <a:solidFill>
                  <a:srgbClr val="1D1D1F"/>
                </a:solidFill>
                <a:latin typeface="Liter" pitchFamily="34" charset="0"/>
                <a:ea typeface="Liter" pitchFamily="34" charset="-122"/>
                <a:cs typeface="Liter" pitchFamily="34" charset="-120"/>
              </a:rPr>
              <a:t>How It Works</a:t>
            </a:r>
            <a:endParaRPr lang="en-US" sz="1600" dirty="0"/>
          </a:p>
        </p:txBody>
      </p:sp>
      <p:sp>
        <p:nvSpPr>
          <p:cNvPr id="39" name="Shape 37"/>
          <p:cNvSpPr/>
          <p:nvPr/>
        </p:nvSpPr>
        <p:spPr>
          <a:xfrm>
            <a:off x="6431235" y="2042299"/>
            <a:ext cx="436077" cy="436077"/>
          </a:xfrm>
          <a:custGeom>
            <a:avLst/>
            <a:gdLst/>
            <a:ahLst/>
            <a:cxnLst/>
            <a:rect l="l" t="t" r="r" b="b"/>
            <a:pathLst>
              <a:path w="436077" h="436077">
                <a:moveTo>
                  <a:pt x="109019" y="0"/>
                </a:moveTo>
                <a:lnTo>
                  <a:pt x="327058" y="0"/>
                </a:lnTo>
                <a:cubicBezTo>
                  <a:pt x="387268" y="0"/>
                  <a:pt x="436077" y="48810"/>
                  <a:pt x="436077" y="109019"/>
                </a:cubicBezTo>
                <a:lnTo>
                  <a:pt x="436077" y="327058"/>
                </a:lnTo>
                <a:cubicBezTo>
                  <a:pt x="436077" y="387268"/>
                  <a:pt x="387268" y="436077"/>
                  <a:pt x="327058" y="436077"/>
                </a:cubicBezTo>
                <a:lnTo>
                  <a:pt x="109019" y="436077"/>
                </a:lnTo>
                <a:cubicBezTo>
                  <a:pt x="48810" y="436077"/>
                  <a:pt x="0" y="387268"/>
                  <a:pt x="0" y="327058"/>
                </a:cubicBezTo>
                <a:lnTo>
                  <a:pt x="0" y="109019"/>
                </a:lnTo>
                <a:cubicBezTo>
                  <a:pt x="0" y="48810"/>
                  <a:pt x="48810" y="0"/>
                  <a:pt x="109019" y="0"/>
                </a:cubicBezTo>
                <a:close/>
              </a:path>
            </a:pathLst>
          </a:custGeom>
          <a:solidFill>
            <a:srgbClr val="0071E3"/>
          </a:solidFill>
          <a:ln/>
        </p:spPr>
      </p:sp>
      <p:sp>
        <p:nvSpPr>
          <p:cNvPr id="40" name="Text 38"/>
          <p:cNvSpPr/>
          <p:nvPr/>
        </p:nvSpPr>
        <p:spPr>
          <a:xfrm>
            <a:off x="6390353" y="2042299"/>
            <a:ext cx="517842" cy="436077"/>
          </a:xfrm>
          <a:prstGeom prst="rect">
            <a:avLst/>
          </a:prstGeom>
          <a:noFill/>
          <a:ln/>
        </p:spPr>
        <p:txBody>
          <a:bodyPr wrap="square" lIns="0" tIns="0" rIns="0" bIns="0" rtlCol="0" anchor="ctr"/>
          <a:lstStyle/>
          <a:p>
            <a:pPr algn="ctr">
              <a:lnSpc>
                <a:spcPct val="130000"/>
              </a:lnSpc>
            </a:pPr>
            <a:r>
              <a:rPr lang="en-US" sz="1288" b="1" dirty="0">
                <a:solidFill>
                  <a:srgbClr val="FFFFFF"/>
                </a:solidFill>
                <a:latin typeface="Liter" pitchFamily="34" charset="0"/>
                <a:ea typeface="Liter" pitchFamily="34" charset="-122"/>
                <a:cs typeface="Liter" pitchFamily="34" charset="-120"/>
              </a:rPr>
              <a:t>1</a:t>
            </a:r>
            <a:endParaRPr lang="en-US" sz="1600" dirty="0"/>
          </a:p>
        </p:txBody>
      </p:sp>
      <p:sp>
        <p:nvSpPr>
          <p:cNvPr id="41" name="Text 39"/>
          <p:cNvSpPr/>
          <p:nvPr/>
        </p:nvSpPr>
        <p:spPr>
          <a:xfrm>
            <a:off x="7012671" y="2042299"/>
            <a:ext cx="4669663" cy="218039"/>
          </a:xfrm>
          <a:prstGeom prst="rect">
            <a:avLst/>
          </a:prstGeom>
          <a:noFill/>
          <a:ln/>
        </p:spPr>
        <p:txBody>
          <a:bodyPr wrap="square" lIns="0" tIns="0" rIns="0" bIns="0" rtlCol="0" anchor="ctr"/>
          <a:lstStyle/>
          <a:p>
            <a:pPr>
              <a:lnSpc>
                <a:spcPct val="130000"/>
              </a:lnSpc>
            </a:pPr>
            <a:r>
              <a:rPr lang="en-US" sz="1145" b="1" dirty="0">
                <a:solidFill>
                  <a:srgbClr val="1D1D1F"/>
                </a:solidFill>
                <a:latin typeface="Liter" pitchFamily="34" charset="0"/>
                <a:ea typeface="Liter" pitchFamily="34" charset="-122"/>
                <a:cs typeface="Liter" pitchFamily="34" charset="-120"/>
              </a:rPr>
              <a:t>Term Frequency Calculation</a:t>
            </a:r>
            <a:endParaRPr lang="en-US" sz="1600" dirty="0"/>
          </a:p>
        </p:txBody>
      </p:sp>
      <p:sp>
        <p:nvSpPr>
          <p:cNvPr id="42" name="Text 40"/>
          <p:cNvSpPr/>
          <p:nvPr/>
        </p:nvSpPr>
        <p:spPr>
          <a:xfrm>
            <a:off x="7012671" y="2296677"/>
            <a:ext cx="4660578" cy="208954"/>
          </a:xfrm>
          <a:prstGeom prst="rect">
            <a:avLst/>
          </a:prstGeom>
          <a:noFill/>
          <a:ln/>
        </p:spPr>
        <p:txBody>
          <a:bodyPr wrap="square" lIns="0" tIns="0" rIns="0" bIns="0" rtlCol="0" anchor="ctr"/>
          <a:lstStyle/>
          <a:p>
            <a:pPr>
              <a:lnSpc>
                <a:spcPct val="140000"/>
              </a:lnSpc>
            </a:pPr>
            <a:r>
              <a:rPr lang="en-US" sz="1001" dirty="0">
                <a:solidFill>
                  <a:srgbClr val="86868B"/>
                </a:solidFill>
                <a:latin typeface="Quattrocento Sans" pitchFamily="34" charset="0"/>
                <a:ea typeface="Quattrocento Sans" pitchFamily="34" charset="-122"/>
                <a:cs typeface="Quattrocento Sans" pitchFamily="34" charset="-120"/>
              </a:rPr>
              <a:t>Measures how frequently a term appears in a document</a:t>
            </a:r>
            <a:endParaRPr lang="en-US" sz="1600" dirty="0"/>
          </a:p>
        </p:txBody>
      </p:sp>
      <p:sp>
        <p:nvSpPr>
          <p:cNvPr id="43" name="Shape 41"/>
          <p:cNvSpPr/>
          <p:nvPr/>
        </p:nvSpPr>
        <p:spPr>
          <a:xfrm>
            <a:off x="6431235" y="2648719"/>
            <a:ext cx="436077" cy="436077"/>
          </a:xfrm>
          <a:custGeom>
            <a:avLst/>
            <a:gdLst/>
            <a:ahLst/>
            <a:cxnLst/>
            <a:rect l="l" t="t" r="r" b="b"/>
            <a:pathLst>
              <a:path w="436077" h="436077">
                <a:moveTo>
                  <a:pt x="109019" y="0"/>
                </a:moveTo>
                <a:lnTo>
                  <a:pt x="327058" y="0"/>
                </a:lnTo>
                <a:cubicBezTo>
                  <a:pt x="387268" y="0"/>
                  <a:pt x="436077" y="48810"/>
                  <a:pt x="436077" y="109019"/>
                </a:cubicBezTo>
                <a:lnTo>
                  <a:pt x="436077" y="327058"/>
                </a:lnTo>
                <a:cubicBezTo>
                  <a:pt x="436077" y="387268"/>
                  <a:pt x="387268" y="436077"/>
                  <a:pt x="327058" y="436077"/>
                </a:cubicBezTo>
                <a:lnTo>
                  <a:pt x="109019" y="436077"/>
                </a:lnTo>
                <a:cubicBezTo>
                  <a:pt x="48810" y="436077"/>
                  <a:pt x="0" y="387268"/>
                  <a:pt x="0" y="327058"/>
                </a:cubicBezTo>
                <a:lnTo>
                  <a:pt x="0" y="109019"/>
                </a:lnTo>
                <a:cubicBezTo>
                  <a:pt x="0" y="48810"/>
                  <a:pt x="48810" y="0"/>
                  <a:pt x="109019" y="0"/>
                </a:cubicBezTo>
                <a:close/>
              </a:path>
            </a:pathLst>
          </a:custGeom>
          <a:solidFill>
            <a:srgbClr val="0071E3"/>
          </a:solidFill>
          <a:ln/>
        </p:spPr>
      </p:sp>
      <p:sp>
        <p:nvSpPr>
          <p:cNvPr id="44" name="Text 42"/>
          <p:cNvSpPr/>
          <p:nvPr/>
        </p:nvSpPr>
        <p:spPr>
          <a:xfrm>
            <a:off x="6390353" y="2648719"/>
            <a:ext cx="517842" cy="436077"/>
          </a:xfrm>
          <a:prstGeom prst="rect">
            <a:avLst/>
          </a:prstGeom>
          <a:noFill/>
          <a:ln/>
        </p:spPr>
        <p:txBody>
          <a:bodyPr wrap="square" lIns="0" tIns="0" rIns="0" bIns="0" rtlCol="0" anchor="ctr"/>
          <a:lstStyle/>
          <a:p>
            <a:pPr algn="ctr">
              <a:lnSpc>
                <a:spcPct val="130000"/>
              </a:lnSpc>
            </a:pPr>
            <a:r>
              <a:rPr lang="en-US" sz="1288" b="1" dirty="0">
                <a:solidFill>
                  <a:srgbClr val="FFFFFF"/>
                </a:solidFill>
                <a:latin typeface="Liter" pitchFamily="34" charset="0"/>
                <a:ea typeface="Liter" pitchFamily="34" charset="-122"/>
                <a:cs typeface="Liter" pitchFamily="34" charset="-120"/>
              </a:rPr>
              <a:t>2</a:t>
            </a:r>
            <a:endParaRPr lang="en-US" sz="1600" dirty="0"/>
          </a:p>
        </p:txBody>
      </p:sp>
      <p:sp>
        <p:nvSpPr>
          <p:cNvPr id="45" name="Text 43"/>
          <p:cNvSpPr/>
          <p:nvPr/>
        </p:nvSpPr>
        <p:spPr>
          <a:xfrm>
            <a:off x="7012671" y="2648719"/>
            <a:ext cx="4669663" cy="218039"/>
          </a:xfrm>
          <a:prstGeom prst="rect">
            <a:avLst/>
          </a:prstGeom>
          <a:noFill/>
          <a:ln/>
        </p:spPr>
        <p:txBody>
          <a:bodyPr wrap="square" lIns="0" tIns="0" rIns="0" bIns="0" rtlCol="0" anchor="ctr"/>
          <a:lstStyle/>
          <a:p>
            <a:pPr>
              <a:lnSpc>
                <a:spcPct val="130000"/>
              </a:lnSpc>
            </a:pPr>
            <a:r>
              <a:rPr lang="en-US" sz="1145" b="1" dirty="0">
                <a:solidFill>
                  <a:srgbClr val="1D1D1F"/>
                </a:solidFill>
                <a:latin typeface="Liter" pitchFamily="34" charset="0"/>
                <a:ea typeface="Liter" pitchFamily="34" charset="-122"/>
                <a:cs typeface="Liter" pitchFamily="34" charset="-120"/>
              </a:rPr>
              <a:t>Inverse Document Frequency</a:t>
            </a:r>
            <a:endParaRPr lang="en-US" sz="1600" dirty="0"/>
          </a:p>
        </p:txBody>
      </p:sp>
      <p:sp>
        <p:nvSpPr>
          <p:cNvPr id="46" name="Text 44"/>
          <p:cNvSpPr/>
          <p:nvPr/>
        </p:nvSpPr>
        <p:spPr>
          <a:xfrm>
            <a:off x="7012671" y="2903098"/>
            <a:ext cx="4660578" cy="208954"/>
          </a:xfrm>
          <a:prstGeom prst="rect">
            <a:avLst/>
          </a:prstGeom>
          <a:noFill/>
          <a:ln/>
        </p:spPr>
        <p:txBody>
          <a:bodyPr wrap="square" lIns="0" tIns="0" rIns="0" bIns="0" rtlCol="0" anchor="ctr"/>
          <a:lstStyle/>
          <a:p>
            <a:pPr>
              <a:lnSpc>
                <a:spcPct val="140000"/>
              </a:lnSpc>
            </a:pPr>
            <a:r>
              <a:rPr lang="en-US" sz="1001" dirty="0">
                <a:solidFill>
                  <a:srgbClr val="86868B"/>
                </a:solidFill>
                <a:latin typeface="Quattrocento Sans" pitchFamily="34" charset="0"/>
                <a:ea typeface="Quattrocento Sans" pitchFamily="34" charset="-122"/>
                <a:cs typeface="Quattrocento Sans" pitchFamily="34" charset="-120"/>
              </a:rPr>
              <a:t>Reduces weight of common terms across all documents</a:t>
            </a:r>
            <a:endParaRPr lang="en-US" sz="1600" dirty="0"/>
          </a:p>
        </p:txBody>
      </p:sp>
      <p:sp>
        <p:nvSpPr>
          <p:cNvPr id="47" name="Shape 45"/>
          <p:cNvSpPr/>
          <p:nvPr/>
        </p:nvSpPr>
        <p:spPr>
          <a:xfrm>
            <a:off x="6431235" y="3255139"/>
            <a:ext cx="436077" cy="436077"/>
          </a:xfrm>
          <a:custGeom>
            <a:avLst/>
            <a:gdLst/>
            <a:ahLst/>
            <a:cxnLst/>
            <a:rect l="l" t="t" r="r" b="b"/>
            <a:pathLst>
              <a:path w="436077" h="436077">
                <a:moveTo>
                  <a:pt x="109019" y="0"/>
                </a:moveTo>
                <a:lnTo>
                  <a:pt x="327058" y="0"/>
                </a:lnTo>
                <a:cubicBezTo>
                  <a:pt x="387268" y="0"/>
                  <a:pt x="436077" y="48810"/>
                  <a:pt x="436077" y="109019"/>
                </a:cubicBezTo>
                <a:lnTo>
                  <a:pt x="436077" y="327058"/>
                </a:lnTo>
                <a:cubicBezTo>
                  <a:pt x="436077" y="387268"/>
                  <a:pt x="387268" y="436077"/>
                  <a:pt x="327058" y="436077"/>
                </a:cubicBezTo>
                <a:lnTo>
                  <a:pt x="109019" y="436077"/>
                </a:lnTo>
                <a:cubicBezTo>
                  <a:pt x="48810" y="436077"/>
                  <a:pt x="0" y="387268"/>
                  <a:pt x="0" y="327058"/>
                </a:cubicBezTo>
                <a:lnTo>
                  <a:pt x="0" y="109019"/>
                </a:lnTo>
                <a:cubicBezTo>
                  <a:pt x="0" y="48810"/>
                  <a:pt x="48810" y="0"/>
                  <a:pt x="109019" y="0"/>
                </a:cubicBezTo>
                <a:close/>
              </a:path>
            </a:pathLst>
          </a:custGeom>
          <a:solidFill>
            <a:srgbClr val="0071E3"/>
          </a:solidFill>
          <a:ln/>
        </p:spPr>
      </p:sp>
      <p:sp>
        <p:nvSpPr>
          <p:cNvPr id="48" name="Text 46"/>
          <p:cNvSpPr/>
          <p:nvPr/>
        </p:nvSpPr>
        <p:spPr>
          <a:xfrm>
            <a:off x="6390353" y="3255139"/>
            <a:ext cx="517842" cy="436077"/>
          </a:xfrm>
          <a:prstGeom prst="rect">
            <a:avLst/>
          </a:prstGeom>
          <a:noFill/>
          <a:ln/>
        </p:spPr>
        <p:txBody>
          <a:bodyPr wrap="square" lIns="0" tIns="0" rIns="0" bIns="0" rtlCol="0" anchor="ctr"/>
          <a:lstStyle/>
          <a:p>
            <a:pPr algn="ctr">
              <a:lnSpc>
                <a:spcPct val="130000"/>
              </a:lnSpc>
            </a:pPr>
            <a:r>
              <a:rPr lang="en-US" sz="1288" b="1" dirty="0">
                <a:solidFill>
                  <a:srgbClr val="FFFFFF"/>
                </a:solidFill>
                <a:latin typeface="Liter" pitchFamily="34" charset="0"/>
                <a:ea typeface="Liter" pitchFamily="34" charset="-122"/>
                <a:cs typeface="Liter" pitchFamily="34" charset="-120"/>
              </a:rPr>
              <a:t>3</a:t>
            </a:r>
            <a:endParaRPr lang="en-US" sz="1600" dirty="0"/>
          </a:p>
        </p:txBody>
      </p:sp>
      <p:sp>
        <p:nvSpPr>
          <p:cNvPr id="49" name="Text 47"/>
          <p:cNvSpPr/>
          <p:nvPr/>
        </p:nvSpPr>
        <p:spPr>
          <a:xfrm>
            <a:off x="7012671" y="3255139"/>
            <a:ext cx="4669663" cy="218039"/>
          </a:xfrm>
          <a:prstGeom prst="rect">
            <a:avLst/>
          </a:prstGeom>
          <a:noFill/>
          <a:ln/>
        </p:spPr>
        <p:txBody>
          <a:bodyPr wrap="square" lIns="0" tIns="0" rIns="0" bIns="0" rtlCol="0" anchor="ctr"/>
          <a:lstStyle/>
          <a:p>
            <a:pPr>
              <a:lnSpc>
                <a:spcPct val="130000"/>
              </a:lnSpc>
            </a:pPr>
            <a:r>
              <a:rPr lang="en-US" sz="1145" b="1" dirty="0">
                <a:solidFill>
                  <a:srgbClr val="1D1D1F"/>
                </a:solidFill>
                <a:latin typeface="Liter" pitchFamily="34" charset="0"/>
                <a:ea typeface="Liter" pitchFamily="34" charset="-122"/>
                <a:cs typeface="Liter" pitchFamily="34" charset="-120"/>
              </a:rPr>
              <a:t>Feature Matrix Generation</a:t>
            </a:r>
            <a:endParaRPr lang="en-US" sz="1600" dirty="0"/>
          </a:p>
        </p:txBody>
      </p:sp>
      <p:sp>
        <p:nvSpPr>
          <p:cNvPr id="50" name="Text 48"/>
          <p:cNvSpPr/>
          <p:nvPr/>
        </p:nvSpPr>
        <p:spPr>
          <a:xfrm>
            <a:off x="7012671" y="3509518"/>
            <a:ext cx="4660578" cy="208954"/>
          </a:xfrm>
          <a:prstGeom prst="rect">
            <a:avLst/>
          </a:prstGeom>
          <a:noFill/>
          <a:ln/>
        </p:spPr>
        <p:txBody>
          <a:bodyPr wrap="square" lIns="0" tIns="0" rIns="0" bIns="0" rtlCol="0" anchor="ctr"/>
          <a:lstStyle/>
          <a:p>
            <a:pPr>
              <a:lnSpc>
                <a:spcPct val="140000"/>
              </a:lnSpc>
            </a:pPr>
            <a:r>
              <a:rPr lang="en-US" sz="1001" dirty="0">
                <a:solidFill>
                  <a:srgbClr val="86868B"/>
                </a:solidFill>
                <a:latin typeface="Quattrocento Sans" pitchFamily="34" charset="0"/>
                <a:ea typeface="Quattrocento Sans" pitchFamily="34" charset="-122"/>
                <a:cs typeface="Quattrocento Sans" pitchFamily="34" charset="-120"/>
              </a:rPr>
              <a:t>Creates numerical input for ML models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System Design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Model Architecture</a:t>
            </a:r>
            <a:endParaRPr lang="en-US" sz="1600" dirty="0"/>
          </a:p>
        </p:txBody>
      </p:sp>
      <p:sp>
        <p:nvSpPr>
          <p:cNvPr id="4" name="Shape 2"/>
          <p:cNvSpPr/>
          <p:nvPr/>
        </p:nvSpPr>
        <p:spPr>
          <a:xfrm>
            <a:off x="384810" y="1299210"/>
            <a:ext cx="11418570" cy="5170170"/>
          </a:xfrm>
          <a:custGeom>
            <a:avLst/>
            <a:gdLst/>
            <a:ahLst/>
            <a:cxnLst/>
            <a:rect l="l" t="t" r="r" b="b"/>
            <a:pathLst>
              <a:path w="11418570" h="5170170">
                <a:moveTo>
                  <a:pt x="228625" y="0"/>
                </a:moveTo>
                <a:lnTo>
                  <a:pt x="11189945" y="0"/>
                </a:lnTo>
                <a:cubicBezTo>
                  <a:pt x="11316211" y="0"/>
                  <a:pt x="11418570" y="102359"/>
                  <a:pt x="11418570" y="228625"/>
                </a:cubicBezTo>
                <a:lnTo>
                  <a:pt x="11418570" y="4941545"/>
                </a:lnTo>
                <a:cubicBezTo>
                  <a:pt x="11418570" y="5067811"/>
                  <a:pt x="11316211" y="5170170"/>
                  <a:pt x="11189945" y="5170170"/>
                </a:cubicBezTo>
                <a:lnTo>
                  <a:pt x="228625" y="5170170"/>
                </a:lnTo>
                <a:cubicBezTo>
                  <a:pt x="102359" y="5170170"/>
                  <a:pt x="0" y="5067811"/>
                  <a:pt x="0" y="4941545"/>
                </a:cubicBezTo>
                <a:lnTo>
                  <a:pt x="0" y="228625"/>
                </a:lnTo>
                <a:cubicBezTo>
                  <a:pt x="0" y="102443"/>
                  <a:pt x="102443" y="0"/>
                  <a:pt x="228625"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4325541" y="1493523"/>
            <a:ext cx="3543300" cy="495300"/>
          </a:xfrm>
          <a:custGeom>
            <a:avLst/>
            <a:gdLst/>
            <a:ahLst/>
            <a:cxnLst/>
            <a:rect l="l" t="t" r="r" b="b"/>
            <a:pathLst>
              <a:path w="3543300" h="495300">
                <a:moveTo>
                  <a:pt x="152399" y="0"/>
                </a:moveTo>
                <a:lnTo>
                  <a:pt x="3390901" y="0"/>
                </a:lnTo>
                <a:cubicBezTo>
                  <a:pt x="3475069" y="0"/>
                  <a:pt x="3543300" y="68231"/>
                  <a:pt x="3543300" y="152399"/>
                </a:cubicBezTo>
                <a:lnTo>
                  <a:pt x="3543300" y="342901"/>
                </a:lnTo>
                <a:cubicBezTo>
                  <a:pt x="3543300" y="427069"/>
                  <a:pt x="3475069" y="495300"/>
                  <a:pt x="3390901" y="495300"/>
                </a:cubicBezTo>
                <a:lnTo>
                  <a:pt x="152399" y="495300"/>
                </a:lnTo>
                <a:cubicBezTo>
                  <a:pt x="68231" y="495300"/>
                  <a:pt x="0" y="427069"/>
                  <a:pt x="0" y="342901"/>
                </a:cubicBezTo>
                <a:lnTo>
                  <a:pt x="0" y="152399"/>
                </a:lnTo>
                <a:cubicBezTo>
                  <a:pt x="0" y="68231"/>
                  <a:pt x="68231" y="0"/>
                  <a:pt x="152399" y="0"/>
                </a:cubicBezTo>
                <a:close/>
              </a:path>
            </a:pathLst>
          </a:custGeom>
          <a:solidFill>
            <a:srgbClr val="1D1D1F"/>
          </a:solidFill>
          <a:ln/>
        </p:spPr>
      </p:sp>
      <p:sp>
        <p:nvSpPr>
          <p:cNvPr id="6" name="Shape 4"/>
          <p:cNvSpPr/>
          <p:nvPr/>
        </p:nvSpPr>
        <p:spPr>
          <a:xfrm>
            <a:off x="4577953" y="1638300"/>
            <a:ext cx="190500" cy="190500"/>
          </a:xfrm>
          <a:custGeom>
            <a:avLst/>
            <a:gdLst/>
            <a:ahLst/>
            <a:cxnLst/>
            <a:rect l="l" t="t" r="r" b="b"/>
            <a:pathLst>
              <a:path w="190500" h="190500">
                <a:moveTo>
                  <a:pt x="71438" y="23812"/>
                </a:moveTo>
                <a:cubicBezTo>
                  <a:pt x="71438" y="17227"/>
                  <a:pt x="76758" y="11906"/>
                  <a:pt x="83344" y="11906"/>
                </a:cubicBezTo>
                <a:lnTo>
                  <a:pt x="107156" y="11906"/>
                </a:lnTo>
                <a:cubicBezTo>
                  <a:pt x="113742" y="11906"/>
                  <a:pt x="119063" y="17227"/>
                  <a:pt x="119063" y="23812"/>
                </a:cubicBezTo>
                <a:lnTo>
                  <a:pt x="119063" y="47625"/>
                </a:lnTo>
                <a:cubicBezTo>
                  <a:pt x="119063" y="54211"/>
                  <a:pt x="113742" y="59531"/>
                  <a:pt x="107156" y="59531"/>
                </a:cubicBezTo>
                <a:lnTo>
                  <a:pt x="104180" y="59531"/>
                </a:lnTo>
                <a:lnTo>
                  <a:pt x="104180" y="83344"/>
                </a:lnTo>
                <a:lnTo>
                  <a:pt x="148828" y="83344"/>
                </a:lnTo>
                <a:cubicBezTo>
                  <a:pt x="163637" y="83344"/>
                  <a:pt x="175617" y="95324"/>
                  <a:pt x="175617" y="110133"/>
                </a:cubicBezTo>
                <a:lnTo>
                  <a:pt x="175617" y="130969"/>
                </a:lnTo>
                <a:lnTo>
                  <a:pt x="178594" y="130969"/>
                </a:lnTo>
                <a:cubicBezTo>
                  <a:pt x="185179" y="130969"/>
                  <a:pt x="190500" y="136289"/>
                  <a:pt x="190500" y="142875"/>
                </a:cubicBezTo>
                <a:lnTo>
                  <a:pt x="190500" y="166688"/>
                </a:lnTo>
                <a:cubicBezTo>
                  <a:pt x="190500" y="173273"/>
                  <a:pt x="185179" y="178594"/>
                  <a:pt x="178594" y="178594"/>
                </a:cubicBezTo>
                <a:lnTo>
                  <a:pt x="154781" y="178594"/>
                </a:lnTo>
                <a:cubicBezTo>
                  <a:pt x="148196" y="178594"/>
                  <a:pt x="142875" y="173273"/>
                  <a:pt x="142875" y="166688"/>
                </a:cubicBezTo>
                <a:lnTo>
                  <a:pt x="142875" y="142875"/>
                </a:lnTo>
                <a:cubicBezTo>
                  <a:pt x="142875" y="136289"/>
                  <a:pt x="148196" y="130969"/>
                  <a:pt x="154781" y="130969"/>
                </a:cubicBezTo>
                <a:lnTo>
                  <a:pt x="157758" y="130969"/>
                </a:lnTo>
                <a:lnTo>
                  <a:pt x="157758" y="110133"/>
                </a:lnTo>
                <a:cubicBezTo>
                  <a:pt x="157758" y="105184"/>
                  <a:pt x="153777" y="101203"/>
                  <a:pt x="148828" y="101203"/>
                </a:cubicBezTo>
                <a:lnTo>
                  <a:pt x="104180" y="101203"/>
                </a:lnTo>
                <a:lnTo>
                  <a:pt x="104180" y="130969"/>
                </a:lnTo>
                <a:lnTo>
                  <a:pt x="107156" y="130969"/>
                </a:lnTo>
                <a:cubicBezTo>
                  <a:pt x="113742" y="130969"/>
                  <a:pt x="119063" y="136289"/>
                  <a:pt x="119063" y="142875"/>
                </a:cubicBezTo>
                <a:lnTo>
                  <a:pt x="119063" y="166688"/>
                </a:lnTo>
                <a:cubicBezTo>
                  <a:pt x="119063" y="173273"/>
                  <a:pt x="113742" y="178594"/>
                  <a:pt x="107156" y="178594"/>
                </a:cubicBezTo>
                <a:lnTo>
                  <a:pt x="83344" y="178594"/>
                </a:lnTo>
                <a:cubicBezTo>
                  <a:pt x="76758" y="178594"/>
                  <a:pt x="71438" y="173273"/>
                  <a:pt x="71438" y="166688"/>
                </a:cubicBezTo>
                <a:lnTo>
                  <a:pt x="71438" y="142875"/>
                </a:lnTo>
                <a:cubicBezTo>
                  <a:pt x="71438" y="136289"/>
                  <a:pt x="76758" y="130969"/>
                  <a:pt x="83344" y="130969"/>
                </a:cubicBezTo>
                <a:lnTo>
                  <a:pt x="86320" y="130969"/>
                </a:lnTo>
                <a:lnTo>
                  <a:pt x="86320" y="101203"/>
                </a:lnTo>
                <a:lnTo>
                  <a:pt x="41672" y="101203"/>
                </a:lnTo>
                <a:cubicBezTo>
                  <a:pt x="36723" y="101203"/>
                  <a:pt x="32742" y="105184"/>
                  <a:pt x="32742" y="110133"/>
                </a:cubicBezTo>
                <a:lnTo>
                  <a:pt x="32742" y="130969"/>
                </a:lnTo>
                <a:lnTo>
                  <a:pt x="35719" y="130969"/>
                </a:lnTo>
                <a:cubicBezTo>
                  <a:pt x="42304" y="130969"/>
                  <a:pt x="47625" y="136289"/>
                  <a:pt x="47625" y="142875"/>
                </a:cubicBezTo>
                <a:lnTo>
                  <a:pt x="47625" y="166688"/>
                </a:lnTo>
                <a:cubicBezTo>
                  <a:pt x="47625" y="173273"/>
                  <a:pt x="42304" y="178594"/>
                  <a:pt x="35719" y="178594"/>
                </a:cubicBezTo>
                <a:lnTo>
                  <a:pt x="11906" y="178594"/>
                </a:lnTo>
                <a:cubicBezTo>
                  <a:pt x="5321" y="178594"/>
                  <a:pt x="0" y="173273"/>
                  <a:pt x="0" y="166688"/>
                </a:cubicBezTo>
                <a:lnTo>
                  <a:pt x="0" y="142875"/>
                </a:lnTo>
                <a:cubicBezTo>
                  <a:pt x="0" y="136289"/>
                  <a:pt x="5321" y="130969"/>
                  <a:pt x="11906" y="130969"/>
                </a:cubicBezTo>
                <a:lnTo>
                  <a:pt x="14883" y="130969"/>
                </a:lnTo>
                <a:lnTo>
                  <a:pt x="14883" y="110133"/>
                </a:lnTo>
                <a:cubicBezTo>
                  <a:pt x="14883" y="95324"/>
                  <a:pt x="26863" y="83344"/>
                  <a:pt x="41672" y="83344"/>
                </a:cubicBezTo>
                <a:lnTo>
                  <a:pt x="86320" y="83344"/>
                </a:lnTo>
                <a:lnTo>
                  <a:pt x="86320" y="59531"/>
                </a:lnTo>
                <a:lnTo>
                  <a:pt x="83344" y="59531"/>
                </a:lnTo>
                <a:cubicBezTo>
                  <a:pt x="76758" y="59531"/>
                  <a:pt x="71438" y="54211"/>
                  <a:pt x="71438" y="47625"/>
                </a:cubicBezTo>
                <a:lnTo>
                  <a:pt x="71438" y="23812"/>
                </a:lnTo>
                <a:close/>
              </a:path>
            </a:pathLst>
          </a:custGeom>
          <a:solidFill>
            <a:srgbClr val="FFFFFF"/>
          </a:solidFill>
          <a:ln/>
        </p:spPr>
      </p:sp>
      <p:sp>
        <p:nvSpPr>
          <p:cNvPr id="7" name="Text 5"/>
          <p:cNvSpPr/>
          <p:nvPr/>
        </p:nvSpPr>
        <p:spPr>
          <a:xfrm>
            <a:off x="4620816" y="1493523"/>
            <a:ext cx="3343275" cy="495300"/>
          </a:xfrm>
          <a:prstGeom prst="rect">
            <a:avLst/>
          </a:prstGeom>
          <a:noFill/>
          <a:ln/>
        </p:spPr>
        <p:txBody>
          <a:bodyPr wrap="square" lIns="228600" tIns="114300" rIns="228600" bIns="114300" rtlCol="0" anchor="ctr"/>
          <a:lstStyle/>
          <a:p>
            <a:pPr>
              <a:lnSpc>
                <a:spcPct val="120000"/>
              </a:lnSpc>
            </a:pPr>
            <a:r>
              <a:rPr lang="en-US" sz="1500" dirty="0">
                <a:solidFill>
                  <a:srgbClr val="FFFFFF"/>
                </a:solidFill>
                <a:latin typeface="Liter" pitchFamily="34" charset="0"/>
                <a:ea typeface="Liter" pitchFamily="34" charset="-122"/>
                <a:cs typeface="Liter" pitchFamily="34" charset="-120"/>
              </a:rPr>
              <a:t>End-to-End Pipeline Architecture</a:t>
            </a:r>
            <a:endParaRPr lang="en-US" sz="1600" dirty="0"/>
          </a:p>
        </p:txBody>
      </p:sp>
      <p:sp>
        <p:nvSpPr>
          <p:cNvPr id="8" name="Shape 6"/>
          <p:cNvSpPr/>
          <p:nvPr/>
        </p:nvSpPr>
        <p:spPr>
          <a:xfrm>
            <a:off x="586740" y="3059550"/>
            <a:ext cx="1463040" cy="1767840"/>
          </a:xfrm>
          <a:custGeom>
            <a:avLst/>
            <a:gdLst/>
            <a:ahLst/>
            <a:cxnLst/>
            <a:rect l="l" t="t" r="r" b="b"/>
            <a:pathLst>
              <a:path w="1463040" h="1767840">
                <a:moveTo>
                  <a:pt x="152405" y="0"/>
                </a:moveTo>
                <a:lnTo>
                  <a:pt x="1310635" y="0"/>
                </a:lnTo>
                <a:cubicBezTo>
                  <a:pt x="1394806" y="0"/>
                  <a:pt x="1463040" y="68234"/>
                  <a:pt x="1463040" y="152405"/>
                </a:cubicBezTo>
                <a:lnTo>
                  <a:pt x="1463040" y="1615435"/>
                </a:lnTo>
                <a:cubicBezTo>
                  <a:pt x="1463040" y="1699606"/>
                  <a:pt x="1394806" y="1767840"/>
                  <a:pt x="1310635" y="1767840"/>
                </a:cubicBezTo>
                <a:lnTo>
                  <a:pt x="152405" y="1767840"/>
                </a:lnTo>
                <a:cubicBezTo>
                  <a:pt x="68234" y="1767840"/>
                  <a:pt x="0" y="1699606"/>
                  <a:pt x="0" y="1615435"/>
                </a:cubicBezTo>
                <a:lnTo>
                  <a:pt x="0" y="152405"/>
                </a:lnTo>
                <a:cubicBezTo>
                  <a:pt x="0" y="68234"/>
                  <a:pt x="68234" y="0"/>
                  <a:pt x="152405" y="0"/>
                </a:cubicBezTo>
                <a:close/>
              </a:path>
            </a:pathLst>
          </a:custGeom>
          <a:solidFill>
            <a:srgbClr val="FFFFFF"/>
          </a:solidFill>
          <a:ln w="20320">
            <a:solidFill>
              <a:srgbClr val="0071E3"/>
            </a:solidFill>
            <a:prstDash val="solid"/>
          </a:ln>
          <a:effectLst>
            <a:outerShdw blurRad="142875" dist="95250" dir="5400000" algn="bl" rotWithShape="0">
              <a:srgbClr val="000000">
                <a:alpha val="10196"/>
              </a:srgbClr>
            </a:outerShdw>
          </a:effectLst>
        </p:spPr>
      </p:sp>
      <p:sp>
        <p:nvSpPr>
          <p:cNvPr id="9" name="Shape 7"/>
          <p:cNvSpPr/>
          <p:nvPr/>
        </p:nvSpPr>
        <p:spPr>
          <a:xfrm>
            <a:off x="1051560" y="3219571"/>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alpha val="10196"/>
            </a:srgbClr>
          </a:solidFill>
          <a:ln/>
        </p:spPr>
      </p:sp>
      <p:sp>
        <p:nvSpPr>
          <p:cNvPr id="10" name="Shape 8"/>
          <p:cNvSpPr/>
          <p:nvPr/>
        </p:nvSpPr>
        <p:spPr>
          <a:xfrm>
            <a:off x="1232535" y="3371971"/>
            <a:ext cx="171450" cy="228600"/>
          </a:xfrm>
          <a:custGeom>
            <a:avLst/>
            <a:gdLst/>
            <a:ahLst/>
            <a:cxnLst/>
            <a:rect l="l" t="t" r="r" b="b"/>
            <a:pathLst>
              <a:path w="171450" h="228600">
                <a:moveTo>
                  <a:pt x="0" y="28575"/>
                </a:moveTo>
                <a:cubicBezTo>
                  <a:pt x="0" y="12814"/>
                  <a:pt x="12814" y="0"/>
                  <a:pt x="28575" y="0"/>
                </a:cubicBezTo>
                <a:lnTo>
                  <a:pt x="95324" y="0"/>
                </a:lnTo>
                <a:cubicBezTo>
                  <a:pt x="102915" y="0"/>
                  <a:pt x="110192" y="2991"/>
                  <a:pt x="115550" y="8349"/>
                </a:cubicBezTo>
                <a:lnTo>
                  <a:pt x="163101" y="55944"/>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8" y="114300"/>
                </a:moveTo>
                <a:cubicBezTo>
                  <a:pt x="47640" y="114300"/>
                  <a:pt x="42863" y="119077"/>
                  <a:pt x="42863" y="125016"/>
                </a:cubicBezTo>
                <a:cubicBezTo>
                  <a:pt x="42863" y="130954"/>
                  <a:pt x="47640" y="135731"/>
                  <a:pt x="53578" y="135731"/>
                </a:cubicBezTo>
                <a:lnTo>
                  <a:pt x="117872" y="135731"/>
                </a:lnTo>
                <a:cubicBezTo>
                  <a:pt x="123810" y="135731"/>
                  <a:pt x="128588" y="130954"/>
                  <a:pt x="128588" y="125016"/>
                </a:cubicBezTo>
                <a:cubicBezTo>
                  <a:pt x="128588" y="119077"/>
                  <a:pt x="123810" y="114300"/>
                  <a:pt x="117872" y="114300"/>
                </a:cubicBezTo>
                <a:lnTo>
                  <a:pt x="53578" y="114300"/>
                </a:lnTo>
                <a:close/>
                <a:moveTo>
                  <a:pt x="53578" y="157163"/>
                </a:moveTo>
                <a:cubicBezTo>
                  <a:pt x="47640" y="157163"/>
                  <a:pt x="42863" y="161940"/>
                  <a:pt x="42863" y="167878"/>
                </a:cubicBezTo>
                <a:cubicBezTo>
                  <a:pt x="42863" y="173816"/>
                  <a:pt x="47640" y="178594"/>
                  <a:pt x="53578" y="178594"/>
                </a:cubicBezTo>
                <a:lnTo>
                  <a:pt x="117872" y="178594"/>
                </a:lnTo>
                <a:cubicBezTo>
                  <a:pt x="123810" y="178594"/>
                  <a:pt x="128588" y="173816"/>
                  <a:pt x="128588" y="167878"/>
                </a:cubicBezTo>
                <a:cubicBezTo>
                  <a:pt x="128588" y="161940"/>
                  <a:pt x="123810" y="157163"/>
                  <a:pt x="117872" y="157163"/>
                </a:cubicBezTo>
                <a:lnTo>
                  <a:pt x="53578" y="157163"/>
                </a:lnTo>
                <a:close/>
              </a:path>
            </a:pathLst>
          </a:custGeom>
          <a:solidFill>
            <a:srgbClr val="0071E3"/>
          </a:solidFill>
          <a:ln/>
        </p:spPr>
      </p:sp>
      <p:sp>
        <p:nvSpPr>
          <p:cNvPr id="11" name="Text 9"/>
          <p:cNvSpPr/>
          <p:nvPr/>
        </p:nvSpPr>
        <p:spPr>
          <a:xfrm>
            <a:off x="713423" y="3829171"/>
            <a:ext cx="1209675" cy="190500"/>
          </a:xfrm>
          <a:prstGeom prst="rect">
            <a:avLst/>
          </a:prstGeom>
          <a:noFill/>
          <a:ln/>
        </p:spPr>
        <p:txBody>
          <a:bodyPr wrap="square" lIns="0" tIns="0" rIns="0" bIns="0" rtlCol="0" anchor="ctr"/>
          <a:lstStyle/>
          <a:p>
            <a:pPr algn="ctr">
              <a:lnSpc>
                <a:spcPct val="120000"/>
              </a:lnSpc>
            </a:pPr>
            <a:r>
              <a:rPr lang="en-US" sz="1050" b="1" dirty="0">
                <a:solidFill>
                  <a:srgbClr val="1D1D1F"/>
                </a:solidFill>
                <a:latin typeface="Liter" pitchFamily="34" charset="0"/>
                <a:ea typeface="Liter" pitchFamily="34" charset="-122"/>
                <a:cs typeface="Liter" pitchFamily="34" charset="-120"/>
              </a:rPr>
              <a:t>Raw Text</a:t>
            </a:r>
            <a:endParaRPr lang="en-US" sz="1600" dirty="0"/>
          </a:p>
        </p:txBody>
      </p:sp>
      <p:sp>
        <p:nvSpPr>
          <p:cNvPr id="12" name="Text 10"/>
          <p:cNvSpPr/>
          <p:nvPr/>
        </p:nvSpPr>
        <p:spPr>
          <a:xfrm>
            <a:off x="718185" y="4133971"/>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Reviews</a:t>
            </a:r>
            <a:endParaRPr lang="en-US" sz="1600" dirty="0"/>
          </a:p>
        </p:txBody>
      </p:sp>
      <p:sp>
        <p:nvSpPr>
          <p:cNvPr id="13" name="Text 11"/>
          <p:cNvSpPr/>
          <p:nvPr/>
        </p:nvSpPr>
        <p:spPr>
          <a:xfrm>
            <a:off x="718185" y="4324350"/>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Comments</a:t>
            </a:r>
            <a:endParaRPr lang="en-US" sz="1600" dirty="0"/>
          </a:p>
        </p:txBody>
      </p:sp>
      <p:sp>
        <p:nvSpPr>
          <p:cNvPr id="14" name="Text 12"/>
          <p:cNvSpPr/>
          <p:nvPr/>
        </p:nvSpPr>
        <p:spPr>
          <a:xfrm>
            <a:off x="718185" y="4514734"/>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Documents</a:t>
            </a:r>
            <a:endParaRPr lang="en-US" sz="1600" dirty="0"/>
          </a:p>
        </p:txBody>
      </p:sp>
      <p:sp>
        <p:nvSpPr>
          <p:cNvPr id="15" name="Shape 13"/>
          <p:cNvSpPr/>
          <p:nvPr/>
        </p:nvSpPr>
        <p:spPr>
          <a:xfrm>
            <a:off x="2796540" y="382905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0071E3"/>
          </a:solidFill>
          <a:ln/>
        </p:spPr>
      </p:sp>
      <p:sp>
        <p:nvSpPr>
          <p:cNvPr id="16" name="Shape 14"/>
          <p:cNvSpPr/>
          <p:nvPr/>
        </p:nvSpPr>
        <p:spPr>
          <a:xfrm>
            <a:off x="3771900" y="3059550"/>
            <a:ext cx="1463040" cy="1767840"/>
          </a:xfrm>
          <a:custGeom>
            <a:avLst/>
            <a:gdLst/>
            <a:ahLst/>
            <a:cxnLst/>
            <a:rect l="l" t="t" r="r" b="b"/>
            <a:pathLst>
              <a:path w="1463040" h="1767840">
                <a:moveTo>
                  <a:pt x="152405" y="0"/>
                </a:moveTo>
                <a:lnTo>
                  <a:pt x="1310635" y="0"/>
                </a:lnTo>
                <a:cubicBezTo>
                  <a:pt x="1394806" y="0"/>
                  <a:pt x="1463040" y="68234"/>
                  <a:pt x="1463040" y="152405"/>
                </a:cubicBezTo>
                <a:lnTo>
                  <a:pt x="1463040" y="1615435"/>
                </a:lnTo>
                <a:cubicBezTo>
                  <a:pt x="1463040" y="1699606"/>
                  <a:pt x="1394806" y="1767840"/>
                  <a:pt x="1310635" y="1767840"/>
                </a:cubicBezTo>
                <a:lnTo>
                  <a:pt x="152405" y="1767840"/>
                </a:lnTo>
                <a:cubicBezTo>
                  <a:pt x="68234" y="1767840"/>
                  <a:pt x="0" y="1699606"/>
                  <a:pt x="0" y="1615435"/>
                </a:cubicBezTo>
                <a:lnTo>
                  <a:pt x="0" y="152405"/>
                </a:lnTo>
                <a:cubicBezTo>
                  <a:pt x="0" y="68234"/>
                  <a:pt x="68234" y="0"/>
                  <a:pt x="152405" y="0"/>
                </a:cubicBezTo>
                <a:close/>
              </a:path>
            </a:pathLst>
          </a:custGeom>
          <a:solidFill>
            <a:srgbClr val="FFFFFF"/>
          </a:solidFill>
          <a:ln w="20320">
            <a:solidFill>
              <a:srgbClr val="0071E3"/>
            </a:solidFill>
            <a:prstDash val="solid"/>
          </a:ln>
          <a:effectLst>
            <a:outerShdw blurRad="142875" dist="95250" dir="5400000" algn="bl" rotWithShape="0">
              <a:srgbClr val="000000">
                <a:alpha val="10196"/>
              </a:srgbClr>
            </a:outerShdw>
          </a:effectLst>
        </p:spPr>
      </p:sp>
      <p:sp>
        <p:nvSpPr>
          <p:cNvPr id="17" name="Shape 15"/>
          <p:cNvSpPr/>
          <p:nvPr/>
        </p:nvSpPr>
        <p:spPr>
          <a:xfrm>
            <a:off x="4236720" y="3219571"/>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alpha val="10196"/>
            </a:srgbClr>
          </a:solidFill>
          <a:ln/>
        </p:spPr>
      </p:sp>
      <p:sp>
        <p:nvSpPr>
          <p:cNvPr id="18" name="Shape 16"/>
          <p:cNvSpPr/>
          <p:nvPr/>
        </p:nvSpPr>
        <p:spPr>
          <a:xfrm>
            <a:off x="4374833" y="3371971"/>
            <a:ext cx="257175" cy="228600"/>
          </a:xfrm>
          <a:custGeom>
            <a:avLst/>
            <a:gdLst/>
            <a:ahLst/>
            <a:cxnLst/>
            <a:rect l="l" t="t" r="r" b="b"/>
            <a:pathLst>
              <a:path w="257175" h="228600">
                <a:moveTo>
                  <a:pt x="252978" y="24378"/>
                </a:moveTo>
                <a:cubicBezTo>
                  <a:pt x="258559" y="18797"/>
                  <a:pt x="258559" y="9733"/>
                  <a:pt x="252978" y="4152"/>
                </a:cubicBezTo>
                <a:cubicBezTo>
                  <a:pt x="247397" y="-1429"/>
                  <a:pt x="238333" y="-1429"/>
                  <a:pt x="232752" y="4152"/>
                </a:cubicBezTo>
                <a:lnTo>
                  <a:pt x="147027" y="89877"/>
                </a:lnTo>
                <a:lnTo>
                  <a:pt x="131534" y="74384"/>
                </a:lnTo>
                <a:cubicBezTo>
                  <a:pt x="129659" y="72509"/>
                  <a:pt x="127069" y="71438"/>
                  <a:pt x="124391" y="71438"/>
                </a:cubicBezTo>
                <a:cubicBezTo>
                  <a:pt x="118809" y="71438"/>
                  <a:pt x="114300" y="75947"/>
                  <a:pt x="114300" y="81528"/>
                </a:cubicBezTo>
                <a:lnTo>
                  <a:pt x="114300" y="94521"/>
                </a:lnTo>
                <a:lnTo>
                  <a:pt x="162654" y="142875"/>
                </a:lnTo>
                <a:lnTo>
                  <a:pt x="175647" y="142875"/>
                </a:lnTo>
                <a:cubicBezTo>
                  <a:pt x="181228" y="142875"/>
                  <a:pt x="185738" y="138366"/>
                  <a:pt x="185738" y="132784"/>
                </a:cubicBezTo>
                <a:cubicBezTo>
                  <a:pt x="185738" y="130106"/>
                  <a:pt x="184666" y="127516"/>
                  <a:pt x="182791" y="125641"/>
                </a:cubicBezTo>
                <a:lnTo>
                  <a:pt x="167298" y="110148"/>
                </a:lnTo>
                <a:lnTo>
                  <a:pt x="253023" y="24423"/>
                </a:lnTo>
                <a:close/>
                <a:moveTo>
                  <a:pt x="152296" y="157788"/>
                </a:moveTo>
                <a:lnTo>
                  <a:pt x="99387" y="104879"/>
                </a:lnTo>
                <a:cubicBezTo>
                  <a:pt x="80323" y="103227"/>
                  <a:pt x="61347" y="110103"/>
                  <a:pt x="47685" y="123765"/>
                </a:cubicBezTo>
                <a:lnTo>
                  <a:pt x="44113" y="127337"/>
                </a:lnTo>
                <a:cubicBezTo>
                  <a:pt x="34156" y="137294"/>
                  <a:pt x="28575" y="150778"/>
                  <a:pt x="28575" y="164842"/>
                </a:cubicBezTo>
                <a:cubicBezTo>
                  <a:pt x="28575" y="167878"/>
                  <a:pt x="31745" y="169843"/>
                  <a:pt x="34469" y="168503"/>
                </a:cubicBezTo>
                <a:lnTo>
                  <a:pt x="57284" y="157118"/>
                </a:lnTo>
                <a:cubicBezTo>
                  <a:pt x="59516" y="156002"/>
                  <a:pt x="61526" y="158948"/>
                  <a:pt x="59695" y="160645"/>
                </a:cubicBezTo>
                <a:lnTo>
                  <a:pt x="3259" y="211366"/>
                </a:lnTo>
                <a:cubicBezTo>
                  <a:pt x="1206" y="213241"/>
                  <a:pt x="0" y="215920"/>
                  <a:pt x="0" y="218733"/>
                </a:cubicBezTo>
                <a:cubicBezTo>
                  <a:pt x="0" y="224180"/>
                  <a:pt x="4420" y="228600"/>
                  <a:pt x="9867" y="228600"/>
                </a:cubicBezTo>
                <a:lnTo>
                  <a:pt x="87243" y="228600"/>
                </a:lnTo>
                <a:cubicBezTo>
                  <a:pt x="104567" y="228600"/>
                  <a:pt x="121131" y="221724"/>
                  <a:pt x="133410" y="209490"/>
                </a:cubicBezTo>
                <a:cubicBezTo>
                  <a:pt x="147072" y="195828"/>
                  <a:pt x="153903" y="176852"/>
                  <a:pt x="152296" y="157788"/>
                </a:cubicBezTo>
                <a:close/>
              </a:path>
            </a:pathLst>
          </a:custGeom>
          <a:solidFill>
            <a:srgbClr val="0071E3"/>
          </a:solidFill>
          <a:ln/>
        </p:spPr>
      </p:sp>
      <p:sp>
        <p:nvSpPr>
          <p:cNvPr id="19" name="Text 17"/>
          <p:cNvSpPr/>
          <p:nvPr/>
        </p:nvSpPr>
        <p:spPr>
          <a:xfrm>
            <a:off x="3898583" y="3829171"/>
            <a:ext cx="1209675" cy="190500"/>
          </a:xfrm>
          <a:prstGeom prst="rect">
            <a:avLst/>
          </a:prstGeom>
          <a:noFill/>
          <a:ln/>
        </p:spPr>
        <p:txBody>
          <a:bodyPr wrap="square" lIns="0" tIns="0" rIns="0" bIns="0" rtlCol="0" anchor="ctr"/>
          <a:lstStyle/>
          <a:p>
            <a:pPr algn="ctr">
              <a:lnSpc>
                <a:spcPct val="120000"/>
              </a:lnSpc>
            </a:pPr>
            <a:r>
              <a:rPr lang="en-US" sz="1050" b="1" dirty="0">
                <a:solidFill>
                  <a:srgbClr val="1D1D1F"/>
                </a:solidFill>
                <a:latin typeface="Liter" pitchFamily="34" charset="0"/>
                <a:ea typeface="Liter" pitchFamily="34" charset="-122"/>
                <a:cs typeface="Liter" pitchFamily="34" charset="-120"/>
              </a:rPr>
              <a:t>Preprocessing</a:t>
            </a:r>
            <a:endParaRPr lang="en-US" sz="1600" dirty="0"/>
          </a:p>
        </p:txBody>
      </p:sp>
      <p:sp>
        <p:nvSpPr>
          <p:cNvPr id="20" name="Text 18"/>
          <p:cNvSpPr/>
          <p:nvPr/>
        </p:nvSpPr>
        <p:spPr>
          <a:xfrm>
            <a:off x="3903345" y="4133971"/>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Cleaning</a:t>
            </a:r>
            <a:endParaRPr lang="en-US" sz="1600" dirty="0"/>
          </a:p>
        </p:txBody>
      </p:sp>
      <p:sp>
        <p:nvSpPr>
          <p:cNvPr id="21" name="Text 19"/>
          <p:cNvSpPr/>
          <p:nvPr/>
        </p:nvSpPr>
        <p:spPr>
          <a:xfrm>
            <a:off x="3903345" y="4324350"/>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Tokenization</a:t>
            </a:r>
            <a:endParaRPr lang="en-US" sz="1600" dirty="0"/>
          </a:p>
        </p:txBody>
      </p:sp>
      <p:sp>
        <p:nvSpPr>
          <p:cNvPr id="22" name="Text 20"/>
          <p:cNvSpPr/>
          <p:nvPr/>
        </p:nvSpPr>
        <p:spPr>
          <a:xfrm>
            <a:off x="3903345" y="4514734"/>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Lemmatization</a:t>
            </a:r>
            <a:endParaRPr lang="en-US" sz="1600" dirty="0"/>
          </a:p>
        </p:txBody>
      </p:sp>
      <p:sp>
        <p:nvSpPr>
          <p:cNvPr id="23" name="Shape 21"/>
          <p:cNvSpPr/>
          <p:nvPr/>
        </p:nvSpPr>
        <p:spPr>
          <a:xfrm>
            <a:off x="5981700" y="382905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0071E3"/>
          </a:solidFill>
          <a:ln/>
        </p:spPr>
      </p:sp>
      <p:sp>
        <p:nvSpPr>
          <p:cNvPr id="24" name="Shape 22"/>
          <p:cNvSpPr/>
          <p:nvPr/>
        </p:nvSpPr>
        <p:spPr>
          <a:xfrm>
            <a:off x="6957060" y="3059550"/>
            <a:ext cx="1463040" cy="1767840"/>
          </a:xfrm>
          <a:custGeom>
            <a:avLst/>
            <a:gdLst/>
            <a:ahLst/>
            <a:cxnLst/>
            <a:rect l="l" t="t" r="r" b="b"/>
            <a:pathLst>
              <a:path w="1463040" h="1767840">
                <a:moveTo>
                  <a:pt x="152405" y="0"/>
                </a:moveTo>
                <a:lnTo>
                  <a:pt x="1310635" y="0"/>
                </a:lnTo>
                <a:cubicBezTo>
                  <a:pt x="1394806" y="0"/>
                  <a:pt x="1463040" y="68234"/>
                  <a:pt x="1463040" y="152405"/>
                </a:cubicBezTo>
                <a:lnTo>
                  <a:pt x="1463040" y="1615435"/>
                </a:lnTo>
                <a:cubicBezTo>
                  <a:pt x="1463040" y="1699606"/>
                  <a:pt x="1394806" y="1767840"/>
                  <a:pt x="1310635" y="1767840"/>
                </a:cubicBezTo>
                <a:lnTo>
                  <a:pt x="152405" y="1767840"/>
                </a:lnTo>
                <a:cubicBezTo>
                  <a:pt x="68234" y="1767840"/>
                  <a:pt x="0" y="1699606"/>
                  <a:pt x="0" y="1615435"/>
                </a:cubicBezTo>
                <a:lnTo>
                  <a:pt x="0" y="152405"/>
                </a:lnTo>
                <a:cubicBezTo>
                  <a:pt x="0" y="68234"/>
                  <a:pt x="68234" y="0"/>
                  <a:pt x="152405" y="0"/>
                </a:cubicBezTo>
                <a:close/>
              </a:path>
            </a:pathLst>
          </a:custGeom>
          <a:solidFill>
            <a:srgbClr val="FFFFFF"/>
          </a:solidFill>
          <a:ln w="20320">
            <a:solidFill>
              <a:srgbClr val="0071E3"/>
            </a:solidFill>
            <a:prstDash val="solid"/>
          </a:ln>
          <a:effectLst>
            <a:outerShdw blurRad="142875" dist="95250" dir="5400000" algn="bl" rotWithShape="0">
              <a:srgbClr val="000000">
                <a:alpha val="10196"/>
              </a:srgbClr>
            </a:outerShdw>
          </a:effectLst>
        </p:spPr>
      </p:sp>
      <p:sp>
        <p:nvSpPr>
          <p:cNvPr id="25" name="Shape 23"/>
          <p:cNvSpPr/>
          <p:nvPr/>
        </p:nvSpPr>
        <p:spPr>
          <a:xfrm>
            <a:off x="7421880" y="3219571"/>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alpha val="10196"/>
            </a:srgbClr>
          </a:solidFill>
          <a:ln/>
        </p:spPr>
      </p:sp>
      <p:sp>
        <p:nvSpPr>
          <p:cNvPr id="26" name="Shape 24"/>
          <p:cNvSpPr/>
          <p:nvPr/>
        </p:nvSpPr>
        <p:spPr>
          <a:xfrm>
            <a:off x="7574280" y="3371971"/>
            <a:ext cx="228600" cy="228600"/>
          </a:xfrm>
          <a:custGeom>
            <a:avLst/>
            <a:gdLst/>
            <a:ahLst/>
            <a:cxnLst/>
            <a:rect l="l" t="t" r="r" b="b"/>
            <a:pathLst>
              <a:path w="228600" h="228600">
                <a:moveTo>
                  <a:pt x="29423" y="102022"/>
                </a:moveTo>
                <a:cubicBezTo>
                  <a:pt x="35362" y="60499"/>
                  <a:pt x="71125" y="28575"/>
                  <a:pt x="114300" y="28575"/>
                </a:cubicBezTo>
                <a:cubicBezTo>
                  <a:pt x="137964" y="28575"/>
                  <a:pt x="159395" y="38174"/>
                  <a:pt x="174933" y="53667"/>
                </a:cubicBezTo>
                <a:cubicBezTo>
                  <a:pt x="175022" y="53757"/>
                  <a:pt x="175111" y="53846"/>
                  <a:pt x="175200" y="53935"/>
                </a:cubicBezTo>
                <a:lnTo>
                  <a:pt x="178594" y="57150"/>
                </a:lnTo>
                <a:lnTo>
                  <a:pt x="157207" y="57150"/>
                </a:lnTo>
                <a:cubicBezTo>
                  <a:pt x="149304" y="57150"/>
                  <a:pt x="142920" y="63535"/>
                  <a:pt x="142920" y="71438"/>
                </a:cubicBezTo>
                <a:cubicBezTo>
                  <a:pt x="142920" y="79340"/>
                  <a:pt x="149304" y="85725"/>
                  <a:pt x="157207" y="85725"/>
                </a:cubicBezTo>
                <a:lnTo>
                  <a:pt x="214357" y="85725"/>
                </a:lnTo>
                <a:cubicBezTo>
                  <a:pt x="222260" y="85725"/>
                  <a:pt x="228645" y="79340"/>
                  <a:pt x="228645" y="71438"/>
                </a:cubicBezTo>
                <a:lnTo>
                  <a:pt x="228645" y="14288"/>
                </a:lnTo>
                <a:cubicBezTo>
                  <a:pt x="228645" y="6385"/>
                  <a:pt x="222260" y="0"/>
                  <a:pt x="214357" y="0"/>
                </a:cubicBezTo>
                <a:cubicBezTo>
                  <a:pt x="206454" y="0"/>
                  <a:pt x="200070" y="6385"/>
                  <a:pt x="200070" y="14288"/>
                </a:cubicBezTo>
                <a:lnTo>
                  <a:pt x="200070" y="38130"/>
                </a:lnTo>
                <a:lnTo>
                  <a:pt x="195024" y="33352"/>
                </a:lnTo>
                <a:cubicBezTo>
                  <a:pt x="174352" y="12769"/>
                  <a:pt x="145777" y="0"/>
                  <a:pt x="114300" y="0"/>
                </a:cubicBezTo>
                <a:cubicBezTo>
                  <a:pt x="56704" y="0"/>
                  <a:pt x="9064" y="42595"/>
                  <a:pt x="1161" y="98003"/>
                </a:cubicBezTo>
                <a:cubicBezTo>
                  <a:pt x="45" y="105817"/>
                  <a:pt x="5447" y="113050"/>
                  <a:pt x="13261" y="114166"/>
                </a:cubicBezTo>
                <a:cubicBezTo>
                  <a:pt x="21074" y="115282"/>
                  <a:pt x="28307" y="109835"/>
                  <a:pt x="29423" y="102066"/>
                </a:cubicBezTo>
                <a:close/>
                <a:moveTo>
                  <a:pt x="227439" y="130597"/>
                </a:moveTo>
                <a:cubicBezTo>
                  <a:pt x="228555" y="122783"/>
                  <a:pt x="223108" y="115550"/>
                  <a:pt x="215339" y="114434"/>
                </a:cubicBezTo>
                <a:cubicBezTo>
                  <a:pt x="207571" y="113318"/>
                  <a:pt x="200293" y="118765"/>
                  <a:pt x="199177" y="126534"/>
                </a:cubicBezTo>
                <a:cubicBezTo>
                  <a:pt x="193238" y="168057"/>
                  <a:pt x="157475" y="199980"/>
                  <a:pt x="114300" y="199980"/>
                </a:cubicBezTo>
                <a:cubicBezTo>
                  <a:pt x="90636" y="199980"/>
                  <a:pt x="69205" y="190381"/>
                  <a:pt x="53667" y="174888"/>
                </a:cubicBezTo>
                <a:cubicBezTo>
                  <a:pt x="53578" y="174799"/>
                  <a:pt x="53489" y="174709"/>
                  <a:pt x="53400" y="174620"/>
                </a:cubicBezTo>
                <a:lnTo>
                  <a:pt x="50006" y="171405"/>
                </a:lnTo>
                <a:lnTo>
                  <a:pt x="71393" y="171405"/>
                </a:lnTo>
                <a:cubicBezTo>
                  <a:pt x="79296" y="171405"/>
                  <a:pt x="85680" y="165021"/>
                  <a:pt x="85680" y="157118"/>
                </a:cubicBezTo>
                <a:cubicBezTo>
                  <a:pt x="85680" y="149215"/>
                  <a:pt x="79296" y="142830"/>
                  <a:pt x="71393" y="142830"/>
                </a:cubicBezTo>
                <a:lnTo>
                  <a:pt x="14288" y="142875"/>
                </a:lnTo>
                <a:cubicBezTo>
                  <a:pt x="10492" y="142875"/>
                  <a:pt x="6831" y="144393"/>
                  <a:pt x="4152" y="147117"/>
                </a:cubicBezTo>
                <a:cubicBezTo>
                  <a:pt x="1473" y="149840"/>
                  <a:pt x="-45" y="153457"/>
                  <a:pt x="0" y="157296"/>
                </a:cubicBezTo>
                <a:lnTo>
                  <a:pt x="446" y="214000"/>
                </a:lnTo>
                <a:cubicBezTo>
                  <a:pt x="491" y="221903"/>
                  <a:pt x="6965" y="228243"/>
                  <a:pt x="14868" y="228154"/>
                </a:cubicBezTo>
                <a:cubicBezTo>
                  <a:pt x="22771" y="228064"/>
                  <a:pt x="29111" y="221635"/>
                  <a:pt x="29021" y="213732"/>
                </a:cubicBezTo>
                <a:lnTo>
                  <a:pt x="28843" y="190738"/>
                </a:lnTo>
                <a:lnTo>
                  <a:pt x="33620" y="195248"/>
                </a:lnTo>
                <a:cubicBezTo>
                  <a:pt x="54293" y="215831"/>
                  <a:pt x="82823" y="228600"/>
                  <a:pt x="114300" y="228600"/>
                </a:cubicBezTo>
                <a:cubicBezTo>
                  <a:pt x="171896" y="228600"/>
                  <a:pt x="219536" y="186005"/>
                  <a:pt x="227439" y="130597"/>
                </a:cubicBezTo>
                <a:close/>
              </a:path>
            </a:pathLst>
          </a:custGeom>
          <a:solidFill>
            <a:srgbClr val="0071E3"/>
          </a:solidFill>
          <a:ln/>
        </p:spPr>
      </p:sp>
      <p:sp>
        <p:nvSpPr>
          <p:cNvPr id="27" name="Text 25"/>
          <p:cNvSpPr/>
          <p:nvPr/>
        </p:nvSpPr>
        <p:spPr>
          <a:xfrm>
            <a:off x="7083743" y="3829171"/>
            <a:ext cx="1209675" cy="190500"/>
          </a:xfrm>
          <a:prstGeom prst="rect">
            <a:avLst/>
          </a:prstGeom>
          <a:noFill/>
          <a:ln/>
        </p:spPr>
        <p:txBody>
          <a:bodyPr wrap="square" lIns="0" tIns="0" rIns="0" bIns="0" rtlCol="0" anchor="ctr"/>
          <a:lstStyle/>
          <a:p>
            <a:pPr algn="ctr">
              <a:lnSpc>
                <a:spcPct val="120000"/>
              </a:lnSpc>
            </a:pPr>
            <a:r>
              <a:rPr lang="en-US" sz="1050" b="1" dirty="0">
                <a:solidFill>
                  <a:srgbClr val="1D1D1F"/>
                </a:solidFill>
                <a:latin typeface="Liter" pitchFamily="34" charset="0"/>
                <a:ea typeface="Liter" pitchFamily="34" charset="-122"/>
                <a:cs typeface="Liter" pitchFamily="34" charset="-120"/>
              </a:rPr>
              <a:t>TF-IDF</a:t>
            </a:r>
            <a:endParaRPr lang="en-US" sz="1600" dirty="0"/>
          </a:p>
        </p:txBody>
      </p:sp>
      <p:sp>
        <p:nvSpPr>
          <p:cNvPr id="28" name="Text 26"/>
          <p:cNvSpPr/>
          <p:nvPr/>
        </p:nvSpPr>
        <p:spPr>
          <a:xfrm>
            <a:off x="7088505" y="4133971"/>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Vectorization</a:t>
            </a:r>
            <a:endParaRPr lang="en-US" sz="1600" dirty="0"/>
          </a:p>
        </p:txBody>
      </p:sp>
      <p:sp>
        <p:nvSpPr>
          <p:cNvPr id="29" name="Text 27"/>
          <p:cNvSpPr/>
          <p:nvPr/>
        </p:nvSpPr>
        <p:spPr>
          <a:xfrm>
            <a:off x="7088505" y="4324350"/>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Feature Matrix</a:t>
            </a:r>
            <a:endParaRPr lang="en-US" sz="1600" dirty="0"/>
          </a:p>
        </p:txBody>
      </p:sp>
      <p:sp>
        <p:nvSpPr>
          <p:cNvPr id="30" name="Text 28"/>
          <p:cNvSpPr/>
          <p:nvPr/>
        </p:nvSpPr>
        <p:spPr>
          <a:xfrm>
            <a:off x="7088505" y="4514734"/>
            <a:ext cx="12001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Numerical Data</a:t>
            </a:r>
            <a:endParaRPr lang="en-US" sz="1600" dirty="0"/>
          </a:p>
        </p:txBody>
      </p:sp>
      <p:sp>
        <p:nvSpPr>
          <p:cNvPr id="31" name="Shape 29"/>
          <p:cNvSpPr/>
          <p:nvPr/>
        </p:nvSpPr>
        <p:spPr>
          <a:xfrm>
            <a:off x="9166860" y="382905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0071E3"/>
          </a:solidFill>
          <a:ln/>
        </p:spPr>
      </p:sp>
      <p:sp>
        <p:nvSpPr>
          <p:cNvPr id="32" name="Shape 30"/>
          <p:cNvSpPr/>
          <p:nvPr/>
        </p:nvSpPr>
        <p:spPr>
          <a:xfrm>
            <a:off x="10142220" y="2872980"/>
            <a:ext cx="1463040" cy="1005840"/>
          </a:xfrm>
          <a:custGeom>
            <a:avLst/>
            <a:gdLst/>
            <a:ahLst/>
            <a:cxnLst/>
            <a:rect l="l" t="t" r="r" b="b"/>
            <a:pathLst>
              <a:path w="1463040" h="1005840">
                <a:moveTo>
                  <a:pt x="152405" y="0"/>
                </a:moveTo>
                <a:lnTo>
                  <a:pt x="1310635" y="0"/>
                </a:lnTo>
                <a:cubicBezTo>
                  <a:pt x="1394806" y="0"/>
                  <a:pt x="1463040" y="68234"/>
                  <a:pt x="1463040" y="152405"/>
                </a:cubicBezTo>
                <a:lnTo>
                  <a:pt x="1463040" y="853435"/>
                </a:lnTo>
                <a:cubicBezTo>
                  <a:pt x="1463040" y="937606"/>
                  <a:pt x="1394806" y="1005840"/>
                  <a:pt x="1310635" y="1005840"/>
                </a:cubicBezTo>
                <a:lnTo>
                  <a:pt x="152405" y="1005840"/>
                </a:lnTo>
                <a:cubicBezTo>
                  <a:pt x="68234" y="1005840"/>
                  <a:pt x="0" y="937606"/>
                  <a:pt x="0" y="853435"/>
                </a:cubicBezTo>
                <a:lnTo>
                  <a:pt x="0" y="152405"/>
                </a:lnTo>
                <a:cubicBezTo>
                  <a:pt x="0" y="68234"/>
                  <a:pt x="68234" y="0"/>
                  <a:pt x="152405" y="0"/>
                </a:cubicBezTo>
                <a:close/>
              </a:path>
            </a:pathLst>
          </a:custGeom>
          <a:solidFill>
            <a:srgbClr val="FFFFFF"/>
          </a:solidFill>
          <a:ln w="20320">
            <a:solidFill>
              <a:srgbClr val="0071E3"/>
            </a:solidFill>
            <a:prstDash val="solid"/>
          </a:ln>
          <a:effectLst>
            <a:outerShdw blurRad="142875" dist="95250" dir="5400000" algn="bl" rotWithShape="0">
              <a:srgbClr val="000000">
                <a:alpha val="10196"/>
              </a:srgbClr>
            </a:outerShdw>
          </a:effectLst>
        </p:spPr>
      </p:sp>
      <p:sp>
        <p:nvSpPr>
          <p:cNvPr id="33" name="Shape 31"/>
          <p:cNvSpPr/>
          <p:nvPr/>
        </p:nvSpPr>
        <p:spPr>
          <a:xfrm>
            <a:off x="10683240" y="2994901"/>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34" name="Shape 32"/>
          <p:cNvSpPr/>
          <p:nvPr/>
        </p:nvSpPr>
        <p:spPr>
          <a:xfrm>
            <a:off x="10790396" y="3099676"/>
            <a:ext cx="171450" cy="171450"/>
          </a:xfrm>
          <a:custGeom>
            <a:avLst/>
            <a:gdLst/>
            <a:ahLst/>
            <a:cxnLst/>
            <a:rect l="l" t="t" r="r" b="b"/>
            <a:pathLst>
              <a:path w="171450" h="171450">
                <a:moveTo>
                  <a:pt x="0" y="26789"/>
                </a:moveTo>
                <a:cubicBezTo>
                  <a:pt x="0" y="17915"/>
                  <a:pt x="7200" y="10716"/>
                  <a:pt x="16073" y="10716"/>
                </a:cubicBezTo>
                <a:lnTo>
                  <a:pt x="48220" y="10716"/>
                </a:lnTo>
                <a:cubicBezTo>
                  <a:pt x="57094" y="10716"/>
                  <a:pt x="64294" y="17915"/>
                  <a:pt x="64294" y="26789"/>
                </a:cubicBezTo>
                <a:lnTo>
                  <a:pt x="64294" y="32147"/>
                </a:lnTo>
                <a:lnTo>
                  <a:pt x="107156" y="32147"/>
                </a:lnTo>
                <a:lnTo>
                  <a:pt x="107156" y="26789"/>
                </a:lnTo>
                <a:cubicBezTo>
                  <a:pt x="107156" y="17915"/>
                  <a:pt x="114356" y="10716"/>
                  <a:pt x="123230" y="10716"/>
                </a:cubicBezTo>
                <a:lnTo>
                  <a:pt x="155377" y="10716"/>
                </a:lnTo>
                <a:cubicBezTo>
                  <a:pt x="164250" y="10716"/>
                  <a:pt x="171450" y="17915"/>
                  <a:pt x="171450" y="26789"/>
                </a:cubicBezTo>
                <a:lnTo>
                  <a:pt x="171450" y="58936"/>
                </a:lnTo>
                <a:cubicBezTo>
                  <a:pt x="171450" y="67810"/>
                  <a:pt x="164250" y="75009"/>
                  <a:pt x="155377" y="75009"/>
                </a:cubicBezTo>
                <a:lnTo>
                  <a:pt x="123230" y="75009"/>
                </a:lnTo>
                <a:cubicBezTo>
                  <a:pt x="114356" y="75009"/>
                  <a:pt x="107156" y="67810"/>
                  <a:pt x="107156" y="58936"/>
                </a:cubicBezTo>
                <a:lnTo>
                  <a:pt x="107156" y="53578"/>
                </a:lnTo>
                <a:lnTo>
                  <a:pt x="64294" y="53578"/>
                </a:lnTo>
                <a:lnTo>
                  <a:pt x="64294" y="58936"/>
                </a:lnTo>
                <a:cubicBezTo>
                  <a:pt x="64294" y="61380"/>
                  <a:pt x="63724" y="63724"/>
                  <a:pt x="62753" y="65801"/>
                </a:cubicBezTo>
                <a:lnTo>
                  <a:pt x="85725" y="96441"/>
                </a:lnTo>
                <a:lnTo>
                  <a:pt x="112514" y="96441"/>
                </a:lnTo>
                <a:cubicBezTo>
                  <a:pt x="121388" y="96441"/>
                  <a:pt x="128588" y="103640"/>
                  <a:pt x="128588" y="112514"/>
                </a:cubicBezTo>
                <a:lnTo>
                  <a:pt x="128588" y="144661"/>
                </a:lnTo>
                <a:cubicBezTo>
                  <a:pt x="128588" y="153535"/>
                  <a:pt x="121388" y="160734"/>
                  <a:pt x="112514" y="160734"/>
                </a:cubicBezTo>
                <a:lnTo>
                  <a:pt x="80367" y="160734"/>
                </a:lnTo>
                <a:cubicBezTo>
                  <a:pt x="71493" y="160734"/>
                  <a:pt x="64294" y="153535"/>
                  <a:pt x="64294" y="144661"/>
                </a:cubicBezTo>
                <a:lnTo>
                  <a:pt x="64294" y="112514"/>
                </a:lnTo>
                <a:cubicBezTo>
                  <a:pt x="64294" y="110070"/>
                  <a:pt x="64863" y="107726"/>
                  <a:pt x="65834" y="105649"/>
                </a:cubicBezTo>
                <a:lnTo>
                  <a:pt x="42863" y="75009"/>
                </a:lnTo>
                <a:lnTo>
                  <a:pt x="16073" y="75009"/>
                </a:lnTo>
                <a:cubicBezTo>
                  <a:pt x="7200" y="75009"/>
                  <a:pt x="0" y="67810"/>
                  <a:pt x="0" y="58936"/>
                </a:cubicBezTo>
                <a:lnTo>
                  <a:pt x="0" y="26789"/>
                </a:lnTo>
                <a:close/>
              </a:path>
            </a:pathLst>
          </a:custGeom>
          <a:solidFill>
            <a:srgbClr val="0071E3"/>
          </a:solidFill>
          <a:ln/>
        </p:spPr>
      </p:sp>
      <p:sp>
        <p:nvSpPr>
          <p:cNvPr id="35" name="Text 33"/>
          <p:cNvSpPr/>
          <p:nvPr/>
        </p:nvSpPr>
        <p:spPr>
          <a:xfrm>
            <a:off x="10235565" y="3414001"/>
            <a:ext cx="1276350" cy="152400"/>
          </a:xfrm>
          <a:prstGeom prst="rect">
            <a:avLst/>
          </a:prstGeom>
          <a:noFill/>
          <a:ln/>
        </p:spPr>
        <p:txBody>
          <a:bodyPr wrap="square" lIns="0" tIns="0" rIns="0" bIns="0" rtlCol="0" anchor="ctr"/>
          <a:lstStyle/>
          <a:p>
            <a:pPr algn="ctr">
              <a:lnSpc>
                <a:spcPct val="110000"/>
              </a:lnSpc>
            </a:pPr>
            <a:r>
              <a:rPr lang="en-US" sz="900" b="1" dirty="0">
                <a:solidFill>
                  <a:srgbClr val="1D1D1F"/>
                </a:solidFill>
                <a:latin typeface="Liter" pitchFamily="34" charset="0"/>
                <a:ea typeface="Liter" pitchFamily="34" charset="-122"/>
                <a:cs typeface="Liter" pitchFamily="34" charset="-120"/>
              </a:rPr>
              <a:t>NMF Model</a:t>
            </a:r>
            <a:endParaRPr lang="en-US" sz="1600" dirty="0"/>
          </a:p>
        </p:txBody>
      </p:sp>
      <p:sp>
        <p:nvSpPr>
          <p:cNvPr id="36" name="Text 34"/>
          <p:cNvSpPr/>
          <p:nvPr/>
        </p:nvSpPr>
        <p:spPr>
          <a:xfrm>
            <a:off x="10235565" y="3604380"/>
            <a:ext cx="12763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Topic Modeling</a:t>
            </a:r>
            <a:endParaRPr lang="en-US" sz="1600" dirty="0"/>
          </a:p>
        </p:txBody>
      </p:sp>
      <p:sp>
        <p:nvSpPr>
          <p:cNvPr id="37" name="Shape 35"/>
          <p:cNvSpPr/>
          <p:nvPr/>
        </p:nvSpPr>
        <p:spPr>
          <a:xfrm>
            <a:off x="10142220" y="4008120"/>
            <a:ext cx="1463040" cy="1005840"/>
          </a:xfrm>
          <a:custGeom>
            <a:avLst/>
            <a:gdLst/>
            <a:ahLst/>
            <a:cxnLst/>
            <a:rect l="l" t="t" r="r" b="b"/>
            <a:pathLst>
              <a:path w="1463040" h="1005840">
                <a:moveTo>
                  <a:pt x="152405" y="0"/>
                </a:moveTo>
                <a:lnTo>
                  <a:pt x="1310635" y="0"/>
                </a:lnTo>
                <a:cubicBezTo>
                  <a:pt x="1394806" y="0"/>
                  <a:pt x="1463040" y="68234"/>
                  <a:pt x="1463040" y="152405"/>
                </a:cubicBezTo>
                <a:lnTo>
                  <a:pt x="1463040" y="853435"/>
                </a:lnTo>
                <a:cubicBezTo>
                  <a:pt x="1463040" y="937606"/>
                  <a:pt x="1394806" y="1005840"/>
                  <a:pt x="1310635" y="1005840"/>
                </a:cubicBezTo>
                <a:lnTo>
                  <a:pt x="152405" y="1005840"/>
                </a:lnTo>
                <a:cubicBezTo>
                  <a:pt x="68234" y="1005840"/>
                  <a:pt x="0" y="937606"/>
                  <a:pt x="0" y="853435"/>
                </a:cubicBezTo>
                <a:lnTo>
                  <a:pt x="0" y="152405"/>
                </a:lnTo>
                <a:cubicBezTo>
                  <a:pt x="0" y="68234"/>
                  <a:pt x="68234" y="0"/>
                  <a:pt x="152405" y="0"/>
                </a:cubicBezTo>
                <a:close/>
              </a:path>
            </a:pathLst>
          </a:custGeom>
          <a:solidFill>
            <a:srgbClr val="FFFFFF"/>
          </a:solidFill>
          <a:ln w="20320">
            <a:solidFill>
              <a:srgbClr val="00C7BE"/>
            </a:solidFill>
            <a:prstDash val="solid"/>
          </a:ln>
          <a:effectLst>
            <a:outerShdw blurRad="142875" dist="95250" dir="5400000" algn="bl" rotWithShape="0">
              <a:srgbClr val="000000">
                <a:alpha val="10196"/>
              </a:srgbClr>
            </a:outerShdw>
          </a:effectLst>
        </p:spPr>
      </p:sp>
      <p:sp>
        <p:nvSpPr>
          <p:cNvPr id="38" name="Shape 36"/>
          <p:cNvSpPr/>
          <p:nvPr/>
        </p:nvSpPr>
        <p:spPr>
          <a:xfrm>
            <a:off x="10683240" y="4130041"/>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C7BE">
              <a:alpha val="10196"/>
            </a:srgbClr>
          </a:solidFill>
          <a:ln/>
        </p:spPr>
      </p:sp>
      <p:sp>
        <p:nvSpPr>
          <p:cNvPr id="39" name="Shape 37"/>
          <p:cNvSpPr/>
          <p:nvPr/>
        </p:nvSpPr>
        <p:spPr>
          <a:xfrm>
            <a:off x="10790396" y="4234816"/>
            <a:ext cx="171450" cy="171450"/>
          </a:xfrm>
          <a:custGeom>
            <a:avLst/>
            <a:gdLst/>
            <a:ahLst/>
            <a:cxnLst/>
            <a:rect l="l" t="t" r="r" b="b"/>
            <a:pathLst>
              <a:path w="171450" h="171450">
                <a:moveTo>
                  <a:pt x="40184" y="18752"/>
                </a:moveTo>
                <a:cubicBezTo>
                  <a:pt x="40184" y="8405"/>
                  <a:pt x="48589" y="0"/>
                  <a:pt x="58936" y="0"/>
                </a:cubicBezTo>
                <a:lnTo>
                  <a:pt x="66973" y="0"/>
                </a:lnTo>
                <a:cubicBezTo>
                  <a:pt x="72900" y="0"/>
                  <a:pt x="77688" y="4789"/>
                  <a:pt x="77688" y="10716"/>
                </a:cubicBezTo>
                <a:lnTo>
                  <a:pt x="77688" y="160734"/>
                </a:lnTo>
                <a:cubicBezTo>
                  <a:pt x="77688" y="166661"/>
                  <a:pt x="72900" y="171450"/>
                  <a:pt x="66973" y="171450"/>
                </a:cubicBezTo>
                <a:lnTo>
                  <a:pt x="56257" y="171450"/>
                </a:lnTo>
                <a:cubicBezTo>
                  <a:pt x="46278" y="171450"/>
                  <a:pt x="37873" y="164619"/>
                  <a:pt x="35496" y="155377"/>
                </a:cubicBezTo>
                <a:cubicBezTo>
                  <a:pt x="35261" y="155377"/>
                  <a:pt x="35060" y="155377"/>
                  <a:pt x="34826" y="155377"/>
                </a:cubicBezTo>
                <a:cubicBezTo>
                  <a:pt x="20025" y="155377"/>
                  <a:pt x="8037" y="143388"/>
                  <a:pt x="8037" y="128588"/>
                </a:cubicBezTo>
                <a:cubicBezTo>
                  <a:pt x="8037" y="122560"/>
                  <a:pt x="10046" y="117001"/>
                  <a:pt x="13395" y="112514"/>
                </a:cubicBezTo>
                <a:cubicBezTo>
                  <a:pt x="6898" y="107625"/>
                  <a:pt x="2679" y="99856"/>
                  <a:pt x="2679" y="91083"/>
                </a:cubicBezTo>
                <a:cubicBezTo>
                  <a:pt x="2679" y="80736"/>
                  <a:pt x="8573" y="71728"/>
                  <a:pt x="17145" y="67274"/>
                </a:cubicBezTo>
                <a:cubicBezTo>
                  <a:pt x="14767" y="63256"/>
                  <a:pt x="13395" y="58568"/>
                  <a:pt x="13395" y="53578"/>
                </a:cubicBezTo>
                <a:cubicBezTo>
                  <a:pt x="13395" y="38777"/>
                  <a:pt x="25383" y="26789"/>
                  <a:pt x="40184" y="26789"/>
                </a:cubicBezTo>
                <a:lnTo>
                  <a:pt x="40184" y="18752"/>
                </a:lnTo>
                <a:close/>
                <a:moveTo>
                  <a:pt x="131266" y="18752"/>
                </a:moveTo>
                <a:lnTo>
                  <a:pt x="131266" y="26789"/>
                </a:lnTo>
                <a:cubicBezTo>
                  <a:pt x="146067" y="26789"/>
                  <a:pt x="158055" y="38777"/>
                  <a:pt x="158055" y="53578"/>
                </a:cubicBezTo>
                <a:cubicBezTo>
                  <a:pt x="158055" y="58601"/>
                  <a:pt x="156683" y="63289"/>
                  <a:pt x="154305" y="67274"/>
                </a:cubicBezTo>
                <a:cubicBezTo>
                  <a:pt x="162911" y="71728"/>
                  <a:pt x="168771" y="80702"/>
                  <a:pt x="168771" y="91083"/>
                </a:cubicBezTo>
                <a:cubicBezTo>
                  <a:pt x="168771" y="99856"/>
                  <a:pt x="164552" y="107625"/>
                  <a:pt x="158055" y="112514"/>
                </a:cubicBezTo>
                <a:cubicBezTo>
                  <a:pt x="161404" y="117001"/>
                  <a:pt x="163413" y="122560"/>
                  <a:pt x="163413" y="128588"/>
                </a:cubicBezTo>
                <a:cubicBezTo>
                  <a:pt x="163413" y="143388"/>
                  <a:pt x="151425" y="155377"/>
                  <a:pt x="136624" y="155377"/>
                </a:cubicBezTo>
                <a:cubicBezTo>
                  <a:pt x="136390" y="155377"/>
                  <a:pt x="136189" y="155377"/>
                  <a:pt x="135954" y="155377"/>
                </a:cubicBezTo>
                <a:cubicBezTo>
                  <a:pt x="133577" y="164619"/>
                  <a:pt x="125172" y="171450"/>
                  <a:pt x="115193" y="171450"/>
                </a:cubicBezTo>
                <a:lnTo>
                  <a:pt x="104477" y="171450"/>
                </a:lnTo>
                <a:cubicBezTo>
                  <a:pt x="98550" y="171450"/>
                  <a:pt x="93762" y="166661"/>
                  <a:pt x="93762" y="160734"/>
                </a:cubicBezTo>
                <a:lnTo>
                  <a:pt x="93762" y="10716"/>
                </a:lnTo>
                <a:cubicBezTo>
                  <a:pt x="93762" y="4789"/>
                  <a:pt x="98550" y="0"/>
                  <a:pt x="104477" y="0"/>
                </a:cubicBezTo>
                <a:lnTo>
                  <a:pt x="112514" y="0"/>
                </a:lnTo>
                <a:cubicBezTo>
                  <a:pt x="122861" y="0"/>
                  <a:pt x="131266" y="8405"/>
                  <a:pt x="131266" y="18752"/>
                </a:cubicBezTo>
                <a:close/>
              </a:path>
            </a:pathLst>
          </a:custGeom>
          <a:solidFill>
            <a:srgbClr val="00C7BE"/>
          </a:solidFill>
          <a:ln/>
        </p:spPr>
      </p:sp>
      <p:sp>
        <p:nvSpPr>
          <p:cNvPr id="40" name="Text 38"/>
          <p:cNvSpPr/>
          <p:nvPr/>
        </p:nvSpPr>
        <p:spPr>
          <a:xfrm>
            <a:off x="10235565" y="4549141"/>
            <a:ext cx="1276350" cy="152400"/>
          </a:xfrm>
          <a:prstGeom prst="rect">
            <a:avLst/>
          </a:prstGeom>
          <a:noFill/>
          <a:ln/>
        </p:spPr>
        <p:txBody>
          <a:bodyPr wrap="square" lIns="0" tIns="0" rIns="0" bIns="0" rtlCol="0" anchor="ctr"/>
          <a:lstStyle/>
          <a:p>
            <a:pPr algn="ctr">
              <a:lnSpc>
                <a:spcPct val="110000"/>
              </a:lnSpc>
            </a:pPr>
            <a:r>
              <a:rPr lang="en-US" sz="900" b="1" dirty="0">
                <a:solidFill>
                  <a:srgbClr val="1D1D1F"/>
                </a:solidFill>
                <a:latin typeface="Liter" pitchFamily="34" charset="0"/>
                <a:ea typeface="Liter" pitchFamily="34" charset="-122"/>
                <a:cs typeface="Liter" pitchFamily="34" charset="-120"/>
              </a:rPr>
              <a:t>Sentiment</a:t>
            </a:r>
            <a:endParaRPr lang="en-US" sz="1600" dirty="0"/>
          </a:p>
        </p:txBody>
      </p:sp>
      <p:sp>
        <p:nvSpPr>
          <p:cNvPr id="41" name="Text 39"/>
          <p:cNvSpPr/>
          <p:nvPr/>
        </p:nvSpPr>
        <p:spPr>
          <a:xfrm>
            <a:off x="10235565" y="4739520"/>
            <a:ext cx="1276350"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Classification</a:t>
            </a:r>
            <a:endParaRPr lang="en-US" sz="1600" dirty="0"/>
          </a:p>
        </p:txBody>
      </p:sp>
      <p:sp>
        <p:nvSpPr>
          <p:cNvPr id="42" name="Shape 40"/>
          <p:cNvSpPr/>
          <p:nvPr/>
        </p:nvSpPr>
        <p:spPr>
          <a:xfrm>
            <a:off x="3515439" y="5897882"/>
            <a:ext cx="1838325" cy="381000"/>
          </a:xfrm>
          <a:custGeom>
            <a:avLst/>
            <a:gdLst/>
            <a:ahLst/>
            <a:cxnLst/>
            <a:rect l="l" t="t" r="r" b="b"/>
            <a:pathLst>
              <a:path w="1838325" h="381000">
                <a:moveTo>
                  <a:pt x="190500" y="0"/>
                </a:moveTo>
                <a:lnTo>
                  <a:pt x="1647825" y="0"/>
                </a:lnTo>
                <a:cubicBezTo>
                  <a:pt x="1752965" y="0"/>
                  <a:pt x="1838325" y="85360"/>
                  <a:pt x="1838325" y="190500"/>
                </a:cubicBezTo>
                <a:lnTo>
                  <a:pt x="1838325" y="190500"/>
                </a:lnTo>
                <a:cubicBezTo>
                  <a:pt x="1838325" y="295640"/>
                  <a:pt x="1752965" y="381000"/>
                  <a:pt x="1647825"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alpha val="10196"/>
            </a:srgbClr>
          </a:solidFill>
          <a:ln/>
        </p:spPr>
      </p:sp>
      <p:sp>
        <p:nvSpPr>
          <p:cNvPr id="43" name="Shape 41"/>
          <p:cNvSpPr/>
          <p:nvPr/>
        </p:nvSpPr>
        <p:spPr>
          <a:xfrm>
            <a:off x="3734514" y="6012182"/>
            <a:ext cx="133350" cy="152400"/>
          </a:xfrm>
          <a:custGeom>
            <a:avLst/>
            <a:gdLst/>
            <a:ahLst/>
            <a:cxnLst/>
            <a:rect l="l" t="t" r="r" b="b"/>
            <a:pathLst>
              <a:path w="133350" h="152400">
                <a:moveTo>
                  <a:pt x="19050" y="9525"/>
                </a:moveTo>
                <a:cubicBezTo>
                  <a:pt x="8543" y="9525"/>
                  <a:pt x="0" y="18068"/>
                  <a:pt x="0" y="28575"/>
                </a:cubicBezTo>
                <a:lnTo>
                  <a:pt x="0" y="47625"/>
                </a:lnTo>
                <a:cubicBezTo>
                  <a:pt x="0" y="58132"/>
                  <a:pt x="8543" y="66675"/>
                  <a:pt x="19050" y="66675"/>
                </a:cubicBezTo>
                <a:lnTo>
                  <a:pt x="114300" y="66675"/>
                </a:lnTo>
                <a:cubicBezTo>
                  <a:pt x="124807" y="66675"/>
                  <a:pt x="133350" y="58132"/>
                  <a:pt x="133350" y="47625"/>
                </a:cubicBezTo>
                <a:lnTo>
                  <a:pt x="133350" y="28575"/>
                </a:lnTo>
                <a:cubicBezTo>
                  <a:pt x="133350" y="18068"/>
                  <a:pt x="124807" y="9525"/>
                  <a:pt x="114300" y="9525"/>
                </a:cubicBezTo>
                <a:lnTo>
                  <a:pt x="19050" y="9525"/>
                </a:lnTo>
                <a:close/>
                <a:moveTo>
                  <a:pt x="83344" y="30956"/>
                </a:moveTo>
                <a:cubicBezTo>
                  <a:pt x="87286" y="30956"/>
                  <a:pt x="90488" y="34157"/>
                  <a:pt x="90488" y="38100"/>
                </a:cubicBezTo>
                <a:cubicBezTo>
                  <a:pt x="90488" y="42043"/>
                  <a:pt x="87286" y="45244"/>
                  <a:pt x="83344" y="45244"/>
                </a:cubicBezTo>
                <a:cubicBezTo>
                  <a:pt x="79401" y="45244"/>
                  <a:pt x="76200" y="42043"/>
                  <a:pt x="76200" y="38100"/>
                </a:cubicBezTo>
                <a:cubicBezTo>
                  <a:pt x="76200" y="34157"/>
                  <a:pt x="79401" y="30956"/>
                  <a:pt x="83344" y="30956"/>
                </a:cubicBezTo>
                <a:close/>
                <a:moveTo>
                  <a:pt x="100013" y="38100"/>
                </a:moveTo>
                <a:cubicBezTo>
                  <a:pt x="100013" y="34157"/>
                  <a:pt x="103214" y="30956"/>
                  <a:pt x="107156" y="30956"/>
                </a:cubicBezTo>
                <a:cubicBezTo>
                  <a:pt x="111099" y="30956"/>
                  <a:pt x="114300" y="34157"/>
                  <a:pt x="114300" y="38100"/>
                </a:cubicBezTo>
                <a:cubicBezTo>
                  <a:pt x="114300" y="42043"/>
                  <a:pt x="111099" y="45244"/>
                  <a:pt x="107156" y="45244"/>
                </a:cubicBezTo>
                <a:cubicBezTo>
                  <a:pt x="103214" y="45244"/>
                  <a:pt x="100013" y="42043"/>
                  <a:pt x="100013" y="38100"/>
                </a:cubicBezTo>
                <a:close/>
                <a:moveTo>
                  <a:pt x="19050" y="85725"/>
                </a:moveTo>
                <a:cubicBezTo>
                  <a:pt x="8543" y="85725"/>
                  <a:pt x="0" y="94268"/>
                  <a:pt x="0" y="104775"/>
                </a:cubicBezTo>
                <a:lnTo>
                  <a:pt x="0" y="123825"/>
                </a:lnTo>
                <a:cubicBezTo>
                  <a:pt x="0" y="134332"/>
                  <a:pt x="8543" y="142875"/>
                  <a:pt x="19050" y="142875"/>
                </a:cubicBezTo>
                <a:lnTo>
                  <a:pt x="114300" y="142875"/>
                </a:lnTo>
                <a:cubicBezTo>
                  <a:pt x="124807" y="142875"/>
                  <a:pt x="133350" y="134332"/>
                  <a:pt x="133350" y="123825"/>
                </a:cubicBezTo>
                <a:lnTo>
                  <a:pt x="133350" y="104775"/>
                </a:lnTo>
                <a:cubicBezTo>
                  <a:pt x="133350" y="94268"/>
                  <a:pt x="124807" y="85725"/>
                  <a:pt x="114300" y="85725"/>
                </a:cubicBezTo>
                <a:lnTo>
                  <a:pt x="19050" y="85725"/>
                </a:lnTo>
                <a:close/>
                <a:moveTo>
                  <a:pt x="83344" y="107156"/>
                </a:moveTo>
                <a:cubicBezTo>
                  <a:pt x="87286" y="107156"/>
                  <a:pt x="90488" y="110357"/>
                  <a:pt x="90488" y="114300"/>
                </a:cubicBezTo>
                <a:cubicBezTo>
                  <a:pt x="90488" y="118243"/>
                  <a:pt x="87286" y="121444"/>
                  <a:pt x="83344" y="121444"/>
                </a:cubicBezTo>
                <a:cubicBezTo>
                  <a:pt x="79401" y="121444"/>
                  <a:pt x="76200" y="118243"/>
                  <a:pt x="76200" y="114300"/>
                </a:cubicBezTo>
                <a:cubicBezTo>
                  <a:pt x="76200" y="110357"/>
                  <a:pt x="79401" y="107156"/>
                  <a:pt x="83344" y="107156"/>
                </a:cubicBezTo>
                <a:close/>
                <a:moveTo>
                  <a:pt x="100013" y="114300"/>
                </a:moveTo>
                <a:cubicBezTo>
                  <a:pt x="100013" y="110357"/>
                  <a:pt x="103214" y="107156"/>
                  <a:pt x="107156" y="107156"/>
                </a:cubicBezTo>
                <a:cubicBezTo>
                  <a:pt x="111099" y="107156"/>
                  <a:pt x="114300" y="110357"/>
                  <a:pt x="114300" y="114300"/>
                </a:cubicBezTo>
                <a:cubicBezTo>
                  <a:pt x="114300" y="118243"/>
                  <a:pt x="111099" y="121444"/>
                  <a:pt x="107156" y="121444"/>
                </a:cubicBezTo>
                <a:cubicBezTo>
                  <a:pt x="103214" y="121444"/>
                  <a:pt x="100013" y="118243"/>
                  <a:pt x="100013" y="114300"/>
                </a:cubicBezTo>
                <a:close/>
              </a:path>
            </a:pathLst>
          </a:custGeom>
          <a:solidFill>
            <a:srgbClr val="0071E3"/>
          </a:solidFill>
          <a:ln/>
        </p:spPr>
      </p:sp>
      <p:sp>
        <p:nvSpPr>
          <p:cNvPr id="44" name="Text 42"/>
          <p:cNvSpPr/>
          <p:nvPr/>
        </p:nvSpPr>
        <p:spPr>
          <a:xfrm>
            <a:off x="3972639" y="5993132"/>
            <a:ext cx="1257300"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Backend Processing</a:t>
            </a:r>
            <a:endParaRPr lang="en-US" sz="1600" dirty="0"/>
          </a:p>
        </p:txBody>
      </p:sp>
      <p:sp>
        <p:nvSpPr>
          <p:cNvPr id="45" name="Shape 43"/>
          <p:cNvSpPr/>
          <p:nvPr/>
        </p:nvSpPr>
        <p:spPr>
          <a:xfrm>
            <a:off x="5508427" y="5897882"/>
            <a:ext cx="1619250" cy="381000"/>
          </a:xfrm>
          <a:custGeom>
            <a:avLst/>
            <a:gdLst/>
            <a:ahLst/>
            <a:cxnLst/>
            <a:rect l="l" t="t" r="r" b="b"/>
            <a:pathLst>
              <a:path w="1619250" h="381000">
                <a:moveTo>
                  <a:pt x="190500" y="0"/>
                </a:moveTo>
                <a:lnTo>
                  <a:pt x="1428750" y="0"/>
                </a:lnTo>
                <a:cubicBezTo>
                  <a:pt x="1533890" y="0"/>
                  <a:pt x="1619250" y="85360"/>
                  <a:pt x="1619250" y="190500"/>
                </a:cubicBezTo>
                <a:lnTo>
                  <a:pt x="1619250" y="190500"/>
                </a:lnTo>
                <a:cubicBezTo>
                  <a:pt x="1619250" y="295640"/>
                  <a:pt x="1533890" y="381000"/>
                  <a:pt x="1428750"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alpha val="10196"/>
            </a:srgbClr>
          </a:solidFill>
          <a:ln/>
        </p:spPr>
      </p:sp>
      <p:sp>
        <p:nvSpPr>
          <p:cNvPr id="46" name="Shape 44"/>
          <p:cNvSpPr/>
          <p:nvPr/>
        </p:nvSpPr>
        <p:spPr>
          <a:xfrm>
            <a:off x="5717977" y="6012182"/>
            <a:ext cx="152400" cy="152400"/>
          </a:xfrm>
          <a:custGeom>
            <a:avLst/>
            <a:gdLst/>
            <a:ahLst/>
            <a:cxnLst/>
            <a:rect l="l" t="t" r="r" b="b"/>
            <a:pathLst>
              <a:path w="152400" h="152400">
                <a:moveTo>
                  <a:pt x="104745" y="83344"/>
                </a:moveTo>
                <a:lnTo>
                  <a:pt x="47923" y="83344"/>
                </a:lnTo>
                <a:cubicBezTo>
                  <a:pt x="48786" y="102543"/>
                  <a:pt x="53042" y="120223"/>
                  <a:pt x="59085" y="133171"/>
                </a:cubicBezTo>
                <a:cubicBezTo>
                  <a:pt x="62478" y="140464"/>
                  <a:pt x="66139" y="145613"/>
                  <a:pt x="69533" y="148769"/>
                </a:cubicBezTo>
                <a:cubicBezTo>
                  <a:pt x="72866" y="151894"/>
                  <a:pt x="75158" y="152400"/>
                  <a:pt x="76349" y="152400"/>
                </a:cubicBezTo>
                <a:cubicBezTo>
                  <a:pt x="77539" y="152400"/>
                  <a:pt x="79831" y="151894"/>
                  <a:pt x="83165" y="148769"/>
                </a:cubicBezTo>
                <a:cubicBezTo>
                  <a:pt x="86558" y="145613"/>
                  <a:pt x="90220" y="140434"/>
                  <a:pt x="93613" y="133171"/>
                </a:cubicBezTo>
                <a:cubicBezTo>
                  <a:pt x="99655" y="120223"/>
                  <a:pt x="103912" y="102543"/>
                  <a:pt x="104775" y="83344"/>
                </a:cubicBezTo>
                <a:close/>
                <a:moveTo>
                  <a:pt x="47893" y="69056"/>
                </a:moveTo>
                <a:lnTo>
                  <a:pt x="104715" y="69056"/>
                </a:lnTo>
                <a:cubicBezTo>
                  <a:pt x="103882" y="49857"/>
                  <a:pt x="99626" y="32177"/>
                  <a:pt x="93583" y="19229"/>
                </a:cubicBezTo>
                <a:cubicBezTo>
                  <a:pt x="90190" y="11966"/>
                  <a:pt x="86529" y="6787"/>
                  <a:pt x="83135" y="3631"/>
                </a:cubicBezTo>
                <a:cubicBezTo>
                  <a:pt x="79802" y="506"/>
                  <a:pt x="77510" y="0"/>
                  <a:pt x="76319" y="0"/>
                </a:cubicBezTo>
                <a:cubicBezTo>
                  <a:pt x="75128" y="0"/>
                  <a:pt x="72836" y="506"/>
                  <a:pt x="69503" y="3631"/>
                </a:cubicBezTo>
                <a:cubicBezTo>
                  <a:pt x="66109" y="6787"/>
                  <a:pt x="62448" y="11966"/>
                  <a:pt x="59055" y="19229"/>
                </a:cubicBezTo>
                <a:cubicBezTo>
                  <a:pt x="53013" y="32177"/>
                  <a:pt x="48756" y="49857"/>
                  <a:pt x="47893" y="69056"/>
                </a:cubicBezTo>
                <a:close/>
                <a:moveTo>
                  <a:pt x="33605" y="69056"/>
                </a:moveTo>
                <a:cubicBezTo>
                  <a:pt x="34647" y="43577"/>
                  <a:pt x="41225" y="19913"/>
                  <a:pt x="50840" y="4376"/>
                </a:cubicBezTo>
                <a:cubicBezTo>
                  <a:pt x="23426" y="14079"/>
                  <a:pt x="3244" y="39052"/>
                  <a:pt x="446" y="69056"/>
                </a:cubicBezTo>
                <a:lnTo>
                  <a:pt x="33605" y="69056"/>
                </a:lnTo>
                <a:close/>
                <a:moveTo>
                  <a:pt x="446" y="83344"/>
                </a:moveTo>
                <a:cubicBezTo>
                  <a:pt x="3244" y="113348"/>
                  <a:pt x="23426" y="138321"/>
                  <a:pt x="50840" y="148024"/>
                </a:cubicBezTo>
                <a:cubicBezTo>
                  <a:pt x="41225" y="132487"/>
                  <a:pt x="34647" y="108823"/>
                  <a:pt x="33605" y="83344"/>
                </a:cubicBezTo>
                <a:lnTo>
                  <a:pt x="446" y="83344"/>
                </a:lnTo>
                <a:close/>
                <a:moveTo>
                  <a:pt x="119033" y="83344"/>
                </a:moveTo>
                <a:cubicBezTo>
                  <a:pt x="117991" y="108823"/>
                  <a:pt x="111413" y="132487"/>
                  <a:pt x="101798" y="148024"/>
                </a:cubicBezTo>
                <a:cubicBezTo>
                  <a:pt x="129213" y="138291"/>
                  <a:pt x="149394" y="113348"/>
                  <a:pt x="152192" y="83344"/>
                </a:cubicBezTo>
                <a:lnTo>
                  <a:pt x="119033" y="83344"/>
                </a:lnTo>
                <a:close/>
                <a:moveTo>
                  <a:pt x="152192" y="69056"/>
                </a:moveTo>
                <a:cubicBezTo>
                  <a:pt x="149394" y="39052"/>
                  <a:pt x="129213" y="14079"/>
                  <a:pt x="101798" y="4376"/>
                </a:cubicBezTo>
                <a:cubicBezTo>
                  <a:pt x="111413" y="19913"/>
                  <a:pt x="117991" y="43577"/>
                  <a:pt x="119033" y="69056"/>
                </a:cubicBezTo>
                <a:lnTo>
                  <a:pt x="152192" y="69056"/>
                </a:lnTo>
                <a:close/>
              </a:path>
            </a:pathLst>
          </a:custGeom>
          <a:solidFill>
            <a:srgbClr val="0071E3"/>
          </a:solidFill>
          <a:ln/>
        </p:spPr>
      </p:sp>
      <p:sp>
        <p:nvSpPr>
          <p:cNvPr id="47" name="Text 45"/>
          <p:cNvSpPr/>
          <p:nvPr/>
        </p:nvSpPr>
        <p:spPr>
          <a:xfrm>
            <a:off x="5965627" y="5993132"/>
            <a:ext cx="103822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Web Application</a:t>
            </a:r>
            <a:endParaRPr lang="en-US" sz="1600" dirty="0"/>
          </a:p>
        </p:txBody>
      </p:sp>
      <p:sp>
        <p:nvSpPr>
          <p:cNvPr id="48" name="Shape 46"/>
          <p:cNvSpPr/>
          <p:nvPr/>
        </p:nvSpPr>
        <p:spPr>
          <a:xfrm>
            <a:off x="7283887" y="5897882"/>
            <a:ext cx="1390650" cy="381000"/>
          </a:xfrm>
          <a:custGeom>
            <a:avLst/>
            <a:gdLst/>
            <a:ahLst/>
            <a:cxnLst/>
            <a:rect l="l" t="t" r="r" b="b"/>
            <a:pathLst>
              <a:path w="1390650" h="381000">
                <a:moveTo>
                  <a:pt x="190500" y="0"/>
                </a:moveTo>
                <a:lnTo>
                  <a:pt x="1200150" y="0"/>
                </a:lnTo>
                <a:cubicBezTo>
                  <a:pt x="1305290" y="0"/>
                  <a:pt x="1390650" y="85360"/>
                  <a:pt x="1390650" y="190500"/>
                </a:cubicBezTo>
                <a:lnTo>
                  <a:pt x="1390650" y="190500"/>
                </a:lnTo>
                <a:cubicBezTo>
                  <a:pt x="1390650" y="295640"/>
                  <a:pt x="1305290" y="381000"/>
                  <a:pt x="1200150"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alpha val="10196"/>
            </a:srgbClr>
          </a:solidFill>
          <a:ln/>
        </p:spPr>
      </p:sp>
      <p:sp>
        <p:nvSpPr>
          <p:cNvPr id="49" name="Shape 47"/>
          <p:cNvSpPr/>
          <p:nvPr/>
        </p:nvSpPr>
        <p:spPr>
          <a:xfrm>
            <a:off x="7483912" y="6012182"/>
            <a:ext cx="171450" cy="152400"/>
          </a:xfrm>
          <a:custGeom>
            <a:avLst/>
            <a:gdLst/>
            <a:ahLst/>
            <a:cxnLst/>
            <a:rect l="l" t="t" r="r" b="b"/>
            <a:pathLst>
              <a:path w="171450" h="152400">
                <a:moveTo>
                  <a:pt x="152519" y="71438"/>
                </a:moveTo>
                <a:lnTo>
                  <a:pt x="100132" y="71438"/>
                </a:lnTo>
                <a:cubicBezTo>
                  <a:pt x="94863" y="71438"/>
                  <a:pt x="90607" y="67181"/>
                  <a:pt x="90607" y="61912"/>
                </a:cubicBezTo>
                <a:lnTo>
                  <a:pt x="90607" y="9525"/>
                </a:lnTo>
                <a:cubicBezTo>
                  <a:pt x="90607" y="4256"/>
                  <a:pt x="94893" y="-60"/>
                  <a:pt x="100102" y="625"/>
                </a:cubicBezTo>
                <a:cubicBezTo>
                  <a:pt x="131951" y="4852"/>
                  <a:pt x="157192" y="30093"/>
                  <a:pt x="161419" y="61942"/>
                </a:cubicBezTo>
                <a:cubicBezTo>
                  <a:pt x="162104" y="67151"/>
                  <a:pt x="157788" y="71438"/>
                  <a:pt x="152519" y="71438"/>
                </a:cubicBezTo>
                <a:close/>
                <a:moveTo>
                  <a:pt x="66258" y="11073"/>
                </a:moveTo>
                <a:cubicBezTo>
                  <a:pt x="71646" y="9942"/>
                  <a:pt x="76319" y="14347"/>
                  <a:pt x="76319" y="19854"/>
                </a:cubicBezTo>
                <a:lnTo>
                  <a:pt x="76319" y="78581"/>
                </a:lnTo>
                <a:cubicBezTo>
                  <a:pt x="76319" y="80248"/>
                  <a:pt x="76914" y="81855"/>
                  <a:pt x="77956" y="83135"/>
                </a:cubicBezTo>
                <a:lnTo>
                  <a:pt x="117277" y="130582"/>
                </a:lnTo>
                <a:cubicBezTo>
                  <a:pt x="120759" y="134779"/>
                  <a:pt x="120015" y="141119"/>
                  <a:pt x="115223" y="143708"/>
                </a:cubicBezTo>
                <a:cubicBezTo>
                  <a:pt x="105073" y="149245"/>
                  <a:pt x="93434" y="152400"/>
                  <a:pt x="81082" y="152400"/>
                </a:cubicBezTo>
                <a:cubicBezTo>
                  <a:pt x="41642" y="152400"/>
                  <a:pt x="9644" y="120402"/>
                  <a:pt x="9644" y="80962"/>
                </a:cubicBezTo>
                <a:cubicBezTo>
                  <a:pt x="9644" y="46583"/>
                  <a:pt x="33903" y="17889"/>
                  <a:pt x="66258" y="11073"/>
                </a:cubicBezTo>
                <a:close/>
                <a:moveTo>
                  <a:pt x="142220" y="85725"/>
                </a:moveTo>
                <a:lnTo>
                  <a:pt x="161270" y="85725"/>
                </a:lnTo>
                <a:cubicBezTo>
                  <a:pt x="166777" y="85725"/>
                  <a:pt x="171182" y="90398"/>
                  <a:pt x="170051" y="95786"/>
                </a:cubicBezTo>
                <a:cubicBezTo>
                  <a:pt x="167015" y="110192"/>
                  <a:pt x="159633" y="122992"/>
                  <a:pt x="149334" y="132755"/>
                </a:cubicBezTo>
                <a:cubicBezTo>
                  <a:pt x="145673" y="136237"/>
                  <a:pt x="139928" y="135493"/>
                  <a:pt x="136714" y="131594"/>
                </a:cubicBezTo>
                <a:lnTo>
                  <a:pt x="111591" y="101322"/>
                </a:lnTo>
                <a:cubicBezTo>
                  <a:pt x="106442" y="95101"/>
                  <a:pt x="110877" y="85725"/>
                  <a:pt x="118914" y="85725"/>
                </a:cubicBezTo>
                <a:lnTo>
                  <a:pt x="142190" y="85725"/>
                </a:lnTo>
                <a:close/>
              </a:path>
            </a:pathLst>
          </a:custGeom>
          <a:solidFill>
            <a:srgbClr val="0071E3"/>
          </a:solidFill>
          <a:ln/>
        </p:spPr>
      </p:sp>
      <p:sp>
        <p:nvSpPr>
          <p:cNvPr id="50" name="Text 48"/>
          <p:cNvSpPr/>
          <p:nvPr/>
        </p:nvSpPr>
        <p:spPr>
          <a:xfrm>
            <a:off x="7741087" y="5993132"/>
            <a:ext cx="809625" cy="190500"/>
          </a:xfrm>
          <a:prstGeom prst="rect">
            <a:avLst/>
          </a:prstGeom>
          <a:noFill/>
          <a:ln/>
        </p:spPr>
        <p:txBody>
          <a:bodyPr wrap="square" lIns="0" tIns="0" rIns="0" bIns="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Visualization</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Model Development</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Training &amp; Evaluation</a:t>
            </a:r>
            <a:endParaRPr lang="en-US" sz="1600" dirty="0"/>
          </a:p>
        </p:txBody>
      </p:sp>
      <p:sp>
        <p:nvSpPr>
          <p:cNvPr id="4" name="Shape 2"/>
          <p:cNvSpPr/>
          <p:nvPr/>
        </p:nvSpPr>
        <p:spPr>
          <a:xfrm>
            <a:off x="384810" y="1337310"/>
            <a:ext cx="5589270" cy="5132070"/>
          </a:xfrm>
          <a:custGeom>
            <a:avLst/>
            <a:gdLst/>
            <a:ahLst/>
            <a:cxnLst/>
            <a:rect l="l" t="t" r="r" b="b"/>
            <a:pathLst>
              <a:path w="5589270" h="5132070">
                <a:moveTo>
                  <a:pt x="228582" y="0"/>
                </a:moveTo>
                <a:lnTo>
                  <a:pt x="5360688" y="0"/>
                </a:lnTo>
                <a:cubicBezTo>
                  <a:pt x="5486930" y="0"/>
                  <a:pt x="5589270" y="102340"/>
                  <a:pt x="5589270" y="228582"/>
                </a:cubicBezTo>
                <a:lnTo>
                  <a:pt x="5589270" y="4903488"/>
                </a:lnTo>
                <a:cubicBezTo>
                  <a:pt x="5589270" y="5029730"/>
                  <a:pt x="5486930" y="5132070"/>
                  <a:pt x="5360688" y="5132070"/>
                </a:cubicBezTo>
                <a:lnTo>
                  <a:pt x="228582" y="5132070"/>
                </a:lnTo>
                <a:cubicBezTo>
                  <a:pt x="102340" y="5132070"/>
                  <a:pt x="0" y="5029730"/>
                  <a:pt x="0" y="4903488"/>
                </a:cubicBezTo>
                <a:lnTo>
                  <a:pt x="0" y="228582"/>
                </a:lnTo>
                <a:cubicBezTo>
                  <a:pt x="0" y="102340"/>
                  <a:pt x="102340" y="0"/>
                  <a:pt x="228582"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617220" y="15697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6" name="Shape 4"/>
          <p:cNvSpPr/>
          <p:nvPr/>
        </p:nvSpPr>
        <p:spPr>
          <a:xfrm>
            <a:off x="702945" y="1674498"/>
            <a:ext cx="214313" cy="171450"/>
          </a:xfrm>
          <a:custGeom>
            <a:avLst/>
            <a:gdLst/>
            <a:ahLst/>
            <a:cxnLst/>
            <a:rect l="l" t="t" r="r" b="b"/>
            <a:pathLst>
              <a:path w="214313" h="171450">
                <a:moveTo>
                  <a:pt x="32147" y="37505"/>
                </a:moveTo>
                <a:cubicBezTo>
                  <a:pt x="32147" y="28631"/>
                  <a:pt x="39346" y="21431"/>
                  <a:pt x="48220" y="21431"/>
                </a:cubicBezTo>
                <a:cubicBezTo>
                  <a:pt x="57094" y="21431"/>
                  <a:pt x="64294" y="28631"/>
                  <a:pt x="64294" y="37505"/>
                </a:cubicBezTo>
                <a:lnTo>
                  <a:pt x="64294" y="75009"/>
                </a:lnTo>
                <a:lnTo>
                  <a:pt x="150019" y="75009"/>
                </a:lnTo>
                <a:lnTo>
                  <a:pt x="150019" y="37505"/>
                </a:lnTo>
                <a:cubicBezTo>
                  <a:pt x="150019" y="28631"/>
                  <a:pt x="157218" y="21431"/>
                  <a:pt x="166092" y="21431"/>
                </a:cubicBezTo>
                <a:cubicBezTo>
                  <a:pt x="174966" y="21431"/>
                  <a:pt x="182166" y="28631"/>
                  <a:pt x="182166" y="37505"/>
                </a:cubicBezTo>
                <a:lnTo>
                  <a:pt x="182166" y="42863"/>
                </a:lnTo>
                <a:lnTo>
                  <a:pt x="187523" y="42863"/>
                </a:lnTo>
                <a:cubicBezTo>
                  <a:pt x="196397" y="42863"/>
                  <a:pt x="203597" y="50062"/>
                  <a:pt x="203597" y="58936"/>
                </a:cubicBezTo>
                <a:lnTo>
                  <a:pt x="203597" y="75009"/>
                </a:lnTo>
                <a:cubicBezTo>
                  <a:pt x="209524" y="75009"/>
                  <a:pt x="214313" y="79798"/>
                  <a:pt x="214313" y="85725"/>
                </a:cubicBezTo>
                <a:cubicBezTo>
                  <a:pt x="214313" y="91652"/>
                  <a:pt x="209524" y="96441"/>
                  <a:pt x="203597" y="96441"/>
                </a:cubicBezTo>
                <a:lnTo>
                  <a:pt x="203597" y="112514"/>
                </a:lnTo>
                <a:cubicBezTo>
                  <a:pt x="203597" y="121388"/>
                  <a:pt x="196397" y="128588"/>
                  <a:pt x="187523" y="128588"/>
                </a:cubicBezTo>
                <a:lnTo>
                  <a:pt x="182166" y="128588"/>
                </a:lnTo>
                <a:lnTo>
                  <a:pt x="182166" y="133945"/>
                </a:lnTo>
                <a:cubicBezTo>
                  <a:pt x="182166" y="142819"/>
                  <a:pt x="174966" y="150019"/>
                  <a:pt x="166092" y="150019"/>
                </a:cubicBezTo>
                <a:cubicBezTo>
                  <a:pt x="157218" y="150019"/>
                  <a:pt x="150019" y="142819"/>
                  <a:pt x="150019" y="133945"/>
                </a:cubicBezTo>
                <a:lnTo>
                  <a:pt x="150019" y="96441"/>
                </a:lnTo>
                <a:lnTo>
                  <a:pt x="64294" y="96441"/>
                </a:lnTo>
                <a:lnTo>
                  <a:pt x="64294" y="133945"/>
                </a:lnTo>
                <a:cubicBezTo>
                  <a:pt x="64294" y="142819"/>
                  <a:pt x="57094" y="150019"/>
                  <a:pt x="48220" y="150019"/>
                </a:cubicBezTo>
                <a:cubicBezTo>
                  <a:pt x="39346" y="150019"/>
                  <a:pt x="32147" y="142819"/>
                  <a:pt x="32147" y="133945"/>
                </a:cubicBezTo>
                <a:lnTo>
                  <a:pt x="32147" y="128588"/>
                </a:lnTo>
                <a:lnTo>
                  <a:pt x="26789" y="128588"/>
                </a:lnTo>
                <a:cubicBezTo>
                  <a:pt x="17915" y="128588"/>
                  <a:pt x="10716" y="121388"/>
                  <a:pt x="10716" y="112514"/>
                </a:cubicBezTo>
                <a:lnTo>
                  <a:pt x="10716" y="96441"/>
                </a:lnTo>
                <a:cubicBezTo>
                  <a:pt x="4789" y="96441"/>
                  <a:pt x="0" y="91652"/>
                  <a:pt x="0" y="85725"/>
                </a:cubicBezTo>
                <a:cubicBezTo>
                  <a:pt x="0" y="79798"/>
                  <a:pt x="4789" y="75009"/>
                  <a:pt x="10716" y="75009"/>
                </a:cubicBezTo>
                <a:lnTo>
                  <a:pt x="10716" y="58936"/>
                </a:lnTo>
                <a:cubicBezTo>
                  <a:pt x="10716" y="50062"/>
                  <a:pt x="17915" y="42863"/>
                  <a:pt x="26789" y="42863"/>
                </a:cubicBezTo>
                <a:lnTo>
                  <a:pt x="32147" y="42863"/>
                </a:lnTo>
                <a:lnTo>
                  <a:pt x="32147" y="37505"/>
                </a:lnTo>
                <a:close/>
              </a:path>
            </a:pathLst>
          </a:custGeom>
          <a:solidFill>
            <a:srgbClr val="0071E3"/>
          </a:solidFill>
          <a:ln/>
        </p:spPr>
      </p:sp>
      <p:sp>
        <p:nvSpPr>
          <p:cNvPr id="7" name="Text 5"/>
          <p:cNvSpPr/>
          <p:nvPr/>
        </p:nvSpPr>
        <p:spPr>
          <a:xfrm>
            <a:off x="1112520" y="1607823"/>
            <a:ext cx="18002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Training Process</a:t>
            </a:r>
            <a:endParaRPr lang="en-US" sz="1600" dirty="0"/>
          </a:p>
        </p:txBody>
      </p:sp>
      <p:sp>
        <p:nvSpPr>
          <p:cNvPr id="8" name="Shape 6"/>
          <p:cNvSpPr/>
          <p:nvPr/>
        </p:nvSpPr>
        <p:spPr>
          <a:xfrm>
            <a:off x="617220" y="2141223"/>
            <a:ext cx="5124450" cy="790575"/>
          </a:xfrm>
          <a:custGeom>
            <a:avLst/>
            <a:gdLst/>
            <a:ahLst/>
            <a:cxnLst/>
            <a:rect l="l" t="t" r="r" b="b"/>
            <a:pathLst>
              <a:path w="5124450" h="790575">
                <a:moveTo>
                  <a:pt x="152399" y="0"/>
                </a:moveTo>
                <a:lnTo>
                  <a:pt x="4972051" y="0"/>
                </a:lnTo>
                <a:cubicBezTo>
                  <a:pt x="5056162" y="0"/>
                  <a:pt x="5124450" y="68288"/>
                  <a:pt x="5124450" y="152399"/>
                </a:cubicBezTo>
                <a:lnTo>
                  <a:pt x="5124450" y="638176"/>
                </a:lnTo>
                <a:cubicBezTo>
                  <a:pt x="5124450" y="722287"/>
                  <a:pt x="5056162" y="790575"/>
                  <a:pt x="4972051" y="790575"/>
                </a:cubicBezTo>
                <a:lnTo>
                  <a:pt x="152399" y="790575"/>
                </a:lnTo>
                <a:cubicBezTo>
                  <a:pt x="68288" y="790575"/>
                  <a:pt x="0" y="722287"/>
                  <a:pt x="0" y="638176"/>
                </a:cubicBezTo>
                <a:lnTo>
                  <a:pt x="0" y="152399"/>
                </a:lnTo>
                <a:cubicBezTo>
                  <a:pt x="0" y="68288"/>
                  <a:pt x="68288" y="0"/>
                  <a:pt x="152399" y="0"/>
                </a:cubicBezTo>
                <a:close/>
              </a:path>
            </a:pathLst>
          </a:custGeom>
          <a:solidFill>
            <a:srgbClr val="FFFFFF">
              <a:alpha val="70196"/>
            </a:srgbClr>
          </a:solidFill>
          <a:ln/>
        </p:spPr>
      </p:sp>
      <p:sp>
        <p:nvSpPr>
          <p:cNvPr id="9" name="Shape 7"/>
          <p:cNvSpPr/>
          <p:nvPr/>
        </p:nvSpPr>
        <p:spPr>
          <a:xfrm>
            <a:off x="769620" y="22936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10" name="Text 8"/>
          <p:cNvSpPr/>
          <p:nvPr/>
        </p:nvSpPr>
        <p:spPr>
          <a:xfrm>
            <a:off x="731520" y="2293623"/>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1</a:t>
            </a:r>
            <a:endParaRPr lang="en-US" sz="1600" dirty="0"/>
          </a:p>
        </p:txBody>
      </p:sp>
      <p:sp>
        <p:nvSpPr>
          <p:cNvPr id="11" name="Text 9"/>
          <p:cNvSpPr/>
          <p:nvPr/>
        </p:nvSpPr>
        <p:spPr>
          <a:xfrm>
            <a:off x="1303020" y="2293623"/>
            <a:ext cx="43529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TF-IDF Conversion</a:t>
            </a:r>
            <a:endParaRPr lang="en-US" sz="1600" dirty="0"/>
          </a:p>
        </p:txBody>
      </p:sp>
      <p:sp>
        <p:nvSpPr>
          <p:cNvPr id="12" name="Text 10"/>
          <p:cNvSpPr/>
          <p:nvPr/>
        </p:nvSpPr>
        <p:spPr>
          <a:xfrm>
            <a:off x="1303020" y="2560323"/>
            <a:ext cx="4343400" cy="219075"/>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Preprocessed text converted to numerical features using TF-IDF vectorizer</a:t>
            </a:r>
            <a:endParaRPr lang="en-US" sz="1600" dirty="0"/>
          </a:p>
        </p:txBody>
      </p:sp>
      <p:sp>
        <p:nvSpPr>
          <p:cNvPr id="13" name="Shape 11"/>
          <p:cNvSpPr/>
          <p:nvPr/>
        </p:nvSpPr>
        <p:spPr>
          <a:xfrm>
            <a:off x="617220" y="3081817"/>
            <a:ext cx="5124450" cy="790575"/>
          </a:xfrm>
          <a:custGeom>
            <a:avLst/>
            <a:gdLst/>
            <a:ahLst/>
            <a:cxnLst/>
            <a:rect l="l" t="t" r="r" b="b"/>
            <a:pathLst>
              <a:path w="5124450" h="790575">
                <a:moveTo>
                  <a:pt x="152399" y="0"/>
                </a:moveTo>
                <a:lnTo>
                  <a:pt x="4972051" y="0"/>
                </a:lnTo>
                <a:cubicBezTo>
                  <a:pt x="5056162" y="0"/>
                  <a:pt x="5124450" y="68288"/>
                  <a:pt x="5124450" y="152399"/>
                </a:cubicBezTo>
                <a:lnTo>
                  <a:pt x="5124450" y="638176"/>
                </a:lnTo>
                <a:cubicBezTo>
                  <a:pt x="5124450" y="722287"/>
                  <a:pt x="5056162" y="790575"/>
                  <a:pt x="4972051" y="790575"/>
                </a:cubicBezTo>
                <a:lnTo>
                  <a:pt x="152399" y="790575"/>
                </a:lnTo>
                <a:cubicBezTo>
                  <a:pt x="68288" y="790575"/>
                  <a:pt x="0" y="722287"/>
                  <a:pt x="0" y="638176"/>
                </a:cubicBezTo>
                <a:lnTo>
                  <a:pt x="0" y="152399"/>
                </a:lnTo>
                <a:cubicBezTo>
                  <a:pt x="0" y="68288"/>
                  <a:pt x="68288" y="0"/>
                  <a:pt x="152399" y="0"/>
                </a:cubicBezTo>
                <a:close/>
              </a:path>
            </a:pathLst>
          </a:custGeom>
          <a:solidFill>
            <a:srgbClr val="FFFFFF">
              <a:alpha val="70196"/>
            </a:srgbClr>
          </a:solidFill>
          <a:ln/>
        </p:spPr>
      </p:sp>
      <p:sp>
        <p:nvSpPr>
          <p:cNvPr id="14" name="Shape 12"/>
          <p:cNvSpPr/>
          <p:nvPr/>
        </p:nvSpPr>
        <p:spPr>
          <a:xfrm>
            <a:off x="769620" y="3234217"/>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15" name="Text 13"/>
          <p:cNvSpPr/>
          <p:nvPr/>
        </p:nvSpPr>
        <p:spPr>
          <a:xfrm>
            <a:off x="731520" y="3234217"/>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1303020" y="3234217"/>
            <a:ext cx="40100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NMF Model Training</a:t>
            </a:r>
            <a:endParaRPr lang="en-US" sz="1600" dirty="0"/>
          </a:p>
        </p:txBody>
      </p:sp>
      <p:sp>
        <p:nvSpPr>
          <p:cNvPr id="17" name="Text 15"/>
          <p:cNvSpPr/>
          <p:nvPr/>
        </p:nvSpPr>
        <p:spPr>
          <a:xfrm>
            <a:off x="1303020" y="3500917"/>
            <a:ext cx="4000500" cy="219075"/>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Trained on TF-IDF matrix to learn latent topics and extract keywords</a:t>
            </a:r>
            <a:endParaRPr lang="en-US" sz="1600" dirty="0"/>
          </a:p>
        </p:txBody>
      </p:sp>
      <p:sp>
        <p:nvSpPr>
          <p:cNvPr id="18" name="Shape 16"/>
          <p:cNvSpPr/>
          <p:nvPr/>
        </p:nvSpPr>
        <p:spPr>
          <a:xfrm>
            <a:off x="617220" y="4022410"/>
            <a:ext cx="5124450" cy="1009650"/>
          </a:xfrm>
          <a:custGeom>
            <a:avLst/>
            <a:gdLst/>
            <a:ahLst/>
            <a:cxnLst/>
            <a:rect l="l" t="t" r="r" b="b"/>
            <a:pathLst>
              <a:path w="5124450" h="1009650">
                <a:moveTo>
                  <a:pt x="152397" y="0"/>
                </a:moveTo>
                <a:lnTo>
                  <a:pt x="4972053" y="0"/>
                </a:lnTo>
                <a:cubicBezTo>
                  <a:pt x="5056220" y="0"/>
                  <a:pt x="5124450" y="68230"/>
                  <a:pt x="5124450" y="152397"/>
                </a:cubicBezTo>
                <a:lnTo>
                  <a:pt x="5124450" y="857253"/>
                </a:lnTo>
                <a:cubicBezTo>
                  <a:pt x="5124450" y="941420"/>
                  <a:pt x="5056220" y="1009650"/>
                  <a:pt x="4972053" y="1009650"/>
                </a:cubicBezTo>
                <a:lnTo>
                  <a:pt x="152397" y="1009650"/>
                </a:lnTo>
                <a:cubicBezTo>
                  <a:pt x="68230" y="1009650"/>
                  <a:pt x="0" y="941420"/>
                  <a:pt x="0" y="857253"/>
                </a:cubicBezTo>
                <a:lnTo>
                  <a:pt x="0" y="152397"/>
                </a:lnTo>
                <a:cubicBezTo>
                  <a:pt x="0" y="68230"/>
                  <a:pt x="68230" y="0"/>
                  <a:pt x="152397" y="0"/>
                </a:cubicBezTo>
                <a:close/>
              </a:path>
            </a:pathLst>
          </a:custGeom>
          <a:solidFill>
            <a:srgbClr val="FFFFFF">
              <a:alpha val="70196"/>
            </a:srgbClr>
          </a:solidFill>
          <a:ln/>
        </p:spPr>
      </p:sp>
      <p:sp>
        <p:nvSpPr>
          <p:cNvPr id="19" name="Shape 17"/>
          <p:cNvSpPr/>
          <p:nvPr/>
        </p:nvSpPr>
        <p:spPr>
          <a:xfrm>
            <a:off x="769620" y="417481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solidFill>
          <a:ln/>
        </p:spPr>
      </p:sp>
      <p:sp>
        <p:nvSpPr>
          <p:cNvPr id="20" name="Text 18"/>
          <p:cNvSpPr/>
          <p:nvPr/>
        </p:nvSpPr>
        <p:spPr>
          <a:xfrm>
            <a:off x="731520" y="4174810"/>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3</a:t>
            </a:r>
            <a:endParaRPr lang="en-US" sz="1600" dirty="0"/>
          </a:p>
        </p:txBody>
      </p:sp>
      <p:sp>
        <p:nvSpPr>
          <p:cNvPr id="21" name="Text 19"/>
          <p:cNvSpPr/>
          <p:nvPr/>
        </p:nvSpPr>
        <p:spPr>
          <a:xfrm>
            <a:off x="1303020" y="4174810"/>
            <a:ext cx="436245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Sentiment Classifier</a:t>
            </a:r>
            <a:endParaRPr lang="en-US" sz="1600" dirty="0"/>
          </a:p>
        </p:txBody>
      </p:sp>
      <p:sp>
        <p:nvSpPr>
          <p:cNvPr id="22" name="Text 20"/>
          <p:cNvSpPr/>
          <p:nvPr/>
        </p:nvSpPr>
        <p:spPr>
          <a:xfrm>
            <a:off x="1303020" y="4441510"/>
            <a:ext cx="4352925"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Trained using labeled data to identify positive, negative, and neutral sentiments</a:t>
            </a:r>
            <a:endParaRPr lang="en-US" sz="1600" dirty="0"/>
          </a:p>
        </p:txBody>
      </p:sp>
      <p:sp>
        <p:nvSpPr>
          <p:cNvPr id="23" name="Shape 21"/>
          <p:cNvSpPr/>
          <p:nvPr/>
        </p:nvSpPr>
        <p:spPr>
          <a:xfrm>
            <a:off x="6214110" y="1337310"/>
            <a:ext cx="5589270" cy="3512820"/>
          </a:xfrm>
          <a:custGeom>
            <a:avLst/>
            <a:gdLst/>
            <a:ahLst/>
            <a:cxnLst/>
            <a:rect l="l" t="t" r="r" b="b"/>
            <a:pathLst>
              <a:path w="5589270" h="3512820">
                <a:moveTo>
                  <a:pt x="228614" y="0"/>
                </a:moveTo>
                <a:lnTo>
                  <a:pt x="5360656" y="0"/>
                </a:lnTo>
                <a:cubicBezTo>
                  <a:pt x="5486831" y="0"/>
                  <a:pt x="5589270" y="102439"/>
                  <a:pt x="5589270" y="228614"/>
                </a:cubicBezTo>
                <a:lnTo>
                  <a:pt x="5589270" y="3284206"/>
                </a:lnTo>
                <a:cubicBezTo>
                  <a:pt x="5589270" y="3410466"/>
                  <a:pt x="5486916" y="3512820"/>
                  <a:pt x="5360656" y="3512820"/>
                </a:cubicBezTo>
                <a:lnTo>
                  <a:pt x="228614" y="3512820"/>
                </a:lnTo>
                <a:cubicBezTo>
                  <a:pt x="102439" y="3512820"/>
                  <a:pt x="0" y="3410381"/>
                  <a:pt x="0" y="3284206"/>
                </a:cubicBezTo>
                <a:lnTo>
                  <a:pt x="0" y="228614"/>
                </a:lnTo>
                <a:cubicBezTo>
                  <a:pt x="0" y="102354"/>
                  <a:pt x="102354" y="0"/>
                  <a:pt x="228614" y="0"/>
                </a:cubicBezTo>
                <a:close/>
              </a:path>
            </a:pathLst>
          </a:custGeom>
          <a:solidFill>
            <a:srgbClr val="FFFFFF">
              <a:alpha val="85098"/>
            </a:srgbClr>
          </a:solidFill>
          <a:ln w="10160">
            <a:solidFill>
              <a:srgbClr val="FFFFFF">
                <a:alpha val="30196"/>
              </a:srgbClr>
            </a:solidFill>
            <a:prstDash val="solid"/>
          </a:ln>
        </p:spPr>
      </p:sp>
      <p:sp>
        <p:nvSpPr>
          <p:cNvPr id="24" name="Shape 22"/>
          <p:cNvSpPr/>
          <p:nvPr/>
        </p:nvSpPr>
        <p:spPr>
          <a:xfrm>
            <a:off x="6446520" y="15697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25" name="Shape 23"/>
          <p:cNvSpPr/>
          <p:nvPr/>
        </p:nvSpPr>
        <p:spPr>
          <a:xfrm>
            <a:off x="6553676" y="1674498"/>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0071E3"/>
          </a:solidFill>
          <a:ln/>
        </p:spPr>
      </p:sp>
      <p:sp>
        <p:nvSpPr>
          <p:cNvPr id="26" name="Text 24"/>
          <p:cNvSpPr/>
          <p:nvPr/>
        </p:nvSpPr>
        <p:spPr>
          <a:xfrm>
            <a:off x="6941820" y="1607823"/>
            <a:ext cx="1981200"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Evaluation Metrics</a:t>
            </a:r>
            <a:endParaRPr lang="en-US" sz="1600" dirty="0"/>
          </a:p>
        </p:txBody>
      </p:sp>
      <p:sp>
        <p:nvSpPr>
          <p:cNvPr id="27" name="Shape 25"/>
          <p:cNvSpPr/>
          <p:nvPr/>
        </p:nvSpPr>
        <p:spPr>
          <a:xfrm>
            <a:off x="6465570" y="2141223"/>
            <a:ext cx="5105400" cy="800100"/>
          </a:xfrm>
          <a:custGeom>
            <a:avLst/>
            <a:gdLst/>
            <a:ahLst/>
            <a:cxnLst/>
            <a:rect l="l" t="t" r="r" b="b"/>
            <a:pathLst>
              <a:path w="5105400" h="800100">
                <a:moveTo>
                  <a:pt x="38100" y="0"/>
                </a:moveTo>
                <a:lnTo>
                  <a:pt x="4952997" y="0"/>
                </a:lnTo>
                <a:cubicBezTo>
                  <a:pt x="5037167" y="0"/>
                  <a:pt x="5105400" y="68233"/>
                  <a:pt x="5105400" y="152403"/>
                </a:cubicBezTo>
                <a:lnTo>
                  <a:pt x="5105400" y="647697"/>
                </a:lnTo>
                <a:cubicBezTo>
                  <a:pt x="5105400" y="731867"/>
                  <a:pt x="5037167" y="800100"/>
                  <a:pt x="4952997" y="800100"/>
                </a:cubicBezTo>
                <a:lnTo>
                  <a:pt x="38100" y="800100"/>
                </a:lnTo>
                <a:cubicBezTo>
                  <a:pt x="17072" y="800100"/>
                  <a:pt x="0" y="783028"/>
                  <a:pt x="0" y="762000"/>
                </a:cubicBezTo>
                <a:lnTo>
                  <a:pt x="0" y="38100"/>
                </a:lnTo>
                <a:cubicBezTo>
                  <a:pt x="0" y="17072"/>
                  <a:pt x="17072" y="0"/>
                  <a:pt x="38100" y="0"/>
                </a:cubicBezTo>
                <a:close/>
              </a:path>
            </a:pathLst>
          </a:custGeom>
          <a:gradFill flip="none" rotWithShape="1">
            <a:gsLst>
              <a:gs pos="0">
                <a:srgbClr val="0071E3">
                  <a:alpha val="10000"/>
                </a:srgbClr>
              </a:gs>
              <a:gs pos="100000">
                <a:srgbClr val="000000">
                  <a:alpha val="0"/>
                </a:srgbClr>
              </a:gs>
            </a:gsLst>
            <a:lin ang="0" scaled="1"/>
          </a:gradFill>
          <a:ln/>
        </p:spPr>
      </p:sp>
      <p:sp>
        <p:nvSpPr>
          <p:cNvPr id="28" name="Shape 26"/>
          <p:cNvSpPr/>
          <p:nvPr/>
        </p:nvSpPr>
        <p:spPr>
          <a:xfrm>
            <a:off x="6465570" y="2141223"/>
            <a:ext cx="38100" cy="800100"/>
          </a:xfrm>
          <a:custGeom>
            <a:avLst/>
            <a:gdLst/>
            <a:ahLst/>
            <a:cxnLst/>
            <a:rect l="l" t="t" r="r" b="b"/>
            <a:pathLst>
              <a:path w="38100" h="800100">
                <a:moveTo>
                  <a:pt x="38100" y="0"/>
                </a:moveTo>
                <a:lnTo>
                  <a:pt x="38100" y="0"/>
                </a:lnTo>
                <a:lnTo>
                  <a:pt x="38100" y="800100"/>
                </a:lnTo>
                <a:lnTo>
                  <a:pt x="38100" y="800100"/>
                </a:lnTo>
                <a:cubicBezTo>
                  <a:pt x="17072" y="800100"/>
                  <a:pt x="0" y="783028"/>
                  <a:pt x="0" y="762000"/>
                </a:cubicBezTo>
                <a:lnTo>
                  <a:pt x="0" y="38100"/>
                </a:lnTo>
                <a:cubicBezTo>
                  <a:pt x="0" y="17072"/>
                  <a:pt x="17072" y="0"/>
                  <a:pt x="38100" y="0"/>
                </a:cubicBezTo>
                <a:close/>
              </a:path>
            </a:pathLst>
          </a:custGeom>
          <a:solidFill>
            <a:srgbClr val="0071E3"/>
          </a:solidFill>
          <a:ln/>
        </p:spPr>
      </p:sp>
      <p:sp>
        <p:nvSpPr>
          <p:cNvPr id="29" name="Shape 27"/>
          <p:cNvSpPr/>
          <p:nvPr/>
        </p:nvSpPr>
        <p:spPr>
          <a:xfrm>
            <a:off x="6675120" y="2331723"/>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71E3"/>
          </a:solidFill>
          <a:ln/>
        </p:spPr>
      </p:sp>
      <p:sp>
        <p:nvSpPr>
          <p:cNvPr id="30" name="Text 28"/>
          <p:cNvSpPr/>
          <p:nvPr/>
        </p:nvSpPr>
        <p:spPr>
          <a:xfrm>
            <a:off x="6903720" y="2293623"/>
            <a:ext cx="121920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Topic Coherence</a:t>
            </a:r>
            <a:endParaRPr lang="en-US" sz="1600" dirty="0"/>
          </a:p>
        </p:txBody>
      </p:sp>
      <p:sp>
        <p:nvSpPr>
          <p:cNvPr id="31" name="Text 29"/>
          <p:cNvSpPr/>
          <p:nvPr/>
        </p:nvSpPr>
        <p:spPr>
          <a:xfrm>
            <a:off x="6637020" y="2598423"/>
            <a:ext cx="48482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Analyzes quality and interpretability of NMF-generated topics</a:t>
            </a:r>
            <a:endParaRPr lang="en-US" sz="1600" dirty="0"/>
          </a:p>
        </p:txBody>
      </p:sp>
      <p:sp>
        <p:nvSpPr>
          <p:cNvPr id="32" name="Shape 30"/>
          <p:cNvSpPr/>
          <p:nvPr/>
        </p:nvSpPr>
        <p:spPr>
          <a:xfrm>
            <a:off x="6446520" y="3055623"/>
            <a:ext cx="2505075" cy="723900"/>
          </a:xfrm>
          <a:custGeom>
            <a:avLst/>
            <a:gdLst/>
            <a:ahLst/>
            <a:cxnLst/>
            <a:rect l="l" t="t" r="r" b="b"/>
            <a:pathLst>
              <a:path w="2505075" h="723900">
                <a:moveTo>
                  <a:pt x="114297" y="0"/>
                </a:moveTo>
                <a:lnTo>
                  <a:pt x="2390778" y="0"/>
                </a:lnTo>
                <a:cubicBezTo>
                  <a:pt x="2453903" y="0"/>
                  <a:pt x="2505075" y="51172"/>
                  <a:pt x="2505075" y="114297"/>
                </a:cubicBezTo>
                <a:lnTo>
                  <a:pt x="2505075" y="609603"/>
                </a:lnTo>
                <a:cubicBezTo>
                  <a:pt x="2505075" y="672728"/>
                  <a:pt x="2453903" y="723900"/>
                  <a:pt x="2390778" y="723900"/>
                </a:cubicBezTo>
                <a:lnTo>
                  <a:pt x="114297" y="723900"/>
                </a:lnTo>
                <a:cubicBezTo>
                  <a:pt x="51172" y="723900"/>
                  <a:pt x="0" y="672728"/>
                  <a:pt x="0" y="609603"/>
                </a:cubicBezTo>
                <a:lnTo>
                  <a:pt x="0" y="114297"/>
                </a:lnTo>
                <a:cubicBezTo>
                  <a:pt x="0" y="51172"/>
                  <a:pt x="51172" y="0"/>
                  <a:pt x="114297" y="0"/>
                </a:cubicBezTo>
                <a:close/>
              </a:path>
            </a:pathLst>
          </a:custGeom>
          <a:solidFill>
            <a:srgbClr val="FFFFFF">
              <a:alpha val="70196"/>
            </a:srgbClr>
          </a:solidFill>
          <a:ln/>
        </p:spPr>
      </p:sp>
      <p:sp>
        <p:nvSpPr>
          <p:cNvPr id="33" name="Text 31"/>
          <p:cNvSpPr/>
          <p:nvPr/>
        </p:nvSpPr>
        <p:spPr>
          <a:xfrm>
            <a:off x="6503670" y="3169923"/>
            <a:ext cx="2390775" cy="304800"/>
          </a:xfrm>
          <a:prstGeom prst="rect">
            <a:avLst/>
          </a:prstGeom>
          <a:noFill/>
          <a:ln/>
        </p:spPr>
        <p:txBody>
          <a:bodyPr wrap="square" lIns="0" tIns="0" rIns="0" bIns="0" rtlCol="0" anchor="ctr"/>
          <a:lstStyle/>
          <a:p>
            <a:pPr algn="ctr">
              <a:lnSpc>
                <a:spcPct val="110000"/>
              </a:lnSpc>
            </a:pPr>
            <a:r>
              <a:rPr lang="en-US" sz="1800" b="1" dirty="0">
                <a:solidFill>
                  <a:srgbClr val="0071E3"/>
                </a:solidFill>
                <a:latin typeface="Liter" pitchFamily="34" charset="0"/>
                <a:ea typeface="Liter" pitchFamily="34" charset="-122"/>
                <a:cs typeface="Liter" pitchFamily="34" charset="-120"/>
              </a:rPr>
              <a:t>Accuracy</a:t>
            </a:r>
            <a:endParaRPr lang="en-US" sz="1600" dirty="0"/>
          </a:p>
        </p:txBody>
      </p:sp>
      <p:sp>
        <p:nvSpPr>
          <p:cNvPr id="34" name="Text 32"/>
          <p:cNvSpPr/>
          <p:nvPr/>
        </p:nvSpPr>
        <p:spPr>
          <a:xfrm>
            <a:off x="6532245" y="3512702"/>
            <a:ext cx="2333625"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Overall correctness</a:t>
            </a:r>
            <a:endParaRPr lang="en-US" sz="1600" dirty="0"/>
          </a:p>
        </p:txBody>
      </p:sp>
      <p:sp>
        <p:nvSpPr>
          <p:cNvPr id="35" name="Shape 33"/>
          <p:cNvSpPr/>
          <p:nvPr/>
        </p:nvSpPr>
        <p:spPr>
          <a:xfrm>
            <a:off x="9067800" y="3055623"/>
            <a:ext cx="2505075" cy="723900"/>
          </a:xfrm>
          <a:custGeom>
            <a:avLst/>
            <a:gdLst/>
            <a:ahLst/>
            <a:cxnLst/>
            <a:rect l="l" t="t" r="r" b="b"/>
            <a:pathLst>
              <a:path w="2505075" h="723900">
                <a:moveTo>
                  <a:pt x="114297" y="0"/>
                </a:moveTo>
                <a:lnTo>
                  <a:pt x="2390778" y="0"/>
                </a:lnTo>
                <a:cubicBezTo>
                  <a:pt x="2453903" y="0"/>
                  <a:pt x="2505075" y="51172"/>
                  <a:pt x="2505075" y="114297"/>
                </a:cubicBezTo>
                <a:lnTo>
                  <a:pt x="2505075" y="609603"/>
                </a:lnTo>
                <a:cubicBezTo>
                  <a:pt x="2505075" y="672728"/>
                  <a:pt x="2453903" y="723900"/>
                  <a:pt x="2390778" y="723900"/>
                </a:cubicBezTo>
                <a:lnTo>
                  <a:pt x="114297" y="723900"/>
                </a:lnTo>
                <a:cubicBezTo>
                  <a:pt x="51172" y="723900"/>
                  <a:pt x="0" y="672728"/>
                  <a:pt x="0" y="609603"/>
                </a:cubicBezTo>
                <a:lnTo>
                  <a:pt x="0" y="114297"/>
                </a:lnTo>
                <a:cubicBezTo>
                  <a:pt x="0" y="51172"/>
                  <a:pt x="51172" y="0"/>
                  <a:pt x="114297" y="0"/>
                </a:cubicBezTo>
                <a:close/>
              </a:path>
            </a:pathLst>
          </a:custGeom>
          <a:solidFill>
            <a:srgbClr val="FFFFFF">
              <a:alpha val="70196"/>
            </a:srgbClr>
          </a:solidFill>
          <a:ln/>
        </p:spPr>
      </p:sp>
      <p:sp>
        <p:nvSpPr>
          <p:cNvPr id="36" name="Text 34"/>
          <p:cNvSpPr/>
          <p:nvPr/>
        </p:nvSpPr>
        <p:spPr>
          <a:xfrm>
            <a:off x="9124950" y="3169923"/>
            <a:ext cx="2390775" cy="304800"/>
          </a:xfrm>
          <a:prstGeom prst="rect">
            <a:avLst/>
          </a:prstGeom>
          <a:noFill/>
          <a:ln/>
        </p:spPr>
        <p:txBody>
          <a:bodyPr wrap="square" lIns="0" tIns="0" rIns="0" bIns="0" rtlCol="0" anchor="ctr"/>
          <a:lstStyle/>
          <a:p>
            <a:pPr algn="ctr">
              <a:lnSpc>
                <a:spcPct val="110000"/>
              </a:lnSpc>
            </a:pPr>
            <a:r>
              <a:rPr lang="en-US" sz="1800" b="1" dirty="0">
                <a:solidFill>
                  <a:srgbClr val="0071E3"/>
                </a:solidFill>
                <a:latin typeface="Liter" pitchFamily="34" charset="0"/>
                <a:ea typeface="Liter" pitchFamily="34" charset="-122"/>
                <a:cs typeface="Liter" pitchFamily="34" charset="-120"/>
              </a:rPr>
              <a:t>Precision</a:t>
            </a:r>
            <a:endParaRPr lang="en-US" sz="1600" dirty="0"/>
          </a:p>
        </p:txBody>
      </p:sp>
      <p:sp>
        <p:nvSpPr>
          <p:cNvPr id="37" name="Text 35"/>
          <p:cNvSpPr/>
          <p:nvPr/>
        </p:nvSpPr>
        <p:spPr>
          <a:xfrm>
            <a:off x="9153525" y="3512702"/>
            <a:ext cx="2333625"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True positive rate</a:t>
            </a:r>
            <a:endParaRPr lang="en-US" sz="1600" dirty="0"/>
          </a:p>
        </p:txBody>
      </p:sp>
      <p:sp>
        <p:nvSpPr>
          <p:cNvPr id="38" name="Shape 36"/>
          <p:cNvSpPr/>
          <p:nvPr/>
        </p:nvSpPr>
        <p:spPr>
          <a:xfrm>
            <a:off x="6446520" y="3893581"/>
            <a:ext cx="2505075" cy="723900"/>
          </a:xfrm>
          <a:custGeom>
            <a:avLst/>
            <a:gdLst/>
            <a:ahLst/>
            <a:cxnLst/>
            <a:rect l="l" t="t" r="r" b="b"/>
            <a:pathLst>
              <a:path w="2505075" h="723900">
                <a:moveTo>
                  <a:pt x="114297" y="0"/>
                </a:moveTo>
                <a:lnTo>
                  <a:pt x="2390778" y="0"/>
                </a:lnTo>
                <a:cubicBezTo>
                  <a:pt x="2453903" y="0"/>
                  <a:pt x="2505075" y="51172"/>
                  <a:pt x="2505075" y="114297"/>
                </a:cubicBezTo>
                <a:lnTo>
                  <a:pt x="2505075" y="609603"/>
                </a:lnTo>
                <a:cubicBezTo>
                  <a:pt x="2505075" y="672728"/>
                  <a:pt x="2453903" y="723900"/>
                  <a:pt x="2390778" y="723900"/>
                </a:cubicBezTo>
                <a:lnTo>
                  <a:pt x="114297" y="723900"/>
                </a:lnTo>
                <a:cubicBezTo>
                  <a:pt x="51172" y="723900"/>
                  <a:pt x="0" y="672728"/>
                  <a:pt x="0" y="609603"/>
                </a:cubicBezTo>
                <a:lnTo>
                  <a:pt x="0" y="114297"/>
                </a:lnTo>
                <a:cubicBezTo>
                  <a:pt x="0" y="51172"/>
                  <a:pt x="51172" y="0"/>
                  <a:pt x="114297" y="0"/>
                </a:cubicBezTo>
                <a:close/>
              </a:path>
            </a:pathLst>
          </a:custGeom>
          <a:solidFill>
            <a:srgbClr val="FFFFFF">
              <a:alpha val="70196"/>
            </a:srgbClr>
          </a:solidFill>
          <a:ln/>
        </p:spPr>
      </p:sp>
      <p:sp>
        <p:nvSpPr>
          <p:cNvPr id="39" name="Text 37"/>
          <p:cNvSpPr/>
          <p:nvPr/>
        </p:nvSpPr>
        <p:spPr>
          <a:xfrm>
            <a:off x="6503670" y="4007881"/>
            <a:ext cx="2390775" cy="304800"/>
          </a:xfrm>
          <a:prstGeom prst="rect">
            <a:avLst/>
          </a:prstGeom>
          <a:noFill/>
          <a:ln/>
        </p:spPr>
        <p:txBody>
          <a:bodyPr wrap="square" lIns="0" tIns="0" rIns="0" bIns="0" rtlCol="0" anchor="ctr"/>
          <a:lstStyle/>
          <a:p>
            <a:pPr algn="ctr">
              <a:lnSpc>
                <a:spcPct val="110000"/>
              </a:lnSpc>
            </a:pPr>
            <a:r>
              <a:rPr lang="en-US" sz="1800" b="1" dirty="0">
                <a:solidFill>
                  <a:srgbClr val="0071E3"/>
                </a:solidFill>
                <a:latin typeface="Liter" pitchFamily="34" charset="0"/>
                <a:ea typeface="Liter" pitchFamily="34" charset="-122"/>
                <a:cs typeface="Liter" pitchFamily="34" charset="-120"/>
              </a:rPr>
              <a:t>Recall</a:t>
            </a:r>
            <a:endParaRPr lang="en-US" sz="1600" dirty="0"/>
          </a:p>
        </p:txBody>
      </p:sp>
      <p:sp>
        <p:nvSpPr>
          <p:cNvPr id="40" name="Text 38"/>
          <p:cNvSpPr/>
          <p:nvPr/>
        </p:nvSpPr>
        <p:spPr>
          <a:xfrm>
            <a:off x="6532245" y="4350665"/>
            <a:ext cx="2333625"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Sensitivity measure</a:t>
            </a:r>
            <a:endParaRPr lang="en-US" sz="1600" dirty="0"/>
          </a:p>
        </p:txBody>
      </p:sp>
      <p:sp>
        <p:nvSpPr>
          <p:cNvPr id="41" name="Shape 39"/>
          <p:cNvSpPr/>
          <p:nvPr/>
        </p:nvSpPr>
        <p:spPr>
          <a:xfrm>
            <a:off x="9067800" y="3893581"/>
            <a:ext cx="2505075" cy="723900"/>
          </a:xfrm>
          <a:custGeom>
            <a:avLst/>
            <a:gdLst/>
            <a:ahLst/>
            <a:cxnLst/>
            <a:rect l="l" t="t" r="r" b="b"/>
            <a:pathLst>
              <a:path w="2505075" h="723900">
                <a:moveTo>
                  <a:pt x="114297" y="0"/>
                </a:moveTo>
                <a:lnTo>
                  <a:pt x="2390778" y="0"/>
                </a:lnTo>
                <a:cubicBezTo>
                  <a:pt x="2453903" y="0"/>
                  <a:pt x="2505075" y="51172"/>
                  <a:pt x="2505075" y="114297"/>
                </a:cubicBezTo>
                <a:lnTo>
                  <a:pt x="2505075" y="609603"/>
                </a:lnTo>
                <a:cubicBezTo>
                  <a:pt x="2505075" y="672728"/>
                  <a:pt x="2453903" y="723900"/>
                  <a:pt x="2390778" y="723900"/>
                </a:cubicBezTo>
                <a:lnTo>
                  <a:pt x="114297" y="723900"/>
                </a:lnTo>
                <a:cubicBezTo>
                  <a:pt x="51172" y="723900"/>
                  <a:pt x="0" y="672728"/>
                  <a:pt x="0" y="609603"/>
                </a:cubicBezTo>
                <a:lnTo>
                  <a:pt x="0" y="114297"/>
                </a:lnTo>
                <a:cubicBezTo>
                  <a:pt x="0" y="51172"/>
                  <a:pt x="51172" y="0"/>
                  <a:pt x="114297" y="0"/>
                </a:cubicBezTo>
                <a:close/>
              </a:path>
            </a:pathLst>
          </a:custGeom>
          <a:solidFill>
            <a:srgbClr val="FFFFFF">
              <a:alpha val="70196"/>
            </a:srgbClr>
          </a:solidFill>
          <a:ln/>
        </p:spPr>
      </p:sp>
      <p:sp>
        <p:nvSpPr>
          <p:cNvPr id="42" name="Text 40"/>
          <p:cNvSpPr/>
          <p:nvPr/>
        </p:nvSpPr>
        <p:spPr>
          <a:xfrm>
            <a:off x="9124950" y="4007881"/>
            <a:ext cx="2390775" cy="304800"/>
          </a:xfrm>
          <a:prstGeom prst="rect">
            <a:avLst/>
          </a:prstGeom>
          <a:noFill/>
          <a:ln/>
        </p:spPr>
        <p:txBody>
          <a:bodyPr wrap="square" lIns="0" tIns="0" rIns="0" bIns="0" rtlCol="0" anchor="ctr"/>
          <a:lstStyle/>
          <a:p>
            <a:pPr algn="ctr">
              <a:lnSpc>
                <a:spcPct val="110000"/>
              </a:lnSpc>
            </a:pPr>
            <a:r>
              <a:rPr lang="en-US" sz="1800" b="1" dirty="0">
                <a:solidFill>
                  <a:srgbClr val="0071E3"/>
                </a:solidFill>
                <a:latin typeface="Liter" pitchFamily="34" charset="0"/>
                <a:ea typeface="Liter" pitchFamily="34" charset="-122"/>
                <a:cs typeface="Liter" pitchFamily="34" charset="-120"/>
              </a:rPr>
              <a:t>F1-Score</a:t>
            </a:r>
            <a:endParaRPr lang="en-US" sz="1600" dirty="0"/>
          </a:p>
        </p:txBody>
      </p:sp>
      <p:sp>
        <p:nvSpPr>
          <p:cNvPr id="43" name="Text 41"/>
          <p:cNvSpPr/>
          <p:nvPr/>
        </p:nvSpPr>
        <p:spPr>
          <a:xfrm>
            <a:off x="9153525" y="4350665"/>
            <a:ext cx="2333625" cy="152400"/>
          </a:xfrm>
          <a:prstGeom prst="rect">
            <a:avLst/>
          </a:prstGeom>
          <a:noFill/>
          <a:ln/>
        </p:spPr>
        <p:txBody>
          <a:bodyPr wrap="square" lIns="0" tIns="0" rIns="0" bIns="0" rtlCol="0" anchor="ctr"/>
          <a:lstStyle/>
          <a:p>
            <a:pPr algn="ctr">
              <a:lnSpc>
                <a:spcPct val="110000"/>
              </a:lnSpc>
            </a:pPr>
            <a:r>
              <a:rPr lang="en-US" sz="900" dirty="0">
                <a:solidFill>
                  <a:srgbClr val="86868B"/>
                </a:solidFill>
                <a:latin typeface="Quattrocento Sans" pitchFamily="34" charset="0"/>
                <a:ea typeface="Quattrocento Sans" pitchFamily="34" charset="-122"/>
                <a:cs typeface="Quattrocento Sans" pitchFamily="34" charset="-120"/>
              </a:rPr>
              <a:t>Harmonic mean</a:t>
            </a:r>
            <a:endParaRPr lang="en-US" sz="1600" dirty="0"/>
          </a:p>
        </p:txBody>
      </p:sp>
      <p:sp>
        <p:nvSpPr>
          <p:cNvPr id="44" name="Shape 42"/>
          <p:cNvSpPr/>
          <p:nvPr/>
        </p:nvSpPr>
        <p:spPr>
          <a:xfrm>
            <a:off x="6214110" y="5047777"/>
            <a:ext cx="5589270" cy="1207770"/>
          </a:xfrm>
          <a:custGeom>
            <a:avLst/>
            <a:gdLst/>
            <a:ahLst/>
            <a:cxnLst/>
            <a:rect l="l" t="t" r="r" b="b"/>
            <a:pathLst>
              <a:path w="5589270" h="1207770">
                <a:moveTo>
                  <a:pt x="228595" y="0"/>
                </a:moveTo>
                <a:lnTo>
                  <a:pt x="5360675" y="0"/>
                </a:lnTo>
                <a:cubicBezTo>
                  <a:pt x="5486925" y="0"/>
                  <a:pt x="5589270" y="102345"/>
                  <a:pt x="5589270" y="228595"/>
                </a:cubicBezTo>
                <a:lnTo>
                  <a:pt x="5589270" y="979175"/>
                </a:lnTo>
                <a:cubicBezTo>
                  <a:pt x="5589270" y="1105425"/>
                  <a:pt x="5486925" y="1207770"/>
                  <a:pt x="5360675" y="1207770"/>
                </a:cubicBezTo>
                <a:lnTo>
                  <a:pt x="228595" y="1207770"/>
                </a:lnTo>
                <a:cubicBezTo>
                  <a:pt x="102345" y="1207770"/>
                  <a:pt x="0" y="1105425"/>
                  <a:pt x="0" y="979175"/>
                </a:cubicBezTo>
                <a:lnTo>
                  <a:pt x="0" y="228595"/>
                </a:lnTo>
                <a:cubicBezTo>
                  <a:pt x="0" y="102345"/>
                  <a:pt x="102345" y="0"/>
                  <a:pt x="228595" y="0"/>
                </a:cubicBezTo>
                <a:close/>
              </a:path>
            </a:pathLst>
          </a:custGeom>
          <a:solidFill>
            <a:srgbClr val="FFFFFF">
              <a:alpha val="85098"/>
            </a:srgbClr>
          </a:solidFill>
          <a:ln w="10160">
            <a:solidFill>
              <a:srgbClr val="FFFFFF">
                <a:alpha val="30196"/>
              </a:srgbClr>
            </a:solidFill>
            <a:prstDash val="solid"/>
          </a:ln>
        </p:spPr>
      </p:sp>
      <p:sp>
        <p:nvSpPr>
          <p:cNvPr id="45" name="Shape 43"/>
          <p:cNvSpPr/>
          <p:nvPr/>
        </p:nvSpPr>
        <p:spPr>
          <a:xfrm>
            <a:off x="6453664" y="5289710"/>
            <a:ext cx="128588" cy="171450"/>
          </a:xfrm>
          <a:custGeom>
            <a:avLst/>
            <a:gdLst/>
            <a:ahLst/>
            <a:cxnLst/>
            <a:rect l="l" t="t" r="r" b="b"/>
            <a:pathLst>
              <a:path w="128588" h="171450">
                <a:moveTo>
                  <a:pt x="83682" y="22369"/>
                </a:moveTo>
                <a:cubicBezTo>
                  <a:pt x="87165" y="17580"/>
                  <a:pt x="86093" y="10883"/>
                  <a:pt x="81305" y="7400"/>
                </a:cubicBezTo>
                <a:cubicBezTo>
                  <a:pt x="76516" y="3918"/>
                  <a:pt x="69819" y="4989"/>
                  <a:pt x="66336" y="9778"/>
                </a:cubicBezTo>
                <a:lnTo>
                  <a:pt x="30841" y="58568"/>
                </a:lnTo>
                <a:lnTo>
                  <a:pt x="18284" y="46010"/>
                </a:lnTo>
                <a:cubicBezTo>
                  <a:pt x="14098" y="41824"/>
                  <a:pt x="7300" y="41824"/>
                  <a:pt x="3114" y="46010"/>
                </a:cubicBezTo>
                <a:cubicBezTo>
                  <a:pt x="-1072" y="50196"/>
                  <a:pt x="-1072" y="56994"/>
                  <a:pt x="3114" y="61180"/>
                </a:cubicBezTo>
                <a:lnTo>
                  <a:pt x="24545" y="82611"/>
                </a:lnTo>
                <a:cubicBezTo>
                  <a:pt x="26756" y="84821"/>
                  <a:pt x="29836" y="85959"/>
                  <a:pt x="32951" y="85725"/>
                </a:cubicBezTo>
                <a:cubicBezTo>
                  <a:pt x="36065" y="85491"/>
                  <a:pt x="38945" y="83883"/>
                  <a:pt x="40786" y="81338"/>
                </a:cubicBezTo>
                <a:lnTo>
                  <a:pt x="83649" y="22402"/>
                </a:lnTo>
                <a:close/>
                <a:moveTo>
                  <a:pt x="126545" y="67910"/>
                </a:moveTo>
                <a:cubicBezTo>
                  <a:pt x="130027" y="63122"/>
                  <a:pt x="128956" y="56424"/>
                  <a:pt x="124167" y="52942"/>
                </a:cubicBezTo>
                <a:cubicBezTo>
                  <a:pt x="119379" y="49459"/>
                  <a:pt x="112681" y="50531"/>
                  <a:pt x="109199" y="55319"/>
                </a:cubicBezTo>
                <a:lnTo>
                  <a:pt x="52272" y="133577"/>
                </a:lnTo>
                <a:lnTo>
                  <a:pt x="28999" y="110304"/>
                </a:lnTo>
                <a:cubicBezTo>
                  <a:pt x="24813" y="106118"/>
                  <a:pt x="18016" y="106118"/>
                  <a:pt x="13830" y="110304"/>
                </a:cubicBezTo>
                <a:cubicBezTo>
                  <a:pt x="9644" y="114490"/>
                  <a:pt x="9644" y="121287"/>
                  <a:pt x="13830" y="125473"/>
                </a:cubicBezTo>
                <a:lnTo>
                  <a:pt x="45977" y="157620"/>
                </a:lnTo>
                <a:cubicBezTo>
                  <a:pt x="48187" y="159830"/>
                  <a:pt x="51268" y="160969"/>
                  <a:pt x="54382" y="160734"/>
                </a:cubicBezTo>
                <a:cubicBezTo>
                  <a:pt x="57496" y="160500"/>
                  <a:pt x="60376" y="158893"/>
                  <a:pt x="62218" y="156348"/>
                </a:cubicBezTo>
                <a:lnTo>
                  <a:pt x="126511" y="67944"/>
                </a:lnTo>
                <a:close/>
              </a:path>
            </a:pathLst>
          </a:custGeom>
          <a:solidFill>
            <a:srgbClr val="0071E3"/>
          </a:solidFill>
          <a:ln/>
        </p:spPr>
      </p:sp>
      <p:sp>
        <p:nvSpPr>
          <p:cNvPr id="46" name="Text 44"/>
          <p:cNvSpPr/>
          <p:nvPr/>
        </p:nvSpPr>
        <p:spPr>
          <a:xfrm>
            <a:off x="6737032" y="5242085"/>
            <a:ext cx="8477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Validation</a:t>
            </a:r>
            <a:endParaRPr lang="en-US" sz="1600" dirty="0"/>
          </a:p>
        </p:txBody>
      </p:sp>
      <p:sp>
        <p:nvSpPr>
          <p:cNvPr id="47" name="Text 45"/>
          <p:cNvSpPr/>
          <p:nvPr/>
        </p:nvSpPr>
        <p:spPr>
          <a:xfrm>
            <a:off x="6408420" y="5623085"/>
            <a:ext cx="5267325"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Model outputs validated through </a:t>
            </a:r>
            <a:r>
              <a:rPr lang="en-US" sz="1050" b="1" dirty="0">
                <a:solidFill>
                  <a:srgbClr val="86868B"/>
                </a:solidFill>
                <a:latin typeface="Quattrocento Sans" pitchFamily="34" charset="0"/>
                <a:ea typeface="Quattrocento Sans" pitchFamily="34" charset="-122"/>
                <a:cs typeface="Quattrocento Sans" pitchFamily="34" charset="-120"/>
              </a:rPr>
              <a:t>qualitative inspection</a:t>
            </a:r>
            <a:r>
              <a:rPr lang="en-US" sz="1050" dirty="0">
                <a:solidFill>
                  <a:srgbClr val="86868B"/>
                </a:solidFill>
                <a:latin typeface="Quattrocento Sans" pitchFamily="34" charset="0"/>
                <a:ea typeface="Quattrocento Sans" pitchFamily="34" charset="-122"/>
                <a:cs typeface="Quattrocento Sans" pitchFamily="34" charset="-120"/>
              </a:rPr>
              <a:t> of topics and sentiment predictions on sample texts.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Outcomes</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Results &amp; Performance</a:t>
            </a:r>
            <a:endParaRPr lang="en-US" sz="1600" dirty="0"/>
          </a:p>
        </p:txBody>
      </p:sp>
      <p:sp>
        <p:nvSpPr>
          <p:cNvPr id="4" name="Shape 2"/>
          <p:cNvSpPr/>
          <p:nvPr/>
        </p:nvSpPr>
        <p:spPr>
          <a:xfrm>
            <a:off x="384810" y="1337310"/>
            <a:ext cx="3674745" cy="4551045"/>
          </a:xfrm>
          <a:custGeom>
            <a:avLst/>
            <a:gdLst/>
            <a:ahLst/>
            <a:cxnLst/>
            <a:rect l="l" t="t" r="r" b="b"/>
            <a:pathLst>
              <a:path w="3674745" h="4551045">
                <a:moveTo>
                  <a:pt x="228606" y="0"/>
                </a:moveTo>
                <a:lnTo>
                  <a:pt x="3446139" y="0"/>
                </a:lnTo>
                <a:cubicBezTo>
                  <a:pt x="3572395" y="0"/>
                  <a:pt x="3674745" y="102350"/>
                  <a:pt x="3674745" y="228606"/>
                </a:cubicBezTo>
                <a:lnTo>
                  <a:pt x="3674745" y="4322439"/>
                </a:lnTo>
                <a:cubicBezTo>
                  <a:pt x="3674745" y="4448695"/>
                  <a:pt x="3572395" y="4551045"/>
                  <a:pt x="3446139" y="4551045"/>
                </a:cubicBezTo>
                <a:lnTo>
                  <a:pt x="228606" y="4551045"/>
                </a:lnTo>
                <a:cubicBezTo>
                  <a:pt x="102350" y="4551045"/>
                  <a:pt x="0" y="4448695"/>
                  <a:pt x="0" y="4322439"/>
                </a:cubicBezTo>
                <a:lnTo>
                  <a:pt x="0" y="228606"/>
                </a:lnTo>
                <a:cubicBezTo>
                  <a:pt x="0" y="102435"/>
                  <a:pt x="102435" y="0"/>
                  <a:pt x="228606"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617220" y="1569723"/>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10196"/>
            </a:srgbClr>
          </a:solidFill>
          <a:ln/>
        </p:spPr>
      </p:sp>
      <p:sp>
        <p:nvSpPr>
          <p:cNvPr id="6" name="Shape 4"/>
          <p:cNvSpPr/>
          <p:nvPr/>
        </p:nvSpPr>
        <p:spPr>
          <a:xfrm>
            <a:off x="731520" y="1684023"/>
            <a:ext cx="228600" cy="228600"/>
          </a:xfrm>
          <a:custGeom>
            <a:avLst/>
            <a:gdLst/>
            <a:ahLst/>
            <a:cxn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0071E3"/>
          </a:solidFill>
          <a:ln/>
        </p:spPr>
      </p:sp>
      <p:sp>
        <p:nvSpPr>
          <p:cNvPr id="7" name="Text 5"/>
          <p:cNvSpPr/>
          <p:nvPr/>
        </p:nvSpPr>
        <p:spPr>
          <a:xfrm>
            <a:off x="1188720" y="1645923"/>
            <a:ext cx="17621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Topic Extraction</a:t>
            </a:r>
            <a:endParaRPr lang="en-US" sz="1600" dirty="0"/>
          </a:p>
        </p:txBody>
      </p:sp>
      <p:sp>
        <p:nvSpPr>
          <p:cNvPr id="8" name="Shape 6"/>
          <p:cNvSpPr/>
          <p:nvPr/>
        </p:nvSpPr>
        <p:spPr>
          <a:xfrm>
            <a:off x="617220" y="2217423"/>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71E3">
                  <a:alpha val="10000"/>
                </a:srgbClr>
              </a:gs>
              <a:gs pos="100000">
                <a:srgbClr val="000000">
                  <a:alpha val="0"/>
                </a:srgbClr>
              </a:gs>
            </a:gsLst>
            <a:lin ang="2700000" scaled="1"/>
          </a:gradFill>
          <a:ln/>
        </p:spPr>
      </p:sp>
      <p:sp>
        <p:nvSpPr>
          <p:cNvPr id="9" name="Shape 7"/>
          <p:cNvSpPr/>
          <p:nvPr/>
        </p:nvSpPr>
        <p:spPr>
          <a:xfrm>
            <a:off x="788670" y="240792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71E3"/>
          </a:solidFill>
          <a:ln/>
        </p:spPr>
      </p:sp>
      <p:sp>
        <p:nvSpPr>
          <p:cNvPr id="10" name="Text 8"/>
          <p:cNvSpPr/>
          <p:nvPr/>
        </p:nvSpPr>
        <p:spPr>
          <a:xfrm>
            <a:off x="1036320" y="2369823"/>
            <a:ext cx="132397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Meaningful Topics</a:t>
            </a:r>
            <a:endParaRPr lang="en-US" sz="1600" dirty="0"/>
          </a:p>
        </p:txBody>
      </p:sp>
      <p:sp>
        <p:nvSpPr>
          <p:cNvPr id="11" name="Text 9"/>
          <p:cNvSpPr/>
          <p:nvPr/>
        </p:nvSpPr>
        <p:spPr>
          <a:xfrm>
            <a:off x="769620" y="2674623"/>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Successfully extracted coherent topics from unstructured text using NMF model</a:t>
            </a:r>
            <a:endParaRPr lang="en-US" sz="1600" dirty="0"/>
          </a:p>
        </p:txBody>
      </p:sp>
      <p:sp>
        <p:nvSpPr>
          <p:cNvPr id="12" name="Shape 10"/>
          <p:cNvSpPr/>
          <p:nvPr/>
        </p:nvSpPr>
        <p:spPr>
          <a:xfrm>
            <a:off x="617220" y="3412810"/>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71E3">
                  <a:alpha val="10000"/>
                </a:srgbClr>
              </a:gs>
              <a:gs pos="100000">
                <a:srgbClr val="000000">
                  <a:alpha val="0"/>
                </a:srgbClr>
              </a:gs>
            </a:gsLst>
            <a:lin ang="2700000" scaled="1"/>
          </a:gradFill>
          <a:ln/>
        </p:spPr>
      </p:sp>
      <p:sp>
        <p:nvSpPr>
          <p:cNvPr id="13" name="Shape 11"/>
          <p:cNvSpPr/>
          <p:nvPr/>
        </p:nvSpPr>
        <p:spPr>
          <a:xfrm>
            <a:off x="788670" y="3603310"/>
            <a:ext cx="152400" cy="152400"/>
          </a:xfrm>
          <a:custGeom>
            <a:avLst/>
            <a:gdLst/>
            <a:ahLst/>
            <a:cxnLst/>
            <a:rect l="l" t="t" r="r" b="b"/>
            <a:pathLst>
              <a:path w="152400" h="152400">
                <a:moveTo>
                  <a:pt x="100013" y="104775"/>
                </a:moveTo>
                <a:cubicBezTo>
                  <a:pt x="128945" y="104775"/>
                  <a:pt x="152400" y="81320"/>
                  <a:pt x="152400" y="52388"/>
                </a:cubicBezTo>
                <a:cubicBezTo>
                  <a:pt x="152400" y="23455"/>
                  <a:pt x="128945" y="0"/>
                  <a:pt x="100013" y="0"/>
                </a:cubicBezTo>
                <a:cubicBezTo>
                  <a:pt x="71080" y="0"/>
                  <a:pt x="47625" y="23455"/>
                  <a:pt x="47625" y="52388"/>
                </a:cubicBezTo>
                <a:cubicBezTo>
                  <a:pt x="47625" y="57954"/>
                  <a:pt x="48488" y="63341"/>
                  <a:pt x="50096" y="68372"/>
                </a:cubicBezTo>
                <a:lnTo>
                  <a:pt x="2084" y="116384"/>
                </a:lnTo>
                <a:cubicBezTo>
                  <a:pt x="744" y="117723"/>
                  <a:pt x="0" y="119539"/>
                  <a:pt x="0" y="121444"/>
                </a:cubicBezTo>
                <a:lnTo>
                  <a:pt x="0" y="145256"/>
                </a:lnTo>
                <a:cubicBezTo>
                  <a:pt x="0" y="149215"/>
                  <a:pt x="3185" y="152400"/>
                  <a:pt x="7144" y="152400"/>
                </a:cubicBezTo>
                <a:lnTo>
                  <a:pt x="30956" y="152400"/>
                </a:lnTo>
                <a:cubicBezTo>
                  <a:pt x="34915" y="152400"/>
                  <a:pt x="38100" y="149215"/>
                  <a:pt x="38100" y="145256"/>
                </a:cubicBezTo>
                <a:lnTo>
                  <a:pt x="38100" y="133350"/>
                </a:lnTo>
                <a:lnTo>
                  <a:pt x="50006" y="133350"/>
                </a:lnTo>
                <a:cubicBezTo>
                  <a:pt x="53965" y="133350"/>
                  <a:pt x="57150" y="130165"/>
                  <a:pt x="57150" y="126206"/>
                </a:cubicBezTo>
                <a:lnTo>
                  <a:pt x="57150" y="114300"/>
                </a:lnTo>
                <a:lnTo>
                  <a:pt x="69056" y="114300"/>
                </a:lnTo>
                <a:cubicBezTo>
                  <a:pt x="70961" y="114300"/>
                  <a:pt x="72777" y="113556"/>
                  <a:pt x="74116" y="112216"/>
                </a:cubicBezTo>
                <a:lnTo>
                  <a:pt x="84028" y="102304"/>
                </a:lnTo>
                <a:cubicBezTo>
                  <a:pt x="89059" y="103912"/>
                  <a:pt x="94446" y="104775"/>
                  <a:pt x="100013" y="104775"/>
                </a:cubicBezTo>
                <a:close/>
                <a:moveTo>
                  <a:pt x="111919" y="28575"/>
                </a:moveTo>
                <a:cubicBezTo>
                  <a:pt x="118490" y="28575"/>
                  <a:pt x="123825" y="33910"/>
                  <a:pt x="123825" y="40481"/>
                </a:cubicBezTo>
                <a:cubicBezTo>
                  <a:pt x="123825" y="47052"/>
                  <a:pt x="118490" y="52388"/>
                  <a:pt x="111919" y="52388"/>
                </a:cubicBezTo>
                <a:cubicBezTo>
                  <a:pt x="105348" y="52388"/>
                  <a:pt x="100013" y="47052"/>
                  <a:pt x="100013" y="40481"/>
                </a:cubicBezTo>
                <a:cubicBezTo>
                  <a:pt x="100013" y="33910"/>
                  <a:pt x="105348" y="28575"/>
                  <a:pt x="111919" y="28575"/>
                </a:cubicBezTo>
                <a:close/>
              </a:path>
            </a:pathLst>
          </a:custGeom>
          <a:solidFill>
            <a:srgbClr val="0071E3"/>
          </a:solidFill>
          <a:ln/>
        </p:spPr>
      </p:sp>
      <p:sp>
        <p:nvSpPr>
          <p:cNvPr id="14" name="Text 12"/>
          <p:cNvSpPr/>
          <p:nvPr/>
        </p:nvSpPr>
        <p:spPr>
          <a:xfrm>
            <a:off x="1036320" y="3565210"/>
            <a:ext cx="179070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Representative Keywords</a:t>
            </a:r>
            <a:endParaRPr lang="en-US" sz="1600" dirty="0"/>
          </a:p>
        </p:txBody>
      </p:sp>
      <p:sp>
        <p:nvSpPr>
          <p:cNvPr id="15" name="Text 13"/>
          <p:cNvSpPr/>
          <p:nvPr/>
        </p:nvSpPr>
        <p:spPr>
          <a:xfrm>
            <a:off x="769620" y="3870010"/>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Identified key terms that accurately represent each topic cluster</a:t>
            </a:r>
            <a:endParaRPr lang="en-US" sz="1600" dirty="0"/>
          </a:p>
        </p:txBody>
      </p:sp>
      <p:sp>
        <p:nvSpPr>
          <p:cNvPr id="16" name="Shape 14"/>
          <p:cNvSpPr/>
          <p:nvPr/>
        </p:nvSpPr>
        <p:spPr>
          <a:xfrm>
            <a:off x="617220" y="4608198"/>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71E3">
                  <a:alpha val="10000"/>
                </a:srgbClr>
              </a:gs>
              <a:gs pos="100000">
                <a:srgbClr val="000000">
                  <a:alpha val="0"/>
                </a:srgbClr>
              </a:gs>
            </a:gsLst>
            <a:lin ang="2700000" scaled="1"/>
          </a:gradFill>
          <a:ln/>
        </p:spPr>
      </p:sp>
      <p:sp>
        <p:nvSpPr>
          <p:cNvPr id="17" name="Shape 15"/>
          <p:cNvSpPr/>
          <p:nvPr/>
        </p:nvSpPr>
        <p:spPr>
          <a:xfrm>
            <a:off x="788670" y="4798698"/>
            <a:ext cx="152400" cy="152400"/>
          </a:xfrm>
          <a:custGeom>
            <a:avLst/>
            <a:gdLst/>
            <a:ahLst/>
            <a:cxnLst/>
            <a:rect l="l" t="t" r="r" b="b"/>
            <a:pathLst>
              <a:path w="152400" h="152400">
                <a:moveTo>
                  <a:pt x="57150" y="19050"/>
                </a:moveTo>
                <a:cubicBezTo>
                  <a:pt x="57150" y="13781"/>
                  <a:pt x="61406" y="9525"/>
                  <a:pt x="66675" y="9525"/>
                </a:cubicBezTo>
                <a:lnTo>
                  <a:pt x="85725" y="9525"/>
                </a:lnTo>
                <a:cubicBezTo>
                  <a:pt x="90994" y="9525"/>
                  <a:pt x="95250" y="13781"/>
                  <a:pt x="95250" y="19050"/>
                </a:cubicBezTo>
                <a:lnTo>
                  <a:pt x="95250" y="38100"/>
                </a:lnTo>
                <a:cubicBezTo>
                  <a:pt x="95250" y="43369"/>
                  <a:pt x="90994" y="47625"/>
                  <a:pt x="85725" y="47625"/>
                </a:cubicBezTo>
                <a:lnTo>
                  <a:pt x="83344" y="47625"/>
                </a:lnTo>
                <a:lnTo>
                  <a:pt x="83344" y="66675"/>
                </a:lnTo>
                <a:lnTo>
                  <a:pt x="119062" y="66675"/>
                </a:lnTo>
                <a:cubicBezTo>
                  <a:pt x="130909" y="66675"/>
                  <a:pt x="140494" y="76260"/>
                  <a:pt x="140494" y="88106"/>
                </a:cubicBezTo>
                <a:lnTo>
                  <a:pt x="140494" y="104775"/>
                </a:lnTo>
                <a:lnTo>
                  <a:pt x="142875" y="104775"/>
                </a:lnTo>
                <a:cubicBezTo>
                  <a:pt x="148144" y="104775"/>
                  <a:pt x="152400" y="109031"/>
                  <a:pt x="152400" y="114300"/>
                </a:cubicBezTo>
                <a:lnTo>
                  <a:pt x="152400" y="133350"/>
                </a:lnTo>
                <a:cubicBezTo>
                  <a:pt x="152400" y="138619"/>
                  <a:pt x="148144" y="142875"/>
                  <a:pt x="142875" y="142875"/>
                </a:cubicBezTo>
                <a:lnTo>
                  <a:pt x="123825" y="142875"/>
                </a:lnTo>
                <a:cubicBezTo>
                  <a:pt x="118556" y="142875"/>
                  <a:pt x="114300" y="138619"/>
                  <a:pt x="114300" y="133350"/>
                </a:cubicBezTo>
                <a:lnTo>
                  <a:pt x="114300" y="114300"/>
                </a:lnTo>
                <a:cubicBezTo>
                  <a:pt x="114300" y="109031"/>
                  <a:pt x="118556" y="104775"/>
                  <a:pt x="123825" y="104775"/>
                </a:cubicBezTo>
                <a:lnTo>
                  <a:pt x="126206" y="104775"/>
                </a:lnTo>
                <a:lnTo>
                  <a:pt x="126206" y="88106"/>
                </a:lnTo>
                <a:cubicBezTo>
                  <a:pt x="126206" y="84147"/>
                  <a:pt x="123021" y="80962"/>
                  <a:pt x="119062" y="80962"/>
                </a:cubicBezTo>
                <a:lnTo>
                  <a:pt x="83344" y="80962"/>
                </a:lnTo>
                <a:lnTo>
                  <a:pt x="83344" y="104775"/>
                </a:lnTo>
                <a:lnTo>
                  <a:pt x="85725" y="104775"/>
                </a:lnTo>
                <a:cubicBezTo>
                  <a:pt x="90994" y="104775"/>
                  <a:pt x="95250" y="109031"/>
                  <a:pt x="95250" y="114300"/>
                </a:cubicBezTo>
                <a:lnTo>
                  <a:pt x="95250" y="133350"/>
                </a:lnTo>
                <a:cubicBezTo>
                  <a:pt x="95250" y="138619"/>
                  <a:pt x="90994" y="142875"/>
                  <a:pt x="85725" y="142875"/>
                </a:cubicBezTo>
                <a:lnTo>
                  <a:pt x="66675" y="142875"/>
                </a:lnTo>
                <a:cubicBezTo>
                  <a:pt x="61406" y="142875"/>
                  <a:pt x="57150" y="138619"/>
                  <a:pt x="57150" y="133350"/>
                </a:cubicBezTo>
                <a:lnTo>
                  <a:pt x="57150" y="114300"/>
                </a:lnTo>
                <a:cubicBezTo>
                  <a:pt x="57150" y="109031"/>
                  <a:pt x="61406" y="104775"/>
                  <a:pt x="66675" y="104775"/>
                </a:cubicBezTo>
                <a:lnTo>
                  <a:pt x="69056" y="104775"/>
                </a:lnTo>
                <a:lnTo>
                  <a:pt x="69056" y="80962"/>
                </a:lnTo>
                <a:lnTo>
                  <a:pt x="33338" y="80962"/>
                </a:lnTo>
                <a:cubicBezTo>
                  <a:pt x="29379" y="80962"/>
                  <a:pt x="26194" y="84147"/>
                  <a:pt x="26194" y="88106"/>
                </a:cubicBezTo>
                <a:lnTo>
                  <a:pt x="26194" y="104775"/>
                </a:lnTo>
                <a:lnTo>
                  <a:pt x="28575" y="104775"/>
                </a:lnTo>
                <a:cubicBezTo>
                  <a:pt x="33844" y="104775"/>
                  <a:pt x="38100" y="109031"/>
                  <a:pt x="38100" y="114300"/>
                </a:cubicBezTo>
                <a:lnTo>
                  <a:pt x="38100" y="133350"/>
                </a:lnTo>
                <a:cubicBezTo>
                  <a:pt x="38100" y="138619"/>
                  <a:pt x="33844" y="142875"/>
                  <a:pt x="28575" y="142875"/>
                </a:cubicBezTo>
                <a:lnTo>
                  <a:pt x="9525" y="142875"/>
                </a:lnTo>
                <a:cubicBezTo>
                  <a:pt x="4256" y="142875"/>
                  <a:pt x="0" y="138619"/>
                  <a:pt x="0" y="133350"/>
                </a:cubicBezTo>
                <a:lnTo>
                  <a:pt x="0" y="114300"/>
                </a:lnTo>
                <a:cubicBezTo>
                  <a:pt x="0" y="109031"/>
                  <a:pt x="4256" y="104775"/>
                  <a:pt x="9525" y="104775"/>
                </a:cubicBezTo>
                <a:lnTo>
                  <a:pt x="11906" y="104775"/>
                </a:lnTo>
                <a:lnTo>
                  <a:pt x="11906" y="88106"/>
                </a:lnTo>
                <a:cubicBezTo>
                  <a:pt x="11906" y="76260"/>
                  <a:pt x="21491" y="66675"/>
                  <a:pt x="33338" y="66675"/>
                </a:cubicBezTo>
                <a:lnTo>
                  <a:pt x="69056" y="66675"/>
                </a:lnTo>
                <a:lnTo>
                  <a:pt x="69056" y="47625"/>
                </a:lnTo>
                <a:lnTo>
                  <a:pt x="66675" y="47625"/>
                </a:lnTo>
                <a:cubicBezTo>
                  <a:pt x="61406" y="47625"/>
                  <a:pt x="57150" y="43369"/>
                  <a:pt x="57150" y="38100"/>
                </a:cubicBezTo>
                <a:lnTo>
                  <a:pt x="57150" y="19050"/>
                </a:lnTo>
                <a:close/>
              </a:path>
            </a:pathLst>
          </a:custGeom>
          <a:solidFill>
            <a:srgbClr val="0071E3"/>
          </a:solidFill>
          <a:ln/>
        </p:spPr>
      </p:sp>
      <p:sp>
        <p:nvSpPr>
          <p:cNvPr id="18" name="Text 16"/>
          <p:cNvSpPr/>
          <p:nvPr/>
        </p:nvSpPr>
        <p:spPr>
          <a:xfrm>
            <a:off x="1036320" y="4760598"/>
            <a:ext cx="142875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Theme Organization</a:t>
            </a:r>
            <a:endParaRPr lang="en-US" sz="1600" dirty="0"/>
          </a:p>
        </p:txBody>
      </p:sp>
      <p:sp>
        <p:nvSpPr>
          <p:cNvPr id="19" name="Text 17"/>
          <p:cNvSpPr/>
          <p:nvPr/>
        </p:nvSpPr>
        <p:spPr>
          <a:xfrm>
            <a:off x="769620" y="5065398"/>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Clear thematic structure with well-defined topic boundaries</a:t>
            </a:r>
            <a:endParaRPr lang="en-US" sz="1600" dirty="0"/>
          </a:p>
        </p:txBody>
      </p:sp>
      <p:sp>
        <p:nvSpPr>
          <p:cNvPr id="20" name="Shape 18"/>
          <p:cNvSpPr/>
          <p:nvPr/>
        </p:nvSpPr>
        <p:spPr>
          <a:xfrm>
            <a:off x="4258270" y="1337310"/>
            <a:ext cx="3674745" cy="4551045"/>
          </a:xfrm>
          <a:custGeom>
            <a:avLst/>
            <a:gdLst/>
            <a:ahLst/>
            <a:cxnLst/>
            <a:rect l="l" t="t" r="r" b="b"/>
            <a:pathLst>
              <a:path w="3674745" h="4551045">
                <a:moveTo>
                  <a:pt x="228606" y="0"/>
                </a:moveTo>
                <a:lnTo>
                  <a:pt x="3446139" y="0"/>
                </a:lnTo>
                <a:cubicBezTo>
                  <a:pt x="3572395" y="0"/>
                  <a:pt x="3674745" y="102350"/>
                  <a:pt x="3674745" y="228606"/>
                </a:cubicBezTo>
                <a:lnTo>
                  <a:pt x="3674745" y="4322439"/>
                </a:lnTo>
                <a:cubicBezTo>
                  <a:pt x="3674745" y="4448695"/>
                  <a:pt x="3572395" y="4551045"/>
                  <a:pt x="3446139" y="4551045"/>
                </a:cubicBezTo>
                <a:lnTo>
                  <a:pt x="228606" y="4551045"/>
                </a:lnTo>
                <a:cubicBezTo>
                  <a:pt x="102350" y="4551045"/>
                  <a:pt x="0" y="4448695"/>
                  <a:pt x="0" y="4322439"/>
                </a:cubicBezTo>
                <a:lnTo>
                  <a:pt x="0" y="228606"/>
                </a:lnTo>
                <a:cubicBezTo>
                  <a:pt x="0" y="102435"/>
                  <a:pt x="102435" y="0"/>
                  <a:pt x="228606" y="0"/>
                </a:cubicBezTo>
                <a:close/>
              </a:path>
            </a:pathLst>
          </a:custGeom>
          <a:solidFill>
            <a:srgbClr val="FFFFFF">
              <a:alpha val="85098"/>
            </a:srgbClr>
          </a:solidFill>
          <a:ln w="10160">
            <a:solidFill>
              <a:srgbClr val="FFFFFF">
                <a:alpha val="30196"/>
              </a:srgbClr>
            </a:solidFill>
            <a:prstDash val="solid"/>
          </a:ln>
        </p:spPr>
      </p:sp>
      <p:sp>
        <p:nvSpPr>
          <p:cNvPr id="21" name="Shape 19"/>
          <p:cNvSpPr/>
          <p:nvPr/>
        </p:nvSpPr>
        <p:spPr>
          <a:xfrm>
            <a:off x="4490680" y="1569723"/>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C7BE">
              <a:alpha val="10196"/>
            </a:srgbClr>
          </a:solidFill>
          <a:ln/>
        </p:spPr>
      </p:sp>
      <p:sp>
        <p:nvSpPr>
          <p:cNvPr id="22" name="Shape 20"/>
          <p:cNvSpPr/>
          <p:nvPr/>
        </p:nvSpPr>
        <p:spPr>
          <a:xfrm>
            <a:off x="4604980" y="1684023"/>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73849" y="143723"/>
                </a:moveTo>
                <a:cubicBezTo>
                  <a:pt x="82957" y="156225"/>
                  <a:pt x="97691" y="164306"/>
                  <a:pt x="114300" y="164306"/>
                </a:cubicBezTo>
                <a:cubicBezTo>
                  <a:pt x="130909" y="164306"/>
                  <a:pt x="145643" y="156225"/>
                  <a:pt x="154751" y="143723"/>
                </a:cubicBezTo>
                <a:cubicBezTo>
                  <a:pt x="158234" y="138946"/>
                  <a:pt x="164931" y="137874"/>
                  <a:pt x="169709" y="141357"/>
                </a:cubicBezTo>
                <a:cubicBezTo>
                  <a:pt x="174486" y="144840"/>
                  <a:pt x="175558" y="151537"/>
                  <a:pt x="172075" y="156314"/>
                </a:cubicBezTo>
                <a:cubicBezTo>
                  <a:pt x="159082" y="174129"/>
                  <a:pt x="138053" y="185738"/>
                  <a:pt x="114300" y="185738"/>
                </a:cubicBezTo>
                <a:cubicBezTo>
                  <a:pt x="90547" y="185738"/>
                  <a:pt x="69518" y="174129"/>
                  <a:pt x="56525" y="156314"/>
                </a:cubicBezTo>
                <a:cubicBezTo>
                  <a:pt x="53042" y="151537"/>
                  <a:pt x="54114" y="144840"/>
                  <a:pt x="58891" y="141357"/>
                </a:cubicBezTo>
                <a:cubicBezTo>
                  <a:pt x="63669" y="137874"/>
                  <a:pt x="70366" y="138946"/>
                  <a:pt x="73849" y="143723"/>
                </a:cubicBezTo>
                <a:close/>
                <a:moveTo>
                  <a:pt x="64294" y="92869"/>
                </a:moveTo>
                <a:cubicBezTo>
                  <a:pt x="64294" y="84983"/>
                  <a:pt x="70696" y="78581"/>
                  <a:pt x="78581" y="78581"/>
                </a:cubicBezTo>
                <a:cubicBezTo>
                  <a:pt x="86467" y="78581"/>
                  <a:pt x="92869" y="84983"/>
                  <a:pt x="92869" y="92869"/>
                </a:cubicBezTo>
                <a:cubicBezTo>
                  <a:pt x="92869" y="100754"/>
                  <a:pt x="86467" y="107156"/>
                  <a:pt x="78581" y="107156"/>
                </a:cubicBezTo>
                <a:cubicBezTo>
                  <a:pt x="70696" y="107156"/>
                  <a:pt x="64294" y="100754"/>
                  <a:pt x="64294" y="92869"/>
                </a:cubicBezTo>
                <a:close/>
                <a:moveTo>
                  <a:pt x="150019" y="78581"/>
                </a:moveTo>
                <a:cubicBezTo>
                  <a:pt x="157904" y="78581"/>
                  <a:pt x="164306" y="84983"/>
                  <a:pt x="164306" y="92869"/>
                </a:cubicBezTo>
                <a:cubicBezTo>
                  <a:pt x="164306" y="100754"/>
                  <a:pt x="157904" y="107156"/>
                  <a:pt x="150019" y="107156"/>
                </a:cubicBezTo>
                <a:cubicBezTo>
                  <a:pt x="142133" y="107156"/>
                  <a:pt x="135731" y="100754"/>
                  <a:pt x="135731" y="92869"/>
                </a:cubicBezTo>
                <a:cubicBezTo>
                  <a:pt x="135731" y="84983"/>
                  <a:pt x="142133" y="78581"/>
                  <a:pt x="150019" y="78581"/>
                </a:cubicBezTo>
                <a:close/>
              </a:path>
            </a:pathLst>
          </a:custGeom>
          <a:solidFill>
            <a:srgbClr val="00C7BE"/>
          </a:solidFill>
          <a:ln/>
        </p:spPr>
      </p:sp>
      <p:sp>
        <p:nvSpPr>
          <p:cNvPr id="23" name="Text 21"/>
          <p:cNvSpPr/>
          <p:nvPr/>
        </p:nvSpPr>
        <p:spPr>
          <a:xfrm>
            <a:off x="5062181" y="1645923"/>
            <a:ext cx="204787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Sentiment Analysis</a:t>
            </a:r>
            <a:endParaRPr lang="en-US" sz="1600" dirty="0"/>
          </a:p>
        </p:txBody>
      </p:sp>
      <p:sp>
        <p:nvSpPr>
          <p:cNvPr id="24" name="Shape 22"/>
          <p:cNvSpPr/>
          <p:nvPr/>
        </p:nvSpPr>
        <p:spPr>
          <a:xfrm>
            <a:off x="4490680" y="2217423"/>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C7BE">
                  <a:alpha val="10000"/>
                </a:srgbClr>
              </a:gs>
              <a:gs pos="100000">
                <a:srgbClr val="000000">
                  <a:alpha val="0"/>
                </a:srgbClr>
              </a:gs>
            </a:gsLst>
            <a:lin ang="2700000" scaled="1"/>
          </a:gradFill>
          <a:ln/>
        </p:spPr>
      </p:sp>
      <p:sp>
        <p:nvSpPr>
          <p:cNvPr id="25" name="Shape 23"/>
          <p:cNvSpPr/>
          <p:nvPr/>
        </p:nvSpPr>
        <p:spPr>
          <a:xfrm>
            <a:off x="4662130" y="2407923"/>
            <a:ext cx="152400" cy="152400"/>
          </a:xfrm>
          <a:custGeom>
            <a:avLst/>
            <a:gdLst/>
            <a:ahLst/>
            <a:cxnLst/>
            <a:rect l="l" t="t" r="r" b="b"/>
            <a:pathLst>
              <a:path w="152400" h="152400">
                <a:moveTo>
                  <a:pt x="133350" y="76200"/>
                </a:moveTo>
                <a:cubicBezTo>
                  <a:pt x="133350" y="44658"/>
                  <a:pt x="107742" y="19050"/>
                  <a:pt x="76200" y="19050"/>
                </a:cubicBezTo>
                <a:cubicBezTo>
                  <a:pt x="44658" y="19050"/>
                  <a:pt x="19050" y="44658"/>
                  <a:pt x="19050" y="76200"/>
                </a:cubicBezTo>
                <a:cubicBezTo>
                  <a:pt x="19050" y="107742"/>
                  <a:pt x="44658" y="133350"/>
                  <a:pt x="76200" y="133350"/>
                </a:cubicBezTo>
                <a:cubicBezTo>
                  <a:pt x="107742" y="133350"/>
                  <a:pt x="133350" y="107742"/>
                  <a:pt x="133350"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76200" y="100013"/>
                </a:moveTo>
                <a:cubicBezTo>
                  <a:pt x="89342" y="100013"/>
                  <a:pt x="100013" y="89342"/>
                  <a:pt x="100013" y="76200"/>
                </a:cubicBezTo>
                <a:cubicBezTo>
                  <a:pt x="100013" y="63058"/>
                  <a:pt x="89342" y="52388"/>
                  <a:pt x="76200" y="52388"/>
                </a:cubicBezTo>
                <a:cubicBezTo>
                  <a:pt x="63058" y="52388"/>
                  <a:pt x="52388" y="63058"/>
                  <a:pt x="52388" y="76200"/>
                </a:cubicBezTo>
                <a:cubicBezTo>
                  <a:pt x="52388" y="89342"/>
                  <a:pt x="63058" y="100013"/>
                  <a:pt x="76200" y="100013"/>
                </a:cubicBezTo>
                <a:close/>
                <a:moveTo>
                  <a:pt x="76200" y="33338"/>
                </a:moveTo>
                <a:cubicBezTo>
                  <a:pt x="99856" y="33338"/>
                  <a:pt x="119062" y="52544"/>
                  <a:pt x="119062" y="76200"/>
                </a:cubicBezTo>
                <a:cubicBezTo>
                  <a:pt x="119062" y="99856"/>
                  <a:pt x="99856" y="119062"/>
                  <a:pt x="76200" y="119062"/>
                </a:cubicBezTo>
                <a:cubicBezTo>
                  <a:pt x="52544" y="119062"/>
                  <a:pt x="33338" y="99856"/>
                  <a:pt x="33338" y="76200"/>
                </a:cubicBezTo>
                <a:cubicBezTo>
                  <a:pt x="33338" y="52544"/>
                  <a:pt x="52544" y="33338"/>
                  <a:pt x="76200" y="33338"/>
                </a:cubicBezTo>
                <a:close/>
                <a:moveTo>
                  <a:pt x="66675" y="76200"/>
                </a:moveTo>
                <a:cubicBezTo>
                  <a:pt x="66675" y="70943"/>
                  <a:pt x="70943" y="66675"/>
                  <a:pt x="76200" y="66675"/>
                </a:cubicBezTo>
                <a:cubicBezTo>
                  <a:pt x="81457" y="66675"/>
                  <a:pt x="85725" y="70943"/>
                  <a:pt x="85725" y="76200"/>
                </a:cubicBezTo>
                <a:cubicBezTo>
                  <a:pt x="85725" y="81457"/>
                  <a:pt x="81457" y="85725"/>
                  <a:pt x="76200" y="85725"/>
                </a:cubicBezTo>
                <a:cubicBezTo>
                  <a:pt x="70943" y="85725"/>
                  <a:pt x="66675" y="81457"/>
                  <a:pt x="66675" y="76200"/>
                </a:cubicBezTo>
                <a:close/>
              </a:path>
            </a:pathLst>
          </a:custGeom>
          <a:solidFill>
            <a:srgbClr val="00C7BE"/>
          </a:solidFill>
          <a:ln/>
        </p:spPr>
      </p:sp>
      <p:sp>
        <p:nvSpPr>
          <p:cNvPr id="26" name="Text 24"/>
          <p:cNvSpPr/>
          <p:nvPr/>
        </p:nvSpPr>
        <p:spPr>
          <a:xfrm>
            <a:off x="4909781" y="2369823"/>
            <a:ext cx="162877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Accurate Classification</a:t>
            </a:r>
            <a:endParaRPr lang="en-US" sz="1600" dirty="0"/>
          </a:p>
        </p:txBody>
      </p:sp>
      <p:sp>
        <p:nvSpPr>
          <p:cNvPr id="27" name="Text 25"/>
          <p:cNvSpPr/>
          <p:nvPr/>
        </p:nvSpPr>
        <p:spPr>
          <a:xfrm>
            <a:off x="4643080" y="2674623"/>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Precisely classified text into positive, negative, and neutral categories</a:t>
            </a:r>
            <a:endParaRPr lang="en-US" sz="1600" dirty="0"/>
          </a:p>
        </p:txBody>
      </p:sp>
      <p:sp>
        <p:nvSpPr>
          <p:cNvPr id="28" name="Shape 26"/>
          <p:cNvSpPr/>
          <p:nvPr/>
        </p:nvSpPr>
        <p:spPr>
          <a:xfrm>
            <a:off x="4490680" y="3412810"/>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C7BE">
                  <a:alpha val="10000"/>
                </a:srgbClr>
              </a:gs>
              <a:gs pos="100000">
                <a:srgbClr val="000000">
                  <a:alpha val="0"/>
                </a:srgbClr>
              </a:gs>
            </a:gsLst>
            <a:lin ang="2700000" scaled="1"/>
          </a:gradFill>
          <a:ln/>
        </p:spPr>
      </p:sp>
      <p:sp>
        <p:nvSpPr>
          <p:cNvPr id="29" name="Shape 27"/>
          <p:cNvSpPr/>
          <p:nvPr/>
        </p:nvSpPr>
        <p:spPr>
          <a:xfrm>
            <a:off x="4652605" y="3603310"/>
            <a:ext cx="171450" cy="152400"/>
          </a:xfrm>
          <a:custGeom>
            <a:avLst/>
            <a:gdLst/>
            <a:ahLst/>
            <a:cxnLst/>
            <a:rect l="l" t="t" r="r" b="b"/>
            <a:pathLst>
              <a:path w="171450" h="152400">
                <a:moveTo>
                  <a:pt x="152519" y="71438"/>
                </a:moveTo>
                <a:lnTo>
                  <a:pt x="100132" y="71438"/>
                </a:lnTo>
                <a:cubicBezTo>
                  <a:pt x="94863" y="71438"/>
                  <a:pt x="90607" y="67181"/>
                  <a:pt x="90607" y="61912"/>
                </a:cubicBezTo>
                <a:lnTo>
                  <a:pt x="90607" y="9525"/>
                </a:lnTo>
                <a:cubicBezTo>
                  <a:pt x="90607" y="4256"/>
                  <a:pt x="94893" y="-60"/>
                  <a:pt x="100102" y="625"/>
                </a:cubicBezTo>
                <a:cubicBezTo>
                  <a:pt x="131951" y="4852"/>
                  <a:pt x="157192" y="30093"/>
                  <a:pt x="161419" y="61942"/>
                </a:cubicBezTo>
                <a:cubicBezTo>
                  <a:pt x="162104" y="67151"/>
                  <a:pt x="157788" y="71438"/>
                  <a:pt x="152519" y="71438"/>
                </a:cubicBezTo>
                <a:close/>
                <a:moveTo>
                  <a:pt x="66258" y="11073"/>
                </a:moveTo>
                <a:cubicBezTo>
                  <a:pt x="71646" y="9942"/>
                  <a:pt x="76319" y="14347"/>
                  <a:pt x="76319" y="19854"/>
                </a:cubicBezTo>
                <a:lnTo>
                  <a:pt x="76319" y="78581"/>
                </a:lnTo>
                <a:cubicBezTo>
                  <a:pt x="76319" y="80248"/>
                  <a:pt x="76914" y="81855"/>
                  <a:pt x="77956" y="83135"/>
                </a:cubicBezTo>
                <a:lnTo>
                  <a:pt x="117277" y="130582"/>
                </a:lnTo>
                <a:cubicBezTo>
                  <a:pt x="120759" y="134779"/>
                  <a:pt x="120015" y="141119"/>
                  <a:pt x="115223" y="143708"/>
                </a:cubicBezTo>
                <a:cubicBezTo>
                  <a:pt x="105073" y="149245"/>
                  <a:pt x="93434" y="152400"/>
                  <a:pt x="81082" y="152400"/>
                </a:cubicBezTo>
                <a:cubicBezTo>
                  <a:pt x="41642" y="152400"/>
                  <a:pt x="9644" y="120402"/>
                  <a:pt x="9644" y="80962"/>
                </a:cubicBezTo>
                <a:cubicBezTo>
                  <a:pt x="9644" y="46583"/>
                  <a:pt x="33903" y="17889"/>
                  <a:pt x="66258" y="11073"/>
                </a:cubicBezTo>
                <a:close/>
                <a:moveTo>
                  <a:pt x="142220" y="85725"/>
                </a:moveTo>
                <a:lnTo>
                  <a:pt x="161270" y="85725"/>
                </a:lnTo>
                <a:cubicBezTo>
                  <a:pt x="166777" y="85725"/>
                  <a:pt x="171182" y="90398"/>
                  <a:pt x="170051" y="95786"/>
                </a:cubicBezTo>
                <a:cubicBezTo>
                  <a:pt x="167015" y="110192"/>
                  <a:pt x="159633" y="122992"/>
                  <a:pt x="149334" y="132755"/>
                </a:cubicBezTo>
                <a:cubicBezTo>
                  <a:pt x="145673" y="136237"/>
                  <a:pt x="139928" y="135493"/>
                  <a:pt x="136714" y="131594"/>
                </a:cubicBezTo>
                <a:lnTo>
                  <a:pt x="111591" y="101322"/>
                </a:lnTo>
                <a:cubicBezTo>
                  <a:pt x="106442" y="95101"/>
                  <a:pt x="110877" y="85725"/>
                  <a:pt x="118914" y="85725"/>
                </a:cubicBezTo>
                <a:lnTo>
                  <a:pt x="142190" y="85725"/>
                </a:lnTo>
                <a:close/>
              </a:path>
            </a:pathLst>
          </a:custGeom>
          <a:solidFill>
            <a:srgbClr val="00C7BE"/>
          </a:solidFill>
          <a:ln/>
        </p:spPr>
      </p:sp>
      <p:sp>
        <p:nvSpPr>
          <p:cNvPr id="30" name="Text 28"/>
          <p:cNvSpPr/>
          <p:nvPr/>
        </p:nvSpPr>
        <p:spPr>
          <a:xfrm>
            <a:off x="4909781" y="3565210"/>
            <a:ext cx="110490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Opinion Trends</a:t>
            </a:r>
            <a:endParaRPr lang="en-US" sz="1600" dirty="0"/>
          </a:p>
        </p:txBody>
      </p:sp>
      <p:sp>
        <p:nvSpPr>
          <p:cNvPr id="31" name="Text 29"/>
          <p:cNvSpPr/>
          <p:nvPr/>
        </p:nvSpPr>
        <p:spPr>
          <a:xfrm>
            <a:off x="4643080" y="3870010"/>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Reflected overall sentiment distribution across the dataset</a:t>
            </a:r>
            <a:endParaRPr lang="en-US" sz="1600" dirty="0"/>
          </a:p>
        </p:txBody>
      </p:sp>
      <p:sp>
        <p:nvSpPr>
          <p:cNvPr id="32" name="Shape 30"/>
          <p:cNvSpPr/>
          <p:nvPr/>
        </p:nvSpPr>
        <p:spPr>
          <a:xfrm>
            <a:off x="4490680" y="4608198"/>
            <a:ext cx="3209925" cy="828675"/>
          </a:xfrm>
          <a:custGeom>
            <a:avLst/>
            <a:gdLst/>
            <a:ahLst/>
            <a:cxnLst/>
            <a:rect l="l" t="t" r="r" b="b"/>
            <a:pathLst>
              <a:path w="3209925" h="828675">
                <a:moveTo>
                  <a:pt x="152402" y="0"/>
                </a:moveTo>
                <a:lnTo>
                  <a:pt x="3057523" y="0"/>
                </a:lnTo>
                <a:cubicBezTo>
                  <a:pt x="3141692" y="0"/>
                  <a:pt x="3209925" y="68233"/>
                  <a:pt x="3209925" y="152402"/>
                </a:cubicBezTo>
                <a:lnTo>
                  <a:pt x="3209925" y="676273"/>
                </a:lnTo>
                <a:cubicBezTo>
                  <a:pt x="3209925" y="760442"/>
                  <a:pt x="3141692" y="828675"/>
                  <a:pt x="3057523" y="828675"/>
                </a:cubicBezTo>
                <a:lnTo>
                  <a:pt x="152402" y="828675"/>
                </a:lnTo>
                <a:cubicBezTo>
                  <a:pt x="68233" y="828675"/>
                  <a:pt x="0" y="760442"/>
                  <a:pt x="0" y="676273"/>
                </a:cubicBezTo>
                <a:lnTo>
                  <a:pt x="0" y="152402"/>
                </a:lnTo>
                <a:cubicBezTo>
                  <a:pt x="0" y="68233"/>
                  <a:pt x="68233" y="0"/>
                  <a:pt x="152402" y="0"/>
                </a:cubicBezTo>
                <a:close/>
              </a:path>
            </a:pathLst>
          </a:custGeom>
          <a:gradFill flip="none" rotWithShape="1">
            <a:gsLst>
              <a:gs pos="0">
                <a:srgbClr val="00C7BE">
                  <a:alpha val="10000"/>
                </a:srgbClr>
              </a:gs>
              <a:gs pos="100000">
                <a:srgbClr val="000000">
                  <a:alpha val="0"/>
                </a:srgbClr>
              </a:gs>
            </a:gsLst>
            <a:lin ang="2700000" scaled="1"/>
          </a:gradFill>
          <a:ln/>
        </p:spPr>
      </p:sp>
      <p:sp>
        <p:nvSpPr>
          <p:cNvPr id="33" name="Shape 31"/>
          <p:cNvSpPr/>
          <p:nvPr/>
        </p:nvSpPr>
        <p:spPr>
          <a:xfrm>
            <a:off x="4643080" y="4798698"/>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00C7BE"/>
          </a:solidFill>
          <a:ln/>
        </p:spPr>
      </p:sp>
      <p:sp>
        <p:nvSpPr>
          <p:cNvPr id="34" name="Text 32"/>
          <p:cNvSpPr/>
          <p:nvPr/>
        </p:nvSpPr>
        <p:spPr>
          <a:xfrm>
            <a:off x="4909781" y="4760598"/>
            <a:ext cx="160020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Balanced Performance</a:t>
            </a:r>
            <a:endParaRPr lang="en-US" sz="1600" dirty="0"/>
          </a:p>
        </p:txBody>
      </p:sp>
      <p:sp>
        <p:nvSpPr>
          <p:cNvPr id="35" name="Text 33"/>
          <p:cNvSpPr/>
          <p:nvPr/>
        </p:nvSpPr>
        <p:spPr>
          <a:xfrm>
            <a:off x="4643080" y="5065398"/>
            <a:ext cx="2971800" cy="219075"/>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Consistent accuracy across all sentiment classes</a:t>
            </a:r>
            <a:endParaRPr lang="en-US" sz="1600" dirty="0"/>
          </a:p>
        </p:txBody>
      </p:sp>
      <p:sp>
        <p:nvSpPr>
          <p:cNvPr id="36" name="Shape 34"/>
          <p:cNvSpPr/>
          <p:nvPr/>
        </p:nvSpPr>
        <p:spPr>
          <a:xfrm>
            <a:off x="8131731" y="1337310"/>
            <a:ext cx="3674745" cy="4551045"/>
          </a:xfrm>
          <a:custGeom>
            <a:avLst/>
            <a:gdLst/>
            <a:ahLst/>
            <a:cxnLst/>
            <a:rect l="l" t="t" r="r" b="b"/>
            <a:pathLst>
              <a:path w="3674745" h="4551045">
                <a:moveTo>
                  <a:pt x="228606" y="0"/>
                </a:moveTo>
                <a:lnTo>
                  <a:pt x="3446139" y="0"/>
                </a:lnTo>
                <a:cubicBezTo>
                  <a:pt x="3572395" y="0"/>
                  <a:pt x="3674745" y="102350"/>
                  <a:pt x="3674745" y="228606"/>
                </a:cubicBezTo>
                <a:lnTo>
                  <a:pt x="3674745" y="4322439"/>
                </a:lnTo>
                <a:cubicBezTo>
                  <a:pt x="3674745" y="4448695"/>
                  <a:pt x="3572395" y="4551045"/>
                  <a:pt x="3446139" y="4551045"/>
                </a:cubicBezTo>
                <a:lnTo>
                  <a:pt x="228606" y="4551045"/>
                </a:lnTo>
                <a:cubicBezTo>
                  <a:pt x="102350" y="4551045"/>
                  <a:pt x="0" y="4448695"/>
                  <a:pt x="0" y="4322439"/>
                </a:cubicBezTo>
                <a:lnTo>
                  <a:pt x="0" y="228606"/>
                </a:lnTo>
                <a:cubicBezTo>
                  <a:pt x="0" y="102435"/>
                  <a:pt x="102435" y="0"/>
                  <a:pt x="228606" y="0"/>
                </a:cubicBezTo>
                <a:close/>
              </a:path>
            </a:pathLst>
          </a:custGeom>
          <a:solidFill>
            <a:srgbClr val="FFFFFF">
              <a:alpha val="85098"/>
            </a:srgbClr>
          </a:solidFill>
          <a:ln w="10160">
            <a:solidFill>
              <a:srgbClr val="FFFFFF">
                <a:alpha val="30196"/>
              </a:srgbClr>
            </a:solidFill>
            <a:prstDash val="solid"/>
          </a:ln>
        </p:spPr>
      </p:sp>
      <p:sp>
        <p:nvSpPr>
          <p:cNvPr id="37" name="Shape 35"/>
          <p:cNvSpPr/>
          <p:nvPr/>
        </p:nvSpPr>
        <p:spPr>
          <a:xfrm>
            <a:off x="8364141" y="1569723"/>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10196"/>
            </a:srgbClr>
          </a:solidFill>
          <a:ln/>
        </p:spPr>
      </p:sp>
      <p:sp>
        <p:nvSpPr>
          <p:cNvPr id="38" name="Shape 36"/>
          <p:cNvSpPr/>
          <p:nvPr/>
        </p:nvSpPr>
        <p:spPr>
          <a:xfrm>
            <a:off x="8478441" y="1684023"/>
            <a:ext cx="228600" cy="228600"/>
          </a:xfrm>
          <a:custGeom>
            <a:avLst/>
            <a:gdLst/>
            <a:ahLst/>
            <a:cxnLst/>
            <a:rect l="l" t="t" r="r" b="b"/>
            <a:pathLst>
              <a:path w="228600" h="228600">
                <a:moveTo>
                  <a:pt x="14288" y="14288"/>
                </a:moveTo>
                <a:cubicBezTo>
                  <a:pt x="22190" y="14288"/>
                  <a:pt x="28575" y="20672"/>
                  <a:pt x="28575" y="28575"/>
                </a:cubicBezTo>
                <a:lnTo>
                  <a:pt x="28575" y="178594"/>
                </a:lnTo>
                <a:cubicBezTo>
                  <a:pt x="28575" y="182523"/>
                  <a:pt x="31790" y="185738"/>
                  <a:pt x="35719" y="185738"/>
                </a:cubicBezTo>
                <a:lnTo>
                  <a:pt x="214313" y="185738"/>
                </a:lnTo>
                <a:cubicBezTo>
                  <a:pt x="222215" y="185738"/>
                  <a:pt x="228600" y="192122"/>
                  <a:pt x="228600" y="200025"/>
                </a:cubicBezTo>
                <a:cubicBezTo>
                  <a:pt x="228600" y="207928"/>
                  <a:pt x="222215" y="214313"/>
                  <a:pt x="214313" y="214313"/>
                </a:cubicBezTo>
                <a:lnTo>
                  <a:pt x="35719" y="214313"/>
                </a:lnTo>
                <a:cubicBezTo>
                  <a:pt x="15984" y="214313"/>
                  <a:pt x="0" y="198328"/>
                  <a:pt x="0" y="178594"/>
                </a:cubicBezTo>
                <a:lnTo>
                  <a:pt x="0" y="28575"/>
                </a:lnTo>
                <a:cubicBezTo>
                  <a:pt x="0" y="20672"/>
                  <a:pt x="6385" y="14288"/>
                  <a:pt x="14288" y="14288"/>
                </a:cubicBezTo>
                <a:close/>
                <a:moveTo>
                  <a:pt x="107156" y="42863"/>
                </a:moveTo>
                <a:cubicBezTo>
                  <a:pt x="110148" y="42863"/>
                  <a:pt x="113005" y="44113"/>
                  <a:pt x="115059" y="46345"/>
                </a:cubicBezTo>
                <a:lnTo>
                  <a:pt x="146804" y="80948"/>
                </a:lnTo>
                <a:lnTo>
                  <a:pt x="167432" y="60275"/>
                </a:lnTo>
                <a:cubicBezTo>
                  <a:pt x="171629" y="56078"/>
                  <a:pt x="178415" y="56078"/>
                  <a:pt x="182567" y="60275"/>
                </a:cubicBezTo>
                <a:lnTo>
                  <a:pt x="211142" y="88850"/>
                </a:lnTo>
                <a:cubicBezTo>
                  <a:pt x="213152" y="90860"/>
                  <a:pt x="214268" y="93583"/>
                  <a:pt x="214268" y="96441"/>
                </a:cubicBezTo>
                <a:lnTo>
                  <a:pt x="214268" y="146447"/>
                </a:lnTo>
                <a:cubicBezTo>
                  <a:pt x="214268" y="152385"/>
                  <a:pt x="209490" y="157163"/>
                  <a:pt x="203552" y="157163"/>
                </a:cubicBezTo>
                <a:lnTo>
                  <a:pt x="67821" y="157163"/>
                </a:lnTo>
                <a:cubicBezTo>
                  <a:pt x="61883" y="157163"/>
                  <a:pt x="57105" y="152385"/>
                  <a:pt x="57105" y="146447"/>
                </a:cubicBezTo>
                <a:lnTo>
                  <a:pt x="57105" y="96441"/>
                </a:lnTo>
                <a:cubicBezTo>
                  <a:pt x="57105" y="93762"/>
                  <a:pt x="58132" y="91172"/>
                  <a:pt x="59918" y="89208"/>
                </a:cubicBezTo>
                <a:lnTo>
                  <a:pt x="99209" y="46345"/>
                </a:lnTo>
                <a:cubicBezTo>
                  <a:pt x="101218" y="44113"/>
                  <a:pt x="104120" y="42863"/>
                  <a:pt x="107112" y="42863"/>
                </a:cubicBezTo>
                <a:close/>
              </a:path>
            </a:pathLst>
          </a:custGeom>
          <a:solidFill>
            <a:srgbClr val="0071E3"/>
          </a:solidFill>
          <a:ln/>
        </p:spPr>
      </p:sp>
      <p:sp>
        <p:nvSpPr>
          <p:cNvPr id="39" name="Text 37"/>
          <p:cNvSpPr/>
          <p:nvPr/>
        </p:nvSpPr>
        <p:spPr>
          <a:xfrm>
            <a:off x="8935641" y="1645923"/>
            <a:ext cx="1390650"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Visualization</a:t>
            </a:r>
            <a:endParaRPr lang="en-US" sz="1600" dirty="0"/>
          </a:p>
        </p:txBody>
      </p:sp>
      <p:sp>
        <p:nvSpPr>
          <p:cNvPr id="40" name="Shape 38"/>
          <p:cNvSpPr/>
          <p:nvPr/>
        </p:nvSpPr>
        <p:spPr>
          <a:xfrm>
            <a:off x="8364141" y="2217423"/>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71E3">
                  <a:alpha val="10000"/>
                </a:srgbClr>
              </a:gs>
              <a:gs pos="100000">
                <a:srgbClr val="000000">
                  <a:alpha val="0"/>
                </a:srgbClr>
              </a:gs>
            </a:gsLst>
            <a:lin ang="2700000" scaled="1"/>
          </a:gradFill>
          <a:ln/>
        </p:spPr>
      </p:sp>
      <p:sp>
        <p:nvSpPr>
          <p:cNvPr id="41" name="Shape 39"/>
          <p:cNvSpPr/>
          <p:nvPr/>
        </p:nvSpPr>
        <p:spPr>
          <a:xfrm>
            <a:off x="8535591" y="2407923"/>
            <a:ext cx="152400" cy="152400"/>
          </a:xfrm>
          <a:custGeom>
            <a:avLst/>
            <a:gdLst/>
            <a:ahLst/>
            <a:cxnLst/>
            <a:rect l="l" t="t" r="r" b="b"/>
            <a:pathLst>
              <a:path w="152400" h="152400">
                <a:moveTo>
                  <a:pt x="19050" y="9525"/>
                </a:moveTo>
                <a:cubicBezTo>
                  <a:pt x="8543" y="9525"/>
                  <a:pt x="0" y="18068"/>
                  <a:pt x="0" y="28575"/>
                </a:cubicBezTo>
                <a:lnTo>
                  <a:pt x="0" y="104775"/>
                </a:lnTo>
                <a:cubicBezTo>
                  <a:pt x="0" y="115282"/>
                  <a:pt x="8543" y="123825"/>
                  <a:pt x="19050" y="123825"/>
                </a:cubicBezTo>
                <a:lnTo>
                  <a:pt x="61912" y="123825"/>
                </a:lnTo>
                <a:lnTo>
                  <a:pt x="57150" y="138113"/>
                </a:lnTo>
                <a:lnTo>
                  <a:pt x="35719" y="138113"/>
                </a:lnTo>
                <a:cubicBezTo>
                  <a:pt x="31760" y="138113"/>
                  <a:pt x="28575" y="141297"/>
                  <a:pt x="28575" y="145256"/>
                </a:cubicBezTo>
                <a:cubicBezTo>
                  <a:pt x="28575" y="149215"/>
                  <a:pt x="31760" y="152400"/>
                  <a:pt x="35719" y="152400"/>
                </a:cubicBezTo>
                <a:lnTo>
                  <a:pt x="116681" y="152400"/>
                </a:lnTo>
                <a:cubicBezTo>
                  <a:pt x="120640" y="152400"/>
                  <a:pt x="123825" y="149215"/>
                  <a:pt x="123825" y="145256"/>
                </a:cubicBezTo>
                <a:cubicBezTo>
                  <a:pt x="123825" y="141297"/>
                  <a:pt x="120640" y="138113"/>
                  <a:pt x="116681" y="138113"/>
                </a:cubicBezTo>
                <a:lnTo>
                  <a:pt x="95250" y="138113"/>
                </a:lnTo>
                <a:lnTo>
                  <a:pt x="90488" y="123825"/>
                </a:lnTo>
                <a:lnTo>
                  <a:pt x="133350" y="123825"/>
                </a:lnTo>
                <a:cubicBezTo>
                  <a:pt x="143857" y="123825"/>
                  <a:pt x="152400" y="115282"/>
                  <a:pt x="152400" y="104775"/>
                </a:cubicBezTo>
                <a:lnTo>
                  <a:pt x="152400" y="28575"/>
                </a:lnTo>
                <a:cubicBezTo>
                  <a:pt x="152400" y="18068"/>
                  <a:pt x="143857" y="9525"/>
                  <a:pt x="133350" y="9525"/>
                </a:cubicBezTo>
                <a:lnTo>
                  <a:pt x="19050" y="9525"/>
                </a:lnTo>
                <a:close/>
                <a:moveTo>
                  <a:pt x="28575" y="28575"/>
                </a:moveTo>
                <a:lnTo>
                  <a:pt x="123825" y="28575"/>
                </a:lnTo>
                <a:cubicBezTo>
                  <a:pt x="129094" y="28575"/>
                  <a:pt x="133350" y="32831"/>
                  <a:pt x="133350" y="38100"/>
                </a:cubicBezTo>
                <a:lnTo>
                  <a:pt x="133350" y="85725"/>
                </a:lnTo>
                <a:cubicBezTo>
                  <a:pt x="133350" y="90994"/>
                  <a:pt x="129094" y="95250"/>
                  <a:pt x="123825" y="95250"/>
                </a:cubicBezTo>
                <a:lnTo>
                  <a:pt x="28575" y="95250"/>
                </a:lnTo>
                <a:cubicBezTo>
                  <a:pt x="23306" y="95250"/>
                  <a:pt x="19050" y="90994"/>
                  <a:pt x="19050" y="85725"/>
                </a:cubicBezTo>
                <a:lnTo>
                  <a:pt x="19050" y="38100"/>
                </a:lnTo>
                <a:cubicBezTo>
                  <a:pt x="19050" y="32831"/>
                  <a:pt x="23306" y="28575"/>
                  <a:pt x="28575" y="28575"/>
                </a:cubicBezTo>
                <a:close/>
              </a:path>
            </a:pathLst>
          </a:custGeom>
          <a:solidFill>
            <a:srgbClr val="0071E3"/>
          </a:solidFill>
          <a:ln/>
        </p:spPr>
      </p:sp>
      <p:sp>
        <p:nvSpPr>
          <p:cNvPr id="42" name="Text 40"/>
          <p:cNvSpPr/>
          <p:nvPr/>
        </p:nvSpPr>
        <p:spPr>
          <a:xfrm>
            <a:off x="8783241" y="2369823"/>
            <a:ext cx="15335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Integrated Dashboard</a:t>
            </a:r>
            <a:endParaRPr lang="en-US" sz="1600" dirty="0"/>
          </a:p>
        </p:txBody>
      </p:sp>
      <p:sp>
        <p:nvSpPr>
          <p:cNvPr id="43" name="Text 41"/>
          <p:cNvSpPr/>
          <p:nvPr/>
        </p:nvSpPr>
        <p:spPr>
          <a:xfrm>
            <a:off x="8516541" y="2674623"/>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Web application with seamless visualization integration</a:t>
            </a:r>
            <a:endParaRPr lang="en-US" sz="1600" dirty="0"/>
          </a:p>
        </p:txBody>
      </p:sp>
      <p:sp>
        <p:nvSpPr>
          <p:cNvPr id="44" name="Shape 42"/>
          <p:cNvSpPr/>
          <p:nvPr/>
        </p:nvSpPr>
        <p:spPr>
          <a:xfrm>
            <a:off x="8364141" y="3412810"/>
            <a:ext cx="3209925" cy="1047750"/>
          </a:xfrm>
          <a:custGeom>
            <a:avLst/>
            <a:gdLst/>
            <a:ahLst/>
            <a:cxnLst/>
            <a:rect l="l" t="t" r="r" b="b"/>
            <a:pathLst>
              <a:path w="3209925" h="1047750">
                <a:moveTo>
                  <a:pt x="152395" y="0"/>
                </a:moveTo>
                <a:lnTo>
                  <a:pt x="3057530" y="0"/>
                </a:lnTo>
                <a:cubicBezTo>
                  <a:pt x="3141695" y="0"/>
                  <a:pt x="3209925" y="68230"/>
                  <a:pt x="3209925" y="152395"/>
                </a:cubicBezTo>
                <a:lnTo>
                  <a:pt x="3209925" y="895355"/>
                </a:lnTo>
                <a:cubicBezTo>
                  <a:pt x="3209925" y="979520"/>
                  <a:pt x="3141695" y="1047750"/>
                  <a:pt x="3057530" y="1047750"/>
                </a:cubicBezTo>
                <a:lnTo>
                  <a:pt x="152395" y="1047750"/>
                </a:lnTo>
                <a:cubicBezTo>
                  <a:pt x="68230" y="1047750"/>
                  <a:pt x="0" y="979520"/>
                  <a:pt x="0" y="895355"/>
                </a:cubicBezTo>
                <a:lnTo>
                  <a:pt x="0" y="152395"/>
                </a:lnTo>
                <a:cubicBezTo>
                  <a:pt x="0" y="68230"/>
                  <a:pt x="68230" y="0"/>
                  <a:pt x="152395" y="0"/>
                </a:cubicBezTo>
                <a:close/>
              </a:path>
            </a:pathLst>
          </a:custGeom>
          <a:gradFill flip="none" rotWithShape="1">
            <a:gsLst>
              <a:gs pos="0">
                <a:srgbClr val="0071E3">
                  <a:alpha val="10000"/>
                </a:srgbClr>
              </a:gs>
              <a:gs pos="100000">
                <a:srgbClr val="000000">
                  <a:alpha val="0"/>
                </a:srgbClr>
              </a:gs>
            </a:gsLst>
            <a:lin ang="2700000" scaled="1"/>
          </a:gradFill>
          <a:ln/>
        </p:spPr>
      </p:sp>
      <p:sp>
        <p:nvSpPr>
          <p:cNvPr id="45" name="Shape 43"/>
          <p:cNvSpPr/>
          <p:nvPr/>
        </p:nvSpPr>
        <p:spPr>
          <a:xfrm>
            <a:off x="8526066" y="3603310"/>
            <a:ext cx="171450" cy="152400"/>
          </a:xfrm>
          <a:custGeom>
            <a:avLst/>
            <a:gdLst/>
            <a:ahLst/>
            <a:cxnLst/>
            <a:rect l="l" t="t" r="r" b="b"/>
            <a:pathLst>
              <a:path w="171450" h="152400">
                <a:moveTo>
                  <a:pt x="85725" y="9525"/>
                </a:moveTo>
                <a:cubicBezTo>
                  <a:pt x="61674" y="9525"/>
                  <a:pt x="42416" y="20479"/>
                  <a:pt x="28396" y="33516"/>
                </a:cubicBezTo>
                <a:cubicBezTo>
                  <a:pt x="14466" y="46464"/>
                  <a:pt x="5149" y="61912"/>
                  <a:pt x="714" y="72539"/>
                </a:cubicBezTo>
                <a:cubicBezTo>
                  <a:pt x="-268" y="74890"/>
                  <a:pt x="-268" y="77510"/>
                  <a:pt x="714" y="79861"/>
                </a:cubicBezTo>
                <a:cubicBezTo>
                  <a:pt x="5149" y="90488"/>
                  <a:pt x="14466" y="105966"/>
                  <a:pt x="28396" y="118884"/>
                </a:cubicBezTo>
                <a:cubicBezTo>
                  <a:pt x="42416" y="131891"/>
                  <a:pt x="61674" y="142875"/>
                  <a:pt x="85725" y="142875"/>
                </a:cubicBezTo>
                <a:cubicBezTo>
                  <a:pt x="109776" y="142875"/>
                  <a:pt x="129034" y="131921"/>
                  <a:pt x="143054" y="118884"/>
                </a:cubicBezTo>
                <a:cubicBezTo>
                  <a:pt x="156984" y="105936"/>
                  <a:pt x="166301" y="90488"/>
                  <a:pt x="170736" y="79861"/>
                </a:cubicBezTo>
                <a:cubicBezTo>
                  <a:pt x="171718" y="77510"/>
                  <a:pt x="171718" y="74890"/>
                  <a:pt x="170736" y="72539"/>
                </a:cubicBezTo>
                <a:cubicBezTo>
                  <a:pt x="166301" y="61912"/>
                  <a:pt x="156984" y="46434"/>
                  <a:pt x="143054" y="33516"/>
                </a:cubicBezTo>
                <a:cubicBezTo>
                  <a:pt x="129034" y="20509"/>
                  <a:pt x="109776" y="9525"/>
                  <a:pt x="85725" y="9525"/>
                </a:cubicBezTo>
                <a:close/>
                <a:moveTo>
                  <a:pt x="42863" y="76200"/>
                </a:moveTo>
                <a:cubicBezTo>
                  <a:pt x="42863" y="52544"/>
                  <a:pt x="62069" y="33338"/>
                  <a:pt x="85725" y="33338"/>
                </a:cubicBezTo>
                <a:cubicBezTo>
                  <a:pt x="109381" y="33338"/>
                  <a:pt x="128588" y="52544"/>
                  <a:pt x="128588" y="76200"/>
                </a:cubicBezTo>
                <a:cubicBezTo>
                  <a:pt x="128588" y="99856"/>
                  <a:pt x="109381" y="119062"/>
                  <a:pt x="85725" y="119062"/>
                </a:cubicBezTo>
                <a:cubicBezTo>
                  <a:pt x="62069" y="119062"/>
                  <a:pt x="42863" y="99856"/>
                  <a:pt x="42863" y="76200"/>
                </a:cubicBezTo>
                <a:close/>
                <a:moveTo>
                  <a:pt x="85725" y="57150"/>
                </a:moveTo>
                <a:cubicBezTo>
                  <a:pt x="85725" y="67657"/>
                  <a:pt x="77182" y="76200"/>
                  <a:pt x="66675" y="76200"/>
                </a:cubicBezTo>
                <a:cubicBezTo>
                  <a:pt x="63252" y="76200"/>
                  <a:pt x="60037" y="75307"/>
                  <a:pt x="57239" y="73700"/>
                </a:cubicBezTo>
                <a:cubicBezTo>
                  <a:pt x="56942" y="76944"/>
                  <a:pt x="57210" y="80278"/>
                  <a:pt x="58103" y="83582"/>
                </a:cubicBezTo>
                <a:cubicBezTo>
                  <a:pt x="62180" y="98822"/>
                  <a:pt x="77867" y="107871"/>
                  <a:pt x="93107" y="103793"/>
                </a:cubicBezTo>
                <a:cubicBezTo>
                  <a:pt x="108347" y="99715"/>
                  <a:pt x="117396" y="84028"/>
                  <a:pt x="113318" y="68788"/>
                </a:cubicBezTo>
                <a:cubicBezTo>
                  <a:pt x="109686" y="55185"/>
                  <a:pt x="96798" y="46524"/>
                  <a:pt x="83225" y="47714"/>
                </a:cubicBezTo>
                <a:cubicBezTo>
                  <a:pt x="84802" y="50483"/>
                  <a:pt x="85725" y="53697"/>
                  <a:pt x="85725" y="57150"/>
                </a:cubicBezTo>
                <a:close/>
              </a:path>
            </a:pathLst>
          </a:custGeom>
          <a:solidFill>
            <a:srgbClr val="0071E3"/>
          </a:solidFill>
          <a:ln/>
        </p:spPr>
      </p:sp>
      <p:sp>
        <p:nvSpPr>
          <p:cNvPr id="46" name="Text 44"/>
          <p:cNvSpPr/>
          <p:nvPr/>
        </p:nvSpPr>
        <p:spPr>
          <a:xfrm>
            <a:off x="8783241" y="3565210"/>
            <a:ext cx="138112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Clear Interpretation</a:t>
            </a:r>
            <a:endParaRPr lang="en-US" sz="1600" dirty="0"/>
          </a:p>
        </p:txBody>
      </p:sp>
      <p:sp>
        <p:nvSpPr>
          <p:cNvPr id="47" name="Text 45"/>
          <p:cNvSpPr/>
          <p:nvPr/>
        </p:nvSpPr>
        <p:spPr>
          <a:xfrm>
            <a:off x="8516541" y="3870010"/>
            <a:ext cx="29718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Intuitive visual representation of topics and sentiment distributions</a:t>
            </a:r>
            <a:endParaRPr lang="en-US" sz="1600" dirty="0"/>
          </a:p>
        </p:txBody>
      </p:sp>
      <p:sp>
        <p:nvSpPr>
          <p:cNvPr id="48" name="Shape 46"/>
          <p:cNvSpPr/>
          <p:nvPr/>
        </p:nvSpPr>
        <p:spPr>
          <a:xfrm>
            <a:off x="8364141" y="4608198"/>
            <a:ext cx="3209925" cy="828675"/>
          </a:xfrm>
          <a:custGeom>
            <a:avLst/>
            <a:gdLst/>
            <a:ahLst/>
            <a:cxnLst/>
            <a:rect l="l" t="t" r="r" b="b"/>
            <a:pathLst>
              <a:path w="3209925" h="828675">
                <a:moveTo>
                  <a:pt x="152402" y="0"/>
                </a:moveTo>
                <a:lnTo>
                  <a:pt x="3057523" y="0"/>
                </a:lnTo>
                <a:cubicBezTo>
                  <a:pt x="3141692" y="0"/>
                  <a:pt x="3209925" y="68233"/>
                  <a:pt x="3209925" y="152402"/>
                </a:cubicBezTo>
                <a:lnTo>
                  <a:pt x="3209925" y="676273"/>
                </a:lnTo>
                <a:cubicBezTo>
                  <a:pt x="3209925" y="760442"/>
                  <a:pt x="3141692" y="828675"/>
                  <a:pt x="3057523" y="828675"/>
                </a:cubicBezTo>
                <a:lnTo>
                  <a:pt x="152402" y="828675"/>
                </a:lnTo>
                <a:cubicBezTo>
                  <a:pt x="68233" y="828675"/>
                  <a:pt x="0" y="760442"/>
                  <a:pt x="0" y="676273"/>
                </a:cubicBezTo>
                <a:lnTo>
                  <a:pt x="0" y="152402"/>
                </a:lnTo>
                <a:cubicBezTo>
                  <a:pt x="0" y="68233"/>
                  <a:pt x="68233" y="0"/>
                  <a:pt x="152402" y="0"/>
                </a:cubicBezTo>
                <a:close/>
              </a:path>
            </a:pathLst>
          </a:custGeom>
          <a:gradFill flip="none" rotWithShape="1">
            <a:gsLst>
              <a:gs pos="0">
                <a:srgbClr val="0071E3">
                  <a:alpha val="10000"/>
                </a:srgbClr>
              </a:gs>
              <a:gs pos="100000">
                <a:srgbClr val="000000">
                  <a:alpha val="0"/>
                </a:srgbClr>
              </a:gs>
            </a:gsLst>
            <a:lin ang="2700000" scaled="1"/>
          </a:gradFill>
          <a:ln/>
        </p:spPr>
      </p:sp>
      <p:sp>
        <p:nvSpPr>
          <p:cNvPr id="49" name="Shape 47"/>
          <p:cNvSpPr/>
          <p:nvPr/>
        </p:nvSpPr>
        <p:spPr>
          <a:xfrm>
            <a:off x="8545116" y="4798698"/>
            <a:ext cx="133350" cy="152400"/>
          </a:xfrm>
          <a:custGeom>
            <a:avLst/>
            <a:gdLst/>
            <a:ahLst/>
            <a:cxnLst/>
            <a:rect l="l" t="t" r="r" b="b"/>
            <a:pathLst>
              <a:path w="133350" h="152400">
                <a:moveTo>
                  <a:pt x="23009" y="744"/>
                </a:moveTo>
                <a:cubicBezTo>
                  <a:pt x="25420" y="-476"/>
                  <a:pt x="28337" y="-208"/>
                  <a:pt x="30480" y="1429"/>
                </a:cubicBezTo>
                <a:lnTo>
                  <a:pt x="125730" y="72836"/>
                </a:lnTo>
                <a:cubicBezTo>
                  <a:pt x="128201" y="74682"/>
                  <a:pt x="129183" y="77897"/>
                  <a:pt x="128230" y="80814"/>
                </a:cubicBezTo>
                <a:cubicBezTo>
                  <a:pt x="127278" y="83731"/>
                  <a:pt x="124539" y="85695"/>
                  <a:pt x="121444" y="85695"/>
                </a:cubicBezTo>
                <a:lnTo>
                  <a:pt x="76111" y="85695"/>
                </a:lnTo>
                <a:lnTo>
                  <a:pt x="102572" y="138589"/>
                </a:lnTo>
                <a:cubicBezTo>
                  <a:pt x="104924" y="143292"/>
                  <a:pt x="103019" y="149007"/>
                  <a:pt x="98316" y="151358"/>
                </a:cubicBezTo>
                <a:cubicBezTo>
                  <a:pt x="93613" y="153710"/>
                  <a:pt x="87898" y="151805"/>
                  <a:pt x="85546" y="147102"/>
                </a:cubicBezTo>
                <a:lnTo>
                  <a:pt x="59085" y="94208"/>
                </a:lnTo>
                <a:lnTo>
                  <a:pt x="31909" y="130463"/>
                </a:lnTo>
                <a:cubicBezTo>
                  <a:pt x="30063" y="132933"/>
                  <a:pt x="26849" y="133916"/>
                  <a:pt x="23932" y="132963"/>
                </a:cubicBezTo>
                <a:cubicBezTo>
                  <a:pt x="21015" y="132011"/>
                  <a:pt x="19050" y="129272"/>
                  <a:pt x="19050" y="126206"/>
                </a:cubicBezTo>
                <a:lnTo>
                  <a:pt x="19050" y="7144"/>
                </a:lnTo>
                <a:cubicBezTo>
                  <a:pt x="19050" y="4435"/>
                  <a:pt x="20568" y="1965"/>
                  <a:pt x="23009" y="744"/>
                </a:cubicBezTo>
                <a:close/>
              </a:path>
            </a:pathLst>
          </a:custGeom>
          <a:solidFill>
            <a:srgbClr val="0071E3"/>
          </a:solidFill>
          <a:ln/>
        </p:spPr>
      </p:sp>
      <p:sp>
        <p:nvSpPr>
          <p:cNvPr id="50" name="Text 48"/>
          <p:cNvSpPr/>
          <p:nvPr/>
        </p:nvSpPr>
        <p:spPr>
          <a:xfrm>
            <a:off x="8783241" y="4760598"/>
            <a:ext cx="140970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Interactive Features</a:t>
            </a:r>
            <a:endParaRPr lang="en-US" sz="1600" dirty="0"/>
          </a:p>
        </p:txBody>
      </p:sp>
      <p:sp>
        <p:nvSpPr>
          <p:cNvPr id="51" name="Text 49"/>
          <p:cNvSpPr/>
          <p:nvPr/>
        </p:nvSpPr>
        <p:spPr>
          <a:xfrm>
            <a:off x="8516541" y="5065398"/>
            <a:ext cx="2971800" cy="219075"/>
          </a:xfrm>
          <a:prstGeom prst="rect">
            <a:avLst/>
          </a:prstGeom>
          <a:noFill/>
          <a:ln/>
        </p:spPr>
        <p:txBody>
          <a:bodyPr wrap="square" lIns="0" tIns="0" rIns="0" bIns="0" rtlCol="0" anchor="ctr"/>
          <a:lstStyle/>
          <a:p>
            <a:pPr>
              <a:lnSpc>
                <a:spcPct val="140000"/>
              </a:lnSpc>
            </a:pPr>
            <a:r>
              <a:rPr lang="en-US" sz="1050" dirty="0">
                <a:solidFill>
                  <a:srgbClr val="86868B"/>
                </a:solidFill>
                <a:latin typeface="Quattrocento Sans" pitchFamily="34" charset="0"/>
                <a:ea typeface="Quattrocento Sans" pitchFamily="34" charset="-122"/>
                <a:cs typeface="Quattrocento Sans" pitchFamily="34" charset="-120"/>
              </a:rPr>
              <a:t>Real-time analysis with dynamic visual updates</a:t>
            </a:r>
            <a:endParaRPr lang="en-US" sz="1600" dirty="0"/>
          </a:p>
        </p:txBody>
      </p:sp>
      <p:sp>
        <p:nvSpPr>
          <p:cNvPr id="52" name="Shape 50"/>
          <p:cNvSpPr/>
          <p:nvPr/>
        </p:nvSpPr>
        <p:spPr>
          <a:xfrm>
            <a:off x="3786902" y="6077903"/>
            <a:ext cx="2552700" cy="457200"/>
          </a:xfrm>
          <a:custGeom>
            <a:avLst/>
            <a:gdLst/>
            <a:ahLst/>
            <a:cxnLst/>
            <a:rect l="l" t="t" r="r" b="b"/>
            <a:pathLst>
              <a:path w="2552700" h="457200">
                <a:moveTo>
                  <a:pt x="228600" y="0"/>
                </a:moveTo>
                <a:lnTo>
                  <a:pt x="2324100" y="0"/>
                </a:lnTo>
                <a:cubicBezTo>
                  <a:pt x="2450268" y="0"/>
                  <a:pt x="2552700" y="102432"/>
                  <a:pt x="2552700" y="228600"/>
                </a:cubicBezTo>
                <a:lnTo>
                  <a:pt x="2552700" y="228600"/>
                </a:lnTo>
                <a:cubicBezTo>
                  <a:pt x="2552700" y="354768"/>
                  <a:pt x="2450268" y="457200"/>
                  <a:pt x="23241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0071E3"/>
          </a:solidFill>
          <a:ln/>
        </p:spPr>
      </p:sp>
      <p:sp>
        <p:nvSpPr>
          <p:cNvPr id="53" name="Shape 51"/>
          <p:cNvSpPr/>
          <p:nvPr/>
        </p:nvSpPr>
        <p:spPr>
          <a:xfrm>
            <a:off x="4034552" y="6230303"/>
            <a:ext cx="152400" cy="152400"/>
          </a:xfrm>
          <a:custGeom>
            <a:avLst/>
            <a:gdLst/>
            <a:ahLst/>
            <a:cxnLst/>
            <a:rect l="l" t="t" r="r" b="b"/>
            <a:pathLst>
              <a:path w="152400" h="152400">
                <a:moveTo>
                  <a:pt x="42952" y="0"/>
                </a:moveTo>
                <a:lnTo>
                  <a:pt x="109627" y="0"/>
                </a:lnTo>
                <a:cubicBezTo>
                  <a:pt x="117515" y="0"/>
                  <a:pt x="123944" y="6489"/>
                  <a:pt x="123646" y="14347"/>
                </a:cubicBezTo>
                <a:cubicBezTo>
                  <a:pt x="123587" y="15925"/>
                  <a:pt x="123527" y="17502"/>
                  <a:pt x="123438" y="19050"/>
                </a:cubicBezTo>
                <a:lnTo>
                  <a:pt x="138202" y="19050"/>
                </a:lnTo>
                <a:cubicBezTo>
                  <a:pt x="145971" y="19050"/>
                  <a:pt x="152817" y="25479"/>
                  <a:pt x="152221" y="33873"/>
                </a:cubicBezTo>
                <a:cubicBezTo>
                  <a:pt x="149989" y="64740"/>
                  <a:pt x="134213" y="81707"/>
                  <a:pt x="117098" y="90577"/>
                </a:cubicBezTo>
                <a:cubicBezTo>
                  <a:pt x="112395" y="93018"/>
                  <a:pt x="107603" y="94833"/>
                  <a:pt x="103049" y="96173"/>
                </a:cubicBezTo>
                <a:cubicBezTo>
                  <a:pt x="97036" y="104686"/>
                  <a:pt x="90785" y="109180"/>
                  <a:pt x="85814" y="111591"/>
                </a:cubicBezTo>
                <a:lnTo>
                  <a:pt x="85814" y="133350"/>
                </a:lnTo>
                <a:lnTo>
                  <a:pt x="104864" y="133350"/>
                </a:lnTo>
                <a:cubicBezTo>
                  <a:pt x="110133" y="133350"/>
                  <a:pt x="114389" y="137606"/>
                  <a:pt x="114389" y="142875"/>
                </a:cubicBezTo>
                <a:cubicBezTo>
                  <a:pt x="114389" y="148144"/>
                  <a:pt x="110133" y="152400"/>
                  <a:pt x="104864" y="152400"/>
                </a:cubicBezTo>
                <a:lnTo>
                  <a:pt x="47714" y="152400"/>
                </a:lnTo>
                <a:cubicBezTo>
                  <a:pt x="42446" y="152400"/>
                  <a:pt x="38189" y="148144"/>
                  <a:pt x="38189" y="142875"/>
                </a:cubicBezTo>
                <a:cubicBezTo>
                  <a:pt x="38189" y="137606"/>
                  <a:pt x="42446" y="133350"/>
                  <a:pt x="47714" y="133350"/>
                </a:cubicBezTo>
                <a:lnTo>
                  <a:pt x="66764" y="133350"/>
                </a:lnTo>
                <a:lnTo>
                  <a:pt x="66764" y="111591"/>
                </a:lnTo>
                <a:cubicBezTo>
                  <a:pt x="62002" y="109299"/>
                  <a:pt x="56078" y="105043"/>
                  <a:pt x="50304" y="97215"/>
                </a:cubicBezTo>
                <a:cubicBezTo>
                  <a:pt x="44827" y="95786"/>
                  <a:pt x="38874" y="93613"/>
                  <a:pt x="33070" y="90339"/>
                </a:cubicBezTo>
                <a:cubicBezTo>
                  <a:pt x="16966" y="81320"/>
                  <a:pt x="2441" y="64324"/>
                  <a:pt x="357" y="33814"/>
                </a:cubicBezTo>
                <a:cubicBezTo>
                  <a:pt x="-208" y="25450"/>
                  <a:pt x="6608" y="19020"/>
                  <a:pt x="14377" y="19020"/>
                </a:cubicBezTo>
                <a:lnTo>
                  <a:pt x="29141" y="19020"/>
                </a:lnTo>
                <a:cubicBezTo>
                  <a:pt x="29051" y="17472"/>
                  <a:pt x="28992" y="15925"/>
                  <a:pt x="28932" y="14317"/>
                </a:cubicBezTo>
                <a:cubicBezTo>
                  <a:pt x="28635" y="6429"/>
                  <a:pt x="35064" y="-30"/>
                  <a:pt x="42952" y="-30"/>
                </a:cubicBezTo>
                <a:close/>
                <a:moveTo>
                  <a:pt x="30212" y="33338"/>
                </a:moveTo>
                <a:lnTo>
                  <a:pt x="14615" y="33338"/>
                </a:lnTo>
                <a:cubicBezTo>
                  <a:pt x="16460" y="58549"/>
                  <a:pt x="28039" y="71170"/>
                  <a:pt x="39975" y="77867"/>
                </a:cubicBezTo>
                <a:cubicBezTo>
                  <a:pt x="35689" y="66764"/>
                  <a:pt x="32147" y="52268"/>
                  <a:pt x="30212" y="33338"/>
                </a:cubicBezTo>
                <a:close/>
                <a:moveTo>
                  <a:pt x="113109" y="76438"/>
                </a:moveTo>
                <a:cubicBezTo>
                  <a:pt x="125164" y="69354"/>
                  <a:pt x="136059" y="56763"/>
                  <a:pt x="137904" y="33338"/>
                </a:cubicBezTo>
                <a:lnTo>
                  <a:pt x="122337" y="33338"/>
                </a:lnTo>
                <a:cubicBezTo>
                  <a:pt x="120491" y="51465"/>
                  <a:pt x="117157" y="65544"/>
                  <a:pt x="113109" y="76438"/>
                </a:cubicBezTo>
                <a:close/>
              </a:path>
            </a:pathLst>
          </a:custGeom>
          <a:solidFill>
            <a:srgbClr val="FFFFFF"/>
          </a:solidFill>
          <a:ln/>
        </p:spPr>
      </p:sp>
      <p:sp>
        <p:nvSpPr>
          <p:cNvPr id="54" name="Text 52"/>
          <p:cNvSpPr/>
          <p:nvPr/>
        </p:nvSpPr>
        <p:spPr>
          <a:xfrm>
            <a:off x="4282202" y="6192203"/>
            <a:ext cx="19050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Successful Implementation</a:t>
            </a:r>
            <a:endParaRPr lang="en-US" sz="1600" dirty="0"/>
          </a:p>
        </p:txBody>
      </p:sp>
      <p:sp>
        <p:nvSpPr>
          <p:cNvPr id="55" name="Shape 53"/>
          <p:cNvSpPr/>
          <p:nvPr/>
        </p:nvSpPr>
        <p:spPr>
          <a:xfrm>
            <a:off x="6491645" y="6077903"/>
            <a:ext cx="1914525" cy="457200"/>
          </a:xfrm>
          <a:custGeom>
            <a:avLst/>
            <a:gdLst/>
            <a:ahLst/>
            <a:cxnLst/>
            <a:rect l="l" t="t" r="r" b="b"/>
            <a:pathLst>
              <a:path w="1914525" h="457200">
                <a:moveTo>
                  <a:pt x="228600" y="0"/>
                </a:moveTo>
                <a:lnTo>
                  <a:pt x="1685925" y="0"/>
                </a:lnTo>
                <a:cubicBezTo>
                  <a:pt x="1812093" y="0"/>
                  <a:pt x="1914525" y="102432"/>
                  <a:pt x="1914525" y="228600"/>
                </a:cubicBezTo>
                <a:lnTo>
                  <a:pt x="1914525" y="228600"/>
                </a:lnTo>
                <a:cubicBezTo>
                  <a:pt x="1914525" y="354768"/>
                  <a:pt x="1812093" y="457200"/>
                  <a:pt x="1685925" y="457200"/>
                </a:cubicBezTo>
                <a:lnTo>
                  <a:pt x="228600" y="457200"/>
                </a:lnTo>
                <a:cubicBezTo>
                  <a:pt x="102432" y="457200"/>
                  <a:pt x="0" y="354768"/>
                  <a:pt x="0" y="228600"/>
                </a:cubicBezTo>
                <a:lnTo>
                  <a:pt x="0" y="228600"/>
                </a:lnTo>
                <a:cubicBezTo>
                  <a:pt x="0" y="102432"/>
                  <a:pt x="102432" y="0"/>
                  <a:pt x="228600" y="0"/>
                </a:cubicBezTo>
                <a:close/>
              </a:path>
            </a:pathLst>
          </a:custGeom>
          <a:solidFill>
            <a:srgbClr val="00C7BE"/>
          </a:solidFill>
          <a:ln/>
        </p:spPr>
      </p:sp>
      <p:sp>
        <p:nvSpPr>
          <p:cNvPr id="56" name="Shape 54"/>
          <p:cNvSpPr/>
          <p:nvPr/>
        </p:nvSpPr>
        <p:spPr>
          <a:xfrm>
            <a:off x="6739295" y="6230303"/>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FFFFFF"/>
          </a:solidFill>
          <a:ln/>
        </p:spPr>
      </p:sp>
      <p:sp>
        <p:nvSpPr>
          <p:cNvPr id="57" name="Text 55"/>
          <p:cNvSpPr/>
          <p:nvPr/>
        </p:nvSpPr>
        <p:spPr>
          <a:xfrm>
            <a:off x="6986945" y="6192203"/>
            <a:ext cx="12668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Production Ready</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kern="0" spc="105" dirty="0">
                <a:solidFill>
                  <a:srgbClr val="0071E3"/>
                </a:solidFill>
                <a:latin typeface="Liter" pitchFamily="34" charset="0"/>
                <a:ea typeface="Liter" pitchFamily="34" charset="-122"/>
                <a:cs typeface="Liter" pitchFamily="34" charset="-120"/>
              </a:rPr>
              <a:t>Application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Liter" pitchFamily="34" charset="0"/>
                <a:ea typeface="Liter" pitchFamily="34" charset="-122"/>
                <a:cs typeface="Liter" pitchFamily="34" charset="-120"/>
              </a:rPr>
              <a:t>User Interface</a:t>
            </a:r>
            <a:endParaRPr lang="en-US" sz="1600" dirty="0"/>
          </a:p>
        </p:txBody>
      </p:sp>
      <p:sp>
        <p:nvSpPr>
          <p:cNvPr id="4" name="Shape 2"/>
          <p:cNvSpPr/>
          <p:nvPr/>
        </p:nvSpPr>
        <p:spPr>
          <a:xfrm>
            <a:off x="384810" y="1337310"/>
            <a:ext cx="6760845" cy="3474720"/>
          </a:xfrm>
          <a:custGeom>
            <a:avLst/>
            <a:gdLst/>
            <a:ahLst/>
            <a:cxnLst/>
            <a:rect l="l" t="t" r="r" b="b"/>
            <a:pathLst>
              <a:path w="6760845" h="3474720">
                <a:moveTo>
                  <a:pt x="228602" y="0"/>
                </a:moveTo>
                <a:lnTo>
                  <a:pt x="6532243" y="0"/>
                </a:lnTo>
                <a:cubicBezTo>
                  <a:pt x="6658496" y="0"/>
                  <a:pt x="6760845" y="102349"/>
                  <a:pt x="6760845" y="228602"/>
                </a:cubicBezTo>
                <a:lnTo>
                  <a:pt x="6760845" y="3246118"/>
                </a:lnTo>
                <a:cubicBezTo>
                  <a:pt x="6760845" y="3372371"/>
                  <a:pt x="6658496" y="3474720"/>
                  <a:pt x="6532243" y="3474720"/>
                </a:cubicBezTo>
                <a:lnTo>
                  <a:pt x="228602" y="3474720"/>
                </a:lnTo>
                <a:cubicBezTo>
                  <a:pt x="102349" y="3474720"/>
                  <a:pt x="0" y="3372371"/>
                  <a:pt x="0" y="3246118"/>
                </a:cubicBezTo>
                <a:lnTo>
                  <a:pt x="0" y="228602"/>
                </a:lnTo>
                <a:cubicBezTo>
                  <a:pt x="0" y="102433"/>
                  <a:pt x="102433" y="0"/>
                  <a:pt x="228602" y="0"/>
                </a:cubicBezTo>
                <a:close/>
              </a:path>
            </a:pathLst>
          </a:custGeom>
          <a:solidFill>
            <a:srgbClr val="FFFFFF">
              <a:alpha val="85098"/>
            </a:srgbClr>
          </a:solidFill>
          <a:ln w="10160">
            <a:solidFill>
              <a:srgbClr val="FFFFFF">
                <a:alpha val="30196"/>
              </a:srgbClr>
            </a:solidFill>
            <a:prstDash val="solid"/>
          </a:ln>
        </p:spPr>
      </p:sp>
      <p:sp>
        <p:nvSpPr>
          <p:cNvPr id="5" name="Shape 3"/>
          <p:cNvSpPr/>
          <p:nvPr/>
        </p:nvSpPr>
        <p:spPr>
          <a:xfrm>
            <a:off x="617220" y="1569723"/>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0071E3">
              <a:alpha val="10196"/>
            </a:srgbClr>
          </a:solidFill>
          <a:ln/>
        </p:spPr>
      </p:sp>
      <p:sp>
        <p:nvSpPr>
          <p:cNvPr id="6" name="Shape 4"/>
          <p:cNvSpPr/>
          <p:nvPr/>
        </p:nvSpPr>
        <p:spPr>
          <a:xfrm>
            <a:off x="724376" y="1674498"/>
            <a:ext cx="171450" cy="171450"/>
          </a:xfrm>
          <a:custGeom>
            <a:avLst/>
            <a:gdLst/>
            <a:ahLst/>
            <a:cxnLst/>
            <a:rect l="l" t="t" r="r" b="b"/>
            <a:pathLst>
              <a:path w="171450" h="171450">
                <a:moveTo>
                  <a:pt x="21431" y="10716"/>
                </a:moveTo>
                <a:cubicBezTo>
                  <a:pt x="9611" y="10716"/>
                  <a:pt x="0" y="20326"/>
                  <a:pt x="0" y="32147"/>
                </a:cubicBezTo>
                <a:lnTo>
                  <a:pt x="0" y="117872"/>
                </a:lnTo>
                <a:cubicBezTo>
                  <a:pt x="0" y="129693"/>
                  <a:pt x="9611" y="139303"/>
                  <a:pt x="21431" y="139303"/>
                </a:cubicBezTo>
                <a:lnTo>
                  <a:pt x="69652" y="139303"/>
                </a:lnTo>
                <a:lnTo>
                  <a:pt x="64294" y="155377"/>
                </a:lnTo>
                <a:lnTo>
                  <a:pt x="40184" y="155377"/>
                </a:lnTo>
                <a:cubicBezTo>
                  <a:pt x="35730" y="155377"/>
                  <a:pt x="32147" y="158960"/>
                  <a:pt x="32147" y="163413"/>
                </a:cubicBezTo>
                <a:cubicBezTo>
                  <a:pt x="32147" y="167867"/>
                  <a:pt x="35730" y="171450"/>
                  <a:pt x="40184" y="171450"/>
                </a:cubicBezTo>
                <a:lnTo>
                  <a:pt x="131266" y="171450"/>
                </a:lnTo>
                <a:cubicBezTo>
                  <a:pt x="135720" y="171450"/>
                  <a:pt x="139303" y="167867"/>
                  <a:pt x="139303" y="163413"/>
                </a:cubicBezTo>
                <a:cubicBezTo>
                  <a:pt x="139303" y="158960"/>
                  <a:pt x="135720" y="155377"/>
                  <a:pt x="131266" y="155377"/>
                </a:cubicBezTo>
                <a:lnTo>
                  <a:pt x="107156" y="155377"/>
                </a:lnTo>
                <a:lnTo>
                  <a:pt x="101798" y="139303"/>
                </a:lnTo>
                <a:lnTo>
                  <a:pt x="150019" y="139303"/>
                </a:lnTo>
                <a:cubicBezTo>
                  <a:pt x="161839" y="139303"/>
                  <a:pt x="171450" y="129693"/>
                  <a:pt x="171450" y="117872"/>
                </a:cubicBezTo>
                <a:lnTo>
                  <a:pt x="171450" y="32147"/>
                </a:lnTo>
                <a:cubicBezTo>
                  <a:pt x="171450" y="20326"/>
                  <a:pt x="161839" y="10716"/>
                  <a:pt x="150019" y="10716"/>
                </a:cubicBezTo>
                <a:lnTo>
                  <a:pt x="21431" y="10716"/>
                </a:lnTo>
                <a:close/>
                <a:moveTo>
                  <a:pt x="32147" y="32147"/>
                </a:moveTo>
                <a:lnTo>
                  <a:pt x="139303" y="32147"/>
                </a:lnTo>
                <a:cubicBezTo>
                  <a:pt x="145230" y="32147"/>
                  <a:pt x="150019" y="36935"/>
                  <a:pt x="150019" y="42863"/>
                </a:cubicBezTo>
                <a:lnTo>
                  <a:pt x="150019" y="96441"/>
                </a:lnTo>
                <a:cubicBezTo>
                  <a:pt x="150019" y="102368"/>
                  <a:pt x="145230" y="107156"/>
                  <a:pt x="139303" y="107156"/>
                </a:cubicBezTo>
                <a:lnTo>
                  <a:pt x="32147" y="107156"/>
                </a:lnTo>
                <a:cubicBezTo>
                  <a:pt x="26220" y="107156"/>
                  <a:pt x="21431" y="102368"/>
                  <a:pt x="21431" y="96441"/>
                </a:cubicBezTo>
                <a:lnTo>
                  <a:pt x="21431" y="42863"/>
                </a:lnTo>
                <a:cubicBezTo>
                  <a:pt x="21431" y="36935"/>
                  <a:pt x="26220" y="32147"/>
                  <a:pt x="32147" y="32147"/>
                </a:cubicBezTo>
                <a:close/>
              </a:path>
            </a:pathLst>
          </a:custGeom>
          <a:solidFill>
            <a:srgbClr val="0071E3"/>
          </a:solidFill>
          <a:ln/>
        </p:spPr>
      </p:sp>
      <p:sp>
        <p:nvSpPr>
          <p:cNvPr id="7" name="Text 5"/>
          <p:cNvSpPr/>
          <p:nvPr/>
        </p:nvSpPr>
        <p:spPr>
          <a:xfrm>
            <a:off x="1112520" y="1607823"/>
            <a:ext cx="29051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Interactive Web Application</a:t>
            </a:r>
            <a:endParaRPr lang="en-US" sz="1600" dirty="0"/>
          </a:p>
        </p:txBody>
      </p:sp>
      <p:sp>
        <p:nvSpPr>
          <p:cNvPr id="8" name="Text 6"/>
          <p:cNvSpPr/>
          <p:nvPr/>
        </p:nvSpPr>
        <p:spPr>
          <a:xfrm>
            <a:off x="617220" y="2141223"/>
            <a:ext cx="6372225" cy="495300"/>
          </a:xfrm>
          <a:prstGeom prst="rect">
            <a:avLst/>
          </a:prstGeom>
          <a:noFill/>
          <a:ln/>
        </p:spPr>
        <p:txBody>
          <a:bodyPr wrap="square" lIns="0" tIns="0" rIns="0" bIns="0" rtlCol="0" anchor="ctr"/>
          <a:lstStyle/>
          <a:p>
            <a:pPr>
              <a:lnSpc>
                <a:spcPct val="140000"/>
              </a:lnSpc>
            </a:pPr>
            <a:r>
              <a:rPr lang="en-US" sz="1200" dirty="0">
                <a:solidFill>
                  <a:srgbClr val="1D1D1F"/>
                </a:solidFill>
                <a:latin typeface="Quattrocento Sans" pitchFamily="34" charset="0"/>
                <a:ea typeface="Quattrocento Sans" pitchFamily="34" charset="-122"/>
                <a:cs typeface="Quattrocento Sans" pitchFamily="34" charset="-120"/>
              </a:rPr>
              <a:t>A modern, intuitive web interface that enables users to perform </a:t>
            </a:r>
            <a:r>
              <a:rPr lang="en-US" sz="1200" b="1" dirty="0">
                <a:solidFill>
                  <a:srgbClr val="1D1D1F"/>
                </a:solidFill>
                <a:latin typeface="Quattrocento Sans" pitchFamily="34" charset="0"/>
                <a:ea typeface="Quattrocento Sans" pitchFamily="34" charset="-122"/>
                <a:cs typeface="Quattrocento Sans" pitchFamily="34" charset="-120"/>
              </a:rPr>
              <a:t>real-time text analysis</a:t>
            </a:r>
            <a:r>
              <a:rPr lang="en-US" sz="1200" dirty="0">
                <a:solidFill>
                  <a:srgbClr val="1D1D1F"/>
                </a:solidFill>
                <a:latin typeface="Quattrocento Sans" pitchFamily="34" charset="0"/>
                <a:ea typeface="Quattrocento Sans" pitchFamily="34" charset="-122"/>
                <a:cs typeface="Quattrocento Sans" pitchFamily="34" charset="-120"/>
              </a:rPr>
              <a:t> with seamless visualization of topics and sentiment distributions.</a:t>
            </a:r>
            <a:endParaRPr lang="en-US" sz="1600" dirty="0"/>
          </a:p>
        </p:txBody>
      </p:sp>
      <p:sp>
        <p:nvSpPr>
          <p:cNvPr id="9" name="Shape 7"/>
          <p:cNvSpPr/>
          <p:nvPr/>
        </p:nvSpPr>
        <p:spPr>
          <a:xfrm>
            <a:off x="617220" y="2827023"/>
            <a:ext cx="3067050" cy="800100"/>
          </a:xfrm>
          <a:custGeom>
            <a:avLst/>
            <a:gdLst/>
            <a:ahLst/>
            <a:cxnLst/>
            <a:rect l="l" t="t" r="r" b="b"/>
            <a:pathLst>
              <a:path w="3067050" h="800100">
                <a:moveTo>
                  <a:pt x="152403" y="0"/>
                </a:moveTo>
                <a:lnTo>
                  <a:pt x="2914647" y="0"/>
                </a:lnTo>
                <a:cubicBezTo>
                  <a:pt x="2998817" y="0"/>
                  <a:pt x="3067050" y="68233"/>
                  <a:pt x="3067050" y="152403"/>
                </a:cubicBezTo>
                <a:lnTo>
                  <a:pt x="3067050" y="647697"/>
                </a:lnTo>
                <a:cubicBezTo>
                  <a:pt x="3067050" y="731867"/>
                  <a:pt x="2998817" y="800100"/>
                  <a:pt x="2914647" y="800100"/>
                </a:cubicBezTo>
                <a:lnTo>
                  <a:pt x="152403" y="800100"/>
                </a:lnTo>
                <a:cubicBezTo>
                  <a:pt x="68290" y="800100"/>
                  <a:pt x="0" y="731810"/>
                  <a:pt x="0" y="647697"/>
                </a:cubicBezTo>
                <a:lnTo>
                  <a:pt x="0" y="152403"/>
                </a:lnTo>
                <a:cubicBezTo>
                  <a:pt x="0" y="68290"/>
                  <a:pt x="68290" y="0"/>
                  <a:pt x="152403" y="0"/>
                </a:cubicBezTo>
                <a:close/>
              </a:path>
            </a:pathLst>
          </a:custGeom>
          <a:solidFill>
            <a:srgbClr val="FFFFFF">
              <a:alpha val="70196"/>
            </a:srgbClr>
          </a:solidFill>
          <a:ln/>
        </p:spPr>
      </p:sp>
      <p:sp>
        <p:nvSpPr>
          <p:cNvPr id="10" name="Shape 8"/>
          <p:cNvSpPr/>
          <p:nvPr/>
        </p:nvSpPr>
        <p:spPr>
          <a:xfrm>
            <a:off x="798195" y="3017523"/>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0071E3"/>
          </a:solidFill>
          <a:ln/>
        </p:spPr>
      </p:sp>
      <p:sp>
        <p:nvSpPr>
          <p:cNvPr id="11" name="Text 9"/>
          <p:cNvSpPr/>
          <p:nvPr/>
        </p:nvSpPr>
        <p:spPr>
          <a:xfrm>
            <a:off x="1036320" y="2979423"/>
            <a:ext cx="132397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Real-time Analysis</a:t>
            </a:r>
            <a:endParaRPr lang="en-US" sz="1600" dirty="0"/>
          </a:p>
        </p:txBody>
      </p:sp>
      <p:sp>
        <p:nvSpPr>
          <p:cNvPr id="12" name="Text 10"/>
          <p:cNvSpPr/>
          <p:nvPr/>
        </p:nvSpPr>
        <p:spPr>
          <a:xfrm>
            <a:off x="769620" y="3284223"/>
            <a:ext cx="28289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Instant processing and results display</a:t>
            </a:r>
            <a:endParaRPr lang="en-US" sz="1600" dirty="0"/>
          </a:p>
        </p:txBody>
      </p:sp>
      <p:sp>
        <p:nvSpPr>
          <p:cNvPr id="13" name="Shape 11"/>
          <p:cNvSpPr/>
          <p:nvPr/>
        </p:nvSpPr>
        <p:spPr>
          <a:xfrm>
            <a:off x="3840480" y="2827023"/>
            <a:ext cx="3067050" cy="800100"/>
          </a:xfrm>
          <a:custGeom>
            <a:avLst/>
            <a:gdLst/>
            <a:ahLst/>
            <a:cxnLst/>
            <a:rect l="l" t="t" r="r" b="b"/>
            <a:pathLst>
              <a:path w="3067050" h="800100">
                <a:moveTo>
                  <a:pt x="152403" y="0"/>
                </a:moveTo>
                <a:lnTo>
                  <a:pt x="2914647" y="0"/>
                </a:lnTo>
                <a:cubicBezTo>
                  <a:pt x="2998817" y="0"/>
                  <a:pt x="3067050" y="68233"/>
                  <a:pt x="3067050" y="152403"/>
                </a:cubicBezTo>
                <a:lnTo>
                  <a:pt x="3067050" y="647697"/>
                </a:lnTo>
                <a:cubicBezTo>
                  <a:pt x="3067050" y="731867"/>
                  <a:pt x="2998817" y="800100"/>
                  <a:pt x="2914647" y="800100"/>
                </a:cubicBezTo>
                <a:lnTo>
                  <a:pt x="152403" y="800100"/>
                </a:lnTo>
                <a:cubicBezTo>
                  <a:pt x="68290" y="800100"/>
                  <a:pt x="0" y="731810"/>
                  <a:pt x="0" y="647697"/>
                </a:cubicBezTo>
                <a:lnTo>
                  <a:pt x="0" y="152403"/>
                </a:lnTo>
                <a:cubicBezTo>
                  <a:pt x="0" y="68290"/>
                  <a:pt x="68290" y="0"/>
                  <a:pt x="152403" y="0"/>
                </a:cubicBezTo>
                <a:close/>
              </a:path>
            </a:pathLst>
          </a:custGeom>
          <a:solidFill>
            <a:srgbClr val="FFFFFF">
              <a:alpha val="70196"/>
            </a:srgbClr>
          </a:solidFill>
          <a:ln/>
        </p:spPr>
      </p:sp>
      <p:sp>
        <p:nvSpPr>
          <p:cNvPr id="14" name="Shape 12"/>
          <p:cNvSpPr/>
          <p:nvPr/>
        </p:nvSpPr>
        <p:spPr>
          <a:xfrm>
            <a:off x="4011930" y="3017523"/>
            <a:ext cx="152400" cy="152400"/>
          </a:xfrm>
          <a:custGeom>
            <a:avLst/>
            <a:gdLst/>
            <a:ahLst/>
            <a:cxnLst/>
            <a:rect l="l" t="t" r="r" b="b"/>
            <a:pathLst>
              <a:path w="152400" h="152400">
                <a:moveTo>
                  <a:pt x="9525" y="9525"/>
                </a:moveTo>
                <a:cubicBezTo>
                  <a:pt x="14794" y="9525"/>
                  <a:pt x="19050" y="13781"/>
                  <a:pt x="19050" y="19050"/>
                </a:cubicBezTo>
                <a:lnTo>
                  <a:pt x="19050" y="119062"/>
                </a:lnTo>
                <a:cubicBezTo>
                  <a:pt x="19050" y="121682"/>
                  <a:pt x="21193" y="123825"/>
                  <a:pt x="23813" y="123825"/>
                </a:cubicBezTo>
                <a:lnTo>
                  <a:pt x="142875" y="123825"/>
                </a:lnTo>
                <a:cubicBezTo>
                  <a:pt x="148144" y="123825"/>
                  <a:pt x="152400" y="128081"/>
                  <a:pt x="152400" y="133350"/>
                </a:cubicBezTo>
                <a:cubicBezTo>
                  <a:pt x="152400" y="138619"/>
                  <a:pt x="148144" y="142875"/>
                  <a:pt x="142875" y="142875"/>
                </a:cubicBezTo>
                <a:lnTo>
                  <a:pt x="23813" y="142875"/>
                </a:lnTo>
                <a:cubicBezTo>
                  <a:pt x="10656" y="142875"/>
                  <a:pt x="0" y="132219"/>
                  <a:pt x="0" y="119062"/>
                </a:cubicBezTo>
                <a:lnTo>
                  <a:pt x="0" y="19050"/>
                </a:lnTo>
                <a:cubicBezTo>
                  <a:pt x="0" y="13781"/>
                  <a:pt x="4256" y="9525"/>
                  <a:pt x="9525" y="9525"/>
                </a:cubicBezTo>
                <a:close/>
                <a:moveTo>
                  <a:pt x="38100" y="28575"/>
                </a:moveTo>
                <a:cubicBezTo>
                  <a:pt x="38100" y="23306"/>
                  <a:pt x="42356" y="19050"/>
                  <a:pt x="47625" y="19050"/>
                </a:cubicBezTo>
                <a:lnTo>
                  <a:pt x="104775" y="19050"/>
                </a:lnTo>
                <a:cubicBezTo>
                  <a:pt x="110044" y="19050"/>
                  <a:pt x="114300" y="23306"/>
                  <a:pt x="114300" y="28575"/>
                </a:cubicBezTo>
                <a:cubicBezTo>
                  <a:pt x="114300" y="33844"/>
                  <a:pt x="110044" y="38100"/>
                  <a:pt x="104775" y="38100"/>
                </a:cubicBezTo>
                <a:lnTo>
                  <a:pt x="47625" y="38100"/>
                </a:lnTo>
                <a:cubicBezTo>
                  <a:pt x="42356" y="38100"/>
                  <a:pt x="38100" y="33844"/>
                  <a:pt x="38100" y="28575"/>
                </a:cubicBezTo>
                <a:close/>
                <a:moveTo>
                  <a:pt x="47625" y="52388"/>
                </a:moveTo>
                <a:lnTo>
                  <a:pt x="85725" y="52388"/>
                </a:lnTo>
                <a:cubicBezTo>
                  <a:pt x="90994" y="52388"/>
                  <a:pt x="95250" y="56644"/>
                  <a:pt x="95250" y="61912"/>
                </a:cubicBezTo>
                <a:cubicBezTo>
                  <a:pt x="95250" y="67181"/>
                  <a:pt x="90994" y="71438"/>
                  <a:pt x="85725" y="71438"/>
                </a:cubicBezTo>
                <a:lnTo>
                  <a:pt x="47625" y="71438"/>
                </a:lnTo>
                <a:cubicBezTo>
                  <a:pt x="42356" y="71438"/>
                  <a:pt x="38100" y="67181"/>
                  <a:pt x="38100" y="61912"/>
                </a:cubicBezTo>
                <a:cubicBezTo>
                  <a:pt x="38100" y="56644"/>
                  <a:pt x="42356" y="52388"/>
                  <a:pt x="47625" y="52388"/>
                </a:cubicBezTo>
                <a:close/>
                <a:moveTo>
                  <a:pt x="47625" y="85725"/>
                </a:moveTo>
                <a:lnTo>
                  <a:pt x="123825" y="85725"/>
                </a:lnTo>
                <a:cubicBezTo>
                  <a:pt x="129094" y="85725"/>
                  <a:pt x="133350" y="89981"/>
                  <a:pt x="133350" y="95250"/>
                </a:cubicBezTo>
                <a:cubicBezTo>
                  <a:pt x="133350" y="100519"/>
                  <a:pt x="129094" y="104775"/>
                  <a:pt x="123825" y="104775"/>
                </a:cubicBezTo>
                <a:lnTo>
                  <a:pt x="47625" y="104775"/>
                </a:lnTo>
                <a:cubicBezTo>
                  <a:pt x="42356" y="104775"/>
                  <a:pt x="38100" y="100519"/>
                  <a:pt x="38100" y="95250"/>
                </a:cubicBezTo>
                <a:cubicBezTo>
                  <a:pt x="38100" y="89981"/>
                  <a:pt x="42356" y="85725"/>
                  <a:pt x="47625" y="85725"/>
                </a:cubicBezTo>
                <a:close/>
              </a:path>
            </a:pathLst>
          </a:custGeom>
          <a:solidFill>
            <a:srgbClr val="0071E3"/>
          </a:solidFill>
          <a:ln/>
        </p:spPr>
      </p:sp>
      <p:sp>
        <p:nvSpPr>
          <p:cNvPr id="15" name="Text 13"/>
          <p:cNvSpPr/>
          <p:nvPr/>
        </p:nvSpPr>
        <p:spPr>
          <a:xfrm>
            <a:off x="4259580" y="2979423"/>
            <a:ext cx="124777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Visual Dashboard</a:t>
            </a:r>
            <a:endParaRPr lang="en-US" sz="1600" dirty="0"/>
          </a:p>
        </p:txBody>
      </p:sp>
      <p:sp>
        <p:nvSpPr>
          <p:cNvPr id="16" name="Text 14"/>
          <p:cNvSpPr/>
          <p:nvPr/>
        </p:nvSpPr>
        <p:spPr>
          <a:xfrm>
            <a:off x="3992880" y="3284223"/>
            <a:ext cx="28289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Interactive charts and graphs</a:t>
            </a:r>
            <a:endParaRPr lang="en-US" sz="1600" dirty="0"/>
          </a:p>
        </p:txBody>
      </p:sp>
      <p:sp>
        <p:nvSpPr>
          <p:cNvPr id="17" name="Shape 15"/>
          <p:cNvSpPr/>
          <p:nvPr/>
        </p:nvSpPr>
        <p:spPr>
          <a:xfrm>
            <a:off x="617220" y="3779523"/>
            <a:ext cx="3067050" cy="800100"/>
          </a:xfrm>
          <a:custGeom>
            <a:avLst/>
            <a:gdLst/>
            <a:ahLst/>
            <a:cxnLst/>
            <a:rect l="l" t="t" r="r" b="b"/>
            <a:pathLst>
              <a:path w="3067050" h="800100">
                <a:moveTo>
                  <a:pt x="152403" y="0"/>
                </a:moveTo>
                <a:lnTo>
                  <a:pt x="2914647" y="0"/>
                </a:lnTo>
                <a:cubicBezTo>
                  <a:pt x="2998817" y="0"/>
                  <a:pt x="3067050" y="68233"/>
                  <a:pt x="3067050" y="152403"/>
                </a:cubicBezTo>
                <a:lnTo>
                  <a:pt x="3067050" y="647697"/>
                </a:lnTo>
                <a:cubicBezTo>
                  <a:pt x="3067050" y="731867"/>
                  <a:pt x="2998817" y="800100"/>
                  <a:pt x="2914647" y="800100"/>
                </a:cubicBezTo>
                <a:lnTo>
                  <a:pt x="152403" y="800100"/>
                </a:lnTo>
                <a:cubicBezTo>
                  <a:pt x="68290" y="800100"/>
                  <a:pt x="0" y="731810"/>
                  <a:pt x="0" y="647697"/>
                </a:cubicBezTo>
                <a:lnTo>
                  <a:pt x="0" y="152403"/>
                </a:lnTo>
                <a:cubicBezTo>
                  <a:pt x="0" y="68290"/>
                  <a:pt x="68290" y="0"/>
                  <a:pt x="152403" y="0"/>
                </a:cubicBezTo>
                <a:close/>
              </a:path>
            </a:pathLst>
          </a:custGeom>
          <a:solidFill>
            <a:srgbClr val="FFFFFF">
              <a:alpha val="70196"/>
            </a:srgbClr>
          </a:solidFill>
          <a:ln/>
        </p:spPr>
      </p:sp>
      <p:sp>
        <p:nvSpPr>
          <p:cNvPr id="18" name="Shape 16"/>
          <p:cNvSpPr/>
          <p:nvPr/>
        </p:nvSpPr>
        <p:spPr>
          <a:xfrm>
            <a:off x="779145" y="3970023"/>
            <a:ext cx="171450" cy="152400"/>
          </a:xfrm>
          <a:custGeom>
            <a:avLst/>
            <a:gdLst/>
            <a:ahLst/>
            <a:cxnLst/>
            <a:rect l="l" t="t" r="r" b="b"/>
            <a:pathLst>
              <a:path w="171450" h="152400">
                <a:moveTo>
                  <a:pt x="119420" y="11638"/>
                </a:moveTo>
                <a:lnTo>
                  <a:pt x="163532" y="56376"/>
                </a:lnTo>
                <a:cubicBezTo>
                  <a:pt x="171777" y="64740"/>
                  <a:pt x="171777" y="78135"/>
                  <a:pt x="163532" y="86499"/>
                </a:cubicBezTo>
                <a:lnTo>
                  <a:pt x="116979" y="133618"/>
                </a:lnTo>
                <a:cubicBezTo>
                  <a:pt x="114211" y="136416"/>
                  <a:pt x="109686" y="136446"/>
                  <a:pt x="106888" y="133677"/>
                </a:cubicBezTo>
                <a:cubicBezTo>
                  <a:pt x="104090" y="130909"/>
                  <a:pt x="104061" y="126385"/>
                  <a:pt x="106829" y="123587"/>
                </a:cubicBezTo>
                <a:lnTo>
                  <a:pt x="153382" y="76438"/>
                </a:lnTo>
                <a:cubicBezTo>
                  <a:pt x="156121" y="73670"/>
                  <a:pt x="156121" y="69175"/>
                  <a:pt x="153382" y="66407"/>
                </a:cubicBezTo>
                <a:lnTo>
                  <a:pt x="109240" y="21699"/>
                </a:lnTo>
                <a:cubicBezTo>
                  <a:pt x="106472" y="18901"/>
                  <a:pt x="106501" y="14377"/>
                  <a:pt x="109299" y="11609"/>
                </a:cubicBezTo>
                <a:cubicBezTo>
                  <a:pt x="112097" y="8840"/>
                  <a:pt x="116622" y="8870"/>
                  <a:pt x="119390" y="11668"/>
                </a:cubicBezTo>
                <a:close/>
                <a:moveTo>
                  <a:pt x="9555" y="68312"/>
                </a:moveTo>
                <a:lnTo>
                  <a:pt x="9555" y="28575"/>
                </a:lnTo>
                <a:cubicBezTo>
                  <a:pt x="9555" y="18068"/>
                  <a:pt x="18098" y="9525"/>
                  <a:pt x="28605" y="9525"/>
                </a:cubicBezTo>
                <a:lnTo>
                  <a:pt x="68342" y="9525"/>
                </a:lnTo>
                <a:cubicBezTo>
                  <a:pt x="73402" y="9525"/>
                  <a:pt x="78254" y="11519"/>
                  <a:pt x="81826" y="15091"/>
                </a:cubicBezTo>
                <a:lnTo>
                  <a:pt x="124688" y="57954"/>
                </a:lnTo>
                <a:cubicBezTo>
                  <a:pt x="132130" y="65395"/>
                  <a:pt x="132130" y="77450"/>
                  <a:pt x="124688" y="84892"/>
                </a:cubicBezTo>
                <a:lnTo>
                  <a:pt x="84951" y="124629"/>
                </a:lnTo>
                <a:cubicBezTo>
                  <a:pt x="77510" y="132070"/>
                  <a:pt x="65455" y="132070"/>
                  <a:pt x="58013" y="124629"/>
                </a:cubicBezTo>
                <a:lnTo>
                  <a:pt x="15151" y="81766"/>
                </a:lnTo>
                <a:cubicBezTo>
                  <a:pt x="11579" y="78194"/>
                  <a:pt x="9585" y="73343"/>
                  <a:pt x="9585" y="68282"/>
                </a:cubicBezTo>
                <a:close/>
                <a:moveTo>
                  <a:pt x="52417" y="42863"/>
                </a:moveTo>
                <a:cubicBezTo>
                  <a:pt x="52417" y="37606"/>
                  <a:pt x="48149" y="33338"/>
                  <a:pt x="42892" y="33338"/>
                </a:cubicBezTo>
                <a:cubicBezTo>
                  <a:pt x="37635" y="33338"/>
                  <a:pt x="33367" y="37606"/>
                  <a:pt x="33367" y="42863"/>
                </a:cubicBezTo>
                <a:cubicBezTo>
                  <a:pt x="33367" y="48119"/>
                  <a:pt x="37635" y="52388"/>
                  <a:pt x="42892" y="52388"/>
                </a:cubicBezTo>
                <a:cubicBezTo>
                  <a:pt x="48149" y="52388"/>
                  <a:pt x="52417" y="48119"/>
                  <a:pt x="52417" y="42863"/>
                </a:cubicBezTo>
                <a:close/>
              </a:path>
            </a:pathLst>
          </a:custGeom>
          <a:solidFill>
            <a:srgbClr val="0071E3"/>
          </a:solidFill>
          <a:ln/>
        </p:spPr>
      </p:sp>
      <p:sp>
        <p:nvSpPr>
          <p:cNvPr id="19" name="Text 17"/>
          <p:cNvSpPr/>
          <p:nvPr/>
        </p:nvSpPr>
        <p:spPr>
          <a:xfrm>
            <a:off x="1036320" y="3931923"/>
            <a:ext cx="990600"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Topic Display</a:t>
            </a:r>
            <a:endParaRPr lang="en-US" sz="1600" dirty="0"/>
          </a:p>
        </p:txBody>
      </p:sp>
      <p:sp>
        <p:nvSpPr>
          <p:cNvPr id="20" name="Text 18"/>
          <p:cNvSpPr/>
          <p:nvPr/>
        </p:nvSpPr>
        <p:spPr>
          <a:xfrm>
            <a:off x="769620" y="4236723"/>
            <a:ext cx="28289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Clear topic visualization with keywords</a:t>
            </a:r>
            <a:endParaRPr lang="en-US" sz="1600" dirty="0"/>
          </a:p>
        </p:txBody>
      </p:sp>
      <p:sp>
        <p:nvSpPr>
          <p:cNvPr id="21" name="Shape 19"/>
          <p:cNvSpPr/>
          <p:nvPr/>
        </p:nvSpPr>
        <p:spPr>
          <a:xfrm>
            <a:off x="3840480" y="3779523"/>
            <a:ext cx="3067050" cy="800100"/>
          </a:xfrm>
          <a:custGeom>
            <a:avLst/>
            <a:gdLst/>
            <a:ahLst/>
            <a:cxnLst/>
            <a:rect l="l" t="t" r="r" b="b"/>
            <a:pathLst>
              <a:path w="3067050" h="800100">
                <a:moveTo>
                  <a:pt x="152403" y="0"/>
                </a:moveTo>
                <a:lnTo>
                  <a:pt x="2914647" y="0"/>
                </a:lnTo>
                <a:cubicBezTo>
                  <a:pt x="2998817" y="0"/>
                  <a:pt x="3067050" y="68233"/>
                  <a:pt x="3067050" y="152403"/>
                </a:cubicBezTo>
                <a:lnTo>
                  <a:pt x="3067050" y="647697"/>
                </a:lnTo>
                <a:cubicBezTo>
                  <a:pt x="3067050" y="731867"/>
                  <a:pt x="2998817" y="800100"/>
                  <a:pt x="2914647" y="800100"/>
                </a:cubicBezTo>
                <a:lnTo>
                  <a:pt x="152403" y="800100"/>
                </a:lnTo>
                <a:cubicBezTo>
                  <a:pt x="68290" y="800100"/>
                  <a:pt x="0" y="731810"/>
                  <a:pt x="0" y="647697"/>
                </a:cubicBezTo>
                <a:lnTo>
                  <a:pt x="0" y="152403"/>
                </a:lnTo>
                <a:cubicBezTo>
                  <a:pt x="0" y="68290"/>
                  <a:pt x="68290" y="0"/>
                  <a:pt x="152403" y="0"/>
                </a:cubicBezTo>
                <a:close/>
              </a:path>
            </a:pathLst>
          </a:custGeom>
          <a:solidFill>
            <a:srgbClr val="FFFFFF">
              <a:alpha val="70196"/>
            </a:srgbClr>
          </a:solidFill>
          <a:ln/>
        </p:spPr>
      </p:sp>
      <p:sp>
        <p:nvSpPr>
          <p:cNvPr id="22" name="Shape 20"/>
          <p:cNvSpPr/>
          <p:nvPr/>
        </p:nvSpPr>
        <p:spPr>
          <a:xfrm>
            <a:off x="4011930" y="397002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232" y="95816"/>
                </a:moveTo>
                <a:cubicBezTo>
                  <a:pt x="55305" y="104150"/>
                  <a:pt x="65127" y="109537"/>
                  <a:pt x="76200" y="109537"/>
                </a:cubicBezTo>
                <a:cubicBezTo>
                  <a:pt x="87273" y="109537"/>
                  <a:pt x="97095" y="104150"/>
                  <a:pt x="103168" y="95816"/>
                </a:cubicBezTo>
                <a:cubicBezTo>
                  <a:pt x="105489" y="92631"/>
                  <a:pt x="109954" y="91916"/>
                  <a:pt x="113139" y="94238"/>
                </a:cubicBezTo>
                <a:cubicBezTo>
                  <a:pt x="116324" y="96560"/>
                  <a:pt x="117038" y="101025"/>
                  <a:pt x="114717" y="104209"/>
                </a:cubicBezTo>
                <a:cubicBezTo>
                  <a:pt x="106055" y="116086"/>
                  <a:pt x="92035" y="123825"/>
                  <a:pt x="76200" y="123825"/>
                </a:cubicBezTo>
                <a:cubicBezTo>
                  <a:pt x="60365" y="123825"/>
                  <a:pt x="46345" y="116086"/>
                  <a:pt x="37683" y="104209"/>
                </a:cubicBezTo>
                <a:cubicBezTo>
                  <a:pt x="35362" y="101025"/>
                  <a:pt x="36076" y="96560"/>
                  <a:pt x="39261" y="94238"/>
                </a:cubicBezTo>
                <a:cubicBezTo>
                  <a:pt x="42446" y="91916"/>
                  <a:pt x="46911" y="92631"/>
                  <a:pt x="49232" y="95816"/>
                </a:cubicBezTo>
                <a:close/>
                <a:moveTo>
                  <a:pt x="42863" y="61912"/>
                </a:moveTo>
                <a:cubicBezTo>
                  <a:pt x="42863" y="56656"/>
                  <a:pt x="47131" y="52388"/>
                  <a:pt x="52388" y="52388"/>
                </a:cubicBezTo>
                <a:cubicBezTo>
                  <a:pt x="57644" y="52388"/>
                  <a:pt x="61912" y="56656"/>
                  <a:pt x="61912" y="61912"/>
                </a:cubicBezTo>
                <a:cubicBezTo>
                  <a:pt x="61912" y="67169"/>
                  <a:pt x="57644" y="71438"/>
                  <a:pt x="52388" y="71438"/>
                </a:cubicBezTo>
                <a:cubicBezTo>
                  <a:pt x="47131" y="71438"/>
                  <a:pt x="42863" y="67169"/>
                  <a:pt x="42863" y="61912"/>
                </a:cubicBezTo>
                <a:close/>
                <a:moveTo>
                  <a:pt x="100013" y="52388"/>
                </a:moveTo>
                <a:cubicBezTo>
                  <a:pt x="105269" y="52388"/>
                  <a:pt x="109537" y="56656"/>
                  <a:pt x="109537" y="61912"/>
                </a:cubicBezTo>
                <a:cubicBezTo>
                  <a:pt x="109537" y="67169"/>
                  <a:pt x="105269" y="71438"/>
                  <a:pt x="100013" y="71438"/>
                </a:cubicBezTo>
                <a:cubicBezTo>
                  <a:pt x="94756" y="71438"/>
                  <a:pt x="90488" y="67169"/>
                  <a:pt x="90488" y="61912"/>
                </a:cubicBezTo>
                <a:cubicBezTo>
                  <a:pt x="90488" y="56656"/>
                  <a:pt x="94756" y="52388"/>
                  <a:pt x="100013" y="52388"/>
                </a:cubicBezTo>
                <a:close/>
              </a:path>
            </a:pathLst>
          </a:custGeom>
          <a:solidFill>
            <a:srgbClr val="0071E3"/>
          </a:solidFill>
          <a:ln/>
        </p:spPr>
      </p:sp>
      <p:sp>
        <p:nvSpPr>
          <p:cNvPr id="23" name="Text 21"/>
          <p:cNvSpPr/>
          <p:nvPr/>
        </p:nvSpPr>
        <p:spPr>
          <a:xfrm>
            <a:off x="4259580" y="3931923"/>
            <a:ext cx="1133475" cy="228600"/>
          </a:xfrm>
          <a:prstGeom prst="rect">
            <a:avLst/>
          </a:prstGeom>
          <a:noFill/>
          <a:ln/>
        </p:spPr>
        <p:txBody>
          <a:bodyPr wrap="square" lIns="0" tIns="0" rIns="0" bIns="0" rtlCol="0" anchor="ctr"/>
          <a:lstStyle/>
          <a:p>
            <a:pPr>
              <a:lnSpc>
                <a:spcPct val="130000"/>
              </a:lnSpc>
            </a:pPr>
            <a:r>
              <a:rPr lang="en-US" sz="1200" b="1" dirty="0">
                <a:solidFill>
                  <a:srgbClr val="1D1D1F"/>
                </a:solidFill>
                <a:latin typeface="Liter" pitchFamily="34" charset="0"/>
                <a:ea typeface="Liter" pitchFamily="34" charset="-122"/>
                <a:cs typeface="Liter" pitchFamily="34" charset="-120"/>
              </a:rPr>
              <a:t>Sentiment View</a:t>
            </a:r>
            <a:endParaRPr lang="en-US" sz="1600" dirty="0"/>
          </a:p>
        </p:txBody>
      </p:sp>
      <p:sp>
        <p:nvSpPr>
          <p:cNvPr id="24" name="Text 22"/>
          <p:cNvSpPr/>
          <p:nvPr/>
        </p:nvSpPr>
        <p:spPr>
          <a:xfrm>
            <a:off x="3992880" y="4236723"/>
            <a:ext cx="28289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Color-coded sentiment indicators</a:t>
            </a:r>
            <a:endParaRPr lang="en-US" sz="1600" dirty="0"/>
          </a:p>
        </p:txBody>
      </p:sp>
      <p:sp>
        <p:nvSpPr>
          <p:cNvPr id="25" name="Shape 23"/>
          <p:cNvSpPr/>
          <p:nvPr/>
        </p:nvSpPr>
        <p:spPr>
          <a:xfrm>
            <a:off x="384810" y="5010156"/>
            <a:ext cx="6760845" cy="1607820"/>
          </a:xfrm>
          <a:custGeom>
            <a:avLst/>
            <a:gdLst/>
            <a:ahLst/>
            <a:cxnLst/>
            <a:rect l="l" t="t" r="r" b="b"/>
            <a:pathLst>
              <a:path w="6760845" h="1607820">
                <a:moveTo>
                  <a:pt x="228600" y="0"/>
                </a:moveTo>
                <a:lnTo>
                  <a:pt x="6532245" y="0"/>
                </a:lnTo>
                <a:cubicBezTo>
                  <a:pt x="6658497" y="0"/>
                  <a:pt x="6760845" y="102348"/>
                  <a:pt x="6760845" y="228600"/>
                </a:cubicBezTo>
                <a:lnTo>
                  <a:pt x="6760845" y="1379220"/>
                </a:lnTo>
                <a:cubicBezTo>
                  <a:pt x="6760845" y="1505472"/>
                  <a:pt x="6658497" y="1607820"/>
                  <a:pt x="6532245" y="1607820"/>
                </a:cubicBezTo>
                <a:lnTo>
                  <a:pt x="228600" y="1607820"/>
                </a:lnTo>
                <a:cubicBezTo>
                  <a:pt x="102348" y="1607820"/>
                  <a:pt x="0" y="1505472"/>
                  <a:pt x="0" y="1379220"/>
                </a:cubicBezTo>
                <a:lnTo>
                  <a:pt x="0" y="228600"/>
                </a:lnTo>
                <a:cubicBezTo>
                  <a:pt x="0" y="102348"/>
                  <a:pt x="102348" y="0"/>
                  <a:pt x="228600" y="0"/>
                </a:cubicBezTo>
                <a:close/>
              </a:path>
            </a:pathLst>
          </a:custGeom>
          <a:solidFill>
            <a:srgbClr val="FFFFFF">
              <a:alpha val="85098"/>
            </a:srgbClr>
          </a:solidFill>
          <a:ln w="10160">
            <a:solidFill>
              <a:srgbClr val="FFFFFF">
                <a:alpha val="30196"/>
              </a:srgbClr>
            </a:solidFill>
            <a:prstDash val="solid"/>
          </a:ln>
        </p:spPr>
      </p:sp>
      <p:sp>
        <p:nvSpPr>
          <p:cNvPr id="26" name="Shape 24"/>
          <p:cNvSpPr/>
          <p:nvPr/>
        </p:nvSpPr>
        <p:spPr>
          <a:xfrm>
            <a:off x="592217" y="5252089"/>
            <a:ext cx="192881" cy="171450"/>
          </a:xfrm>
          <a:custGeom>
            <a:avLst/>
            <a:gdLst/>
            <a:ahLst/>
            <a:cxnLst/>
            <a:rect l="l" t="t" r="r" b="b"/>
            <a:pathLst>
              <a:path w="192881" h="171450">
                <a:moveTo>
                  <a:pt x="103640" y="-6329"/>
                </a:moveTo>
                <a:cubicBezTo>
                  <a:pt x="102267" y="-9008"/>
                  <a:pt x="99488" y="-10716"/>
                  <a:pt x="96474" y="-10716"/>
                </a:cubicBezTo>
                <a:cubicBezTo>
                  <a:pt x="93460" y="-10716"/>
                  <a:pt x="90681" y="-9008"/>
                  <a:pt x="89308" y="-6329"/>
                </a:cubicBezTo>
                <a:lnTo>
                  <a:pt x="64662" y="41958"/>
                </a:lnTo>
                <a:lnTo>
                  <a:pt x="11117" y="50464"/>
                </a:lnTo>
                <a:cubicBezTo>
                  <a:pt x="8137" y="50933"/>
                  <a:pt x="5659" y="53042"/>
                  <a:pt x="4722" y="55922"/>
                </a:cubicBezTo>
                <a:cubicBezTo>
                  <a:pt x="3784" y="58802"/>
                  <a:pt x="4554" y="61950"/>
                  <a:pt x="6664" y="64093"/>
                </a:cubicBezTo>
                <a:lnTo>
                  <a:pt x="44972" y="102435"/>
                </a:lnTo>
                <a:lnTo>
                  <a:pt x="36534" y="155979"/>
                </a:lnTo>
                <a:cubicBezTo>
                  <a:pt x="36065" y="158960"/>
                  <a:pt x="37304" y="161973"/>
                  <a:pt x="39748" y="163748"/>
                </a:cubicBezTo>
                <a:cubicBezTo>
                  <a:pt x="42193" y="165523"/>
                  <a:pt x="45407" y="165791"/>
                  <a:pt x="48120" y="164418"/>
                </a:cubicBezTo>
                <a:lnTo>
                  <a:pt x="96474" y="139839"/>
                </a:lnTo>
                <a:lnTo>
                  <a:pt x="144795" y="164418"/>
                </a:lnTo>
                <a:cubicBezTo>
                  <a:pt x="147474" y="165791"/>
                  <a:pt x="150722" y="165523"/>
                  <a:pt x="153166" y="163748"/>
                </a:cubicBezTo>
                <a:cubicBezTo>
                  <a:pt x="155611" y="161973"/>
                  <a:pt x="156850" y="158993"/>
                  <a:pt x="156381" y="155979"/>
                </a:cubicBezTo>
                <a:lnTo>
                  <a:pt x="147909" y="102435"/>
                </a:lnTo>
                <a:lnTo>
                  <a:pt x="186217" y="64093"/>
                </a:lnTo>
                <a:cubicBezTo>
                  <a:pt x="188361" y="61950"/>
                  <a:pt x="189097" y="58802"/>
                  <a:pt x="188160" y="55922"/>
                </a:cubicBezTo>
                <a:cubicBezTo>
                  <a:pt x="187222" y="53042"/>
                  <a:pt x="184778" y="50933"/>
                  <a:pt x="181764" y="50464"/>
                </a:cubicBezTo>
                <a:lnTo>
                  <a:pt x="128253" y="41958"/>
                </a:lnTo>
                <a:lnTo>
                  <a:pt x="103640" y="-6329"/>
                </a:lnTo>
                <a:close/>
              </a:path>
            </a:pathLst>
          </a:custGeom>
          <a:solidFill>
            <a:srgbClr val="0071E3"/>
          </a:solidFill>
          <a:ln/>
        </p:spPr>
      </p:sp>
      <p:sp>
        <p:nvSpPr>
          <p:cNvPr id="27" name="Text 25"/>
          <p:cNvSpPr/>
          <p:nvPr/>
        </p:nvSpPr>
        <p:spPr>
          <a:xfrm>
            <a:off x="907733" y="5204464"/>
            <a:ext cx="11906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Key Features</a:t>
            </a:r>
            <a:endParaRPr lang="en-US" sz="1600" dirty="0"/>
          </a:p>
        </p:txBody>
      </p:sp>
      <p:sp>
        <p:nvSpPr>
          <p:cNvPr id="28" name="Shape 26"/>
          <p:cNvSpPr/>
          <p:nvPr/>
        </p:nvSpPr>
        <p:spPr>
          <a:xfrm>
            <a:off x="579120" y="5623564"/>
            <a:ext cx="895350" cy="342900"/>
          </a:xfrm>
          <a:custGeom>
            <a:avLst/>
            <a:gdLst/>
            <a:ahLst/>
            <a:cxnLst/>
            <a:rect l="l" t="t" r="r" b="b"/>
            <a:pathLst>
              <a:path w="895350" h="342900">
                <a:moveTo>
                  <a:pt x="171450" y="0"/>
                </a:moveTo>
                <a:lnTo>
                  <a:pt x="723900" y="0"/>
                </a:lnTo>
                <a:cubicBezTo>
                  <a:pt x="818526" y="0"/>
                  <a:pt x="895350" y="76824"/>
                  <a:pt x="895350" y="171450"/>
                </a:cubicBezTo>
                <a:lnTo>
                  <a:pt x="895350" y="171450"/>
                </a:lnTo>
                <a:cubicBezTo>
                  <a:pt x="895350" y="266076"/>
                  <a:pt x="818526" y="342900"/>
                  <a:pt x="723900" y="342900"/>
                </a:cubicBezTo>
                <a:lnTo>
                  <a:pt x="171450" y="342900"/>
                </a:lnTo>
                <a:cubicBezTo>
                  <a:pt x="76824" y="342900"/>
                  <a:pt x="0" y="266076"/>
                  <a:pt x="0" y="171450"/>
                </a:cubicBezTo>
                <a:lnTo>
                  <a:pt x="0" y="171450"/>
                </a:lnTo>
                <a:cubicBezTo>
                  <a:pt x="0" y="76824"/>
                  <a:pt x="76824" y="0"/>
                  <a:pt x="171450" y="0"/>
                </a:cubicBezTo>
                <a:close/>
              </a:path>
            </a:pathLst>
          </a:custGeom>
          <a:solidFill>
            <a:srgbClr val="0071E3">
              <a:alpha val="10196"/>
            </a:srgbClr>
          </a:solidFill>
          <a:ln/>
        </p:spPr>
      </p:sp>
      <p:sp>
        <p:nvSpPr>
          <p:cNvPr id="29" name="Text 27"/>
          <p:cNvSpPr/>
          <p:nvPr/>
        </p:nvSpPr>
        <p:spPr>
          <a:xfrm>
            <a:off x="579120" y="5623564"/>
            <a:ext cx="962025" cy="342900"/>
          </a:xfrm>
          <a:prstGeom prst="rect">
            <a:avLst/>
          </a:prstGeom>
          <a:noFill/>
          <a:ln/>
        </p:spPr>
        <p:txBody>
          <a:bodyPr wrap="square" lIns="152400" tIns="76200" rIns="152400" bIns="762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Text Input</a:t>
            </a:r>
            <a:endParaRPr lang="en-US" sz="1600" dirty="0"/>
          </a:p>
        </p:txBody>
      </p:sp>
      <p:sp>
        <p:nvSpPr>
          <p:cNvPr id="30" name="Shape 28"/>
          <p:cNvSpPr/>
          <p:nvPr/>
        </p:nvSpPr>
        <p:spPr>
          <a:xfrm>
            <a:off x="1591032" y="5623564"/>
            <a:ext cx="1323975" cy="342900"/>
          </a:xfrm>
          <a:custGeom>
            <a:avLst/>
            <a:gdLst/>
            <a:ahLst/>
            <a:cxnLst/>
            <a:rect l="l" t="t" r="r" b="b"/>
            <a:pathLst>
              <a:path w="1323975" h="342900">
                <a:moveTo>
                  <a:pt x="171450" y="0"/>
                </a:moveTo>
                <a:lnTo>
                  <a:pt x="1152525" y="0"/>
                </a:lnTo>
                <a:cubicBezTo>
                  <a:pt x="1247151" y="0"/>
                  <a:pt x="1323975" y="76824"/>
                  <a:pt x="1323975" y="171450"/>
                </a:cubicBezTo>
                <a:lnTo>
                  <a:pt x="1323975" y="171450"/>
                </a:lnTo>
                <a:cubicBezTo>
                  <a:pt x="1323975" y="266076"/>
                  <a:pt x="1247151" y="342900"/>
                  <a:pt x="1152525" y="342900"/>
                </a:cubicBezTo>
                <a:lnTo>
                  <a:pt x="171450" y="342900"/>
                </a:lnTo>
                <a:cubicBezTo>
                  <a:pt x="76824" y="342900"/>
                  <a:pt x="0" y="266076"/>
                  <a:pt x="0" y="171450"/>
                </a:cubicBezTo>
                <a:lnTo>
                  <a:pt x="0" y="171450"/>
                </a:lnTo>
                <a:cubicBezTo>
                  <a:pt x="0" y="76824"/>
                  <a:pt x="76824" y="0"/>
                  <a:pt x="171450" y="0"/>
                </a:cubicBezTo>
                <a:close/>
              </a:path>
            </a:pathLst>
          </a:custGeom>
          <a:solidFill>
            <a:srgbClr val="0071E3">
              <a:alpha val="10196"/>
            </a:srgbClr>
          </a:solidFill>
          <a:ln/>
        </p:spPr>
      </p:sp>
      <p:sp>
        <p:nvSpPr>
          <p:cNvPr id="31" name="Text 29"/>
          <p:cNvSpPr/>
          <p:nvPr/>
        </p:nvSpPr>
        <p:spPr>
          <a:xfrm>
            <a:off x="1591032" y="5623564"/>
            <a:ext cx="1390650" cy="342900"/>
          </a:xfrm>
          <a:prstGeom prst="rect">
            <a:avLst/>
          </a:prstGeom>
          <a:noFill/>
          <a:ln/>
        </p:spPr>
        <p:txBody>
          <a:bodyPr wrap="square" lIns="152400" tIns="76200" rIns="152400" bIns="762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Batch Processing</a:t>
            </a:r>
            <a:endParaRPr lang="en-US" sz="1600" dirty="0"/>
          </a:p>
        </p:txBody>
      </p:sp>
      <p:sp>
        <p:nvSpPr>
          <p:cNvPr id="32" name="Shape 30"/>
          <p:cNvSpPr/>
          <p:nvPr/>
        </p:nvSpPr>
        <p:spPr>
          <a:xfrm>
            <a:off x="3032879" y="5623564"/>
            <a:ext cx="1152525" cy="342900"/>
          </a:xfrm>
          <a:custGeom>
            <a:avLst/>
            <a:gdLst/>
            <a:ahLst/>
            <a:cxnLst/>
            <a:rect l="l" t="t" r="r" b="b"/>
            <a:pathLst>
              <a:path w="1152525" h="342900">
                <a:moveTo>
                  <a:pt x="171450" y="0"/>
                </a:moveTo>
                <a:lnTo>
                  <a:pt x="981075" y="0"/>
                </a:lnTo>
                <a:cubicBezTo>
                  <a:pt x="1075701" y="0"/>
                  <a:pt x="1152525" y="76824"/>
                  <a:pt x="1152525" y="171450"/>
                </a:cubicBezTo>
                <a:lnTo>
                  <a:pt x="1152525" y="171450"/>
                </a:lnTo>
                <a:cubicBezTo>
                  <a:pt x="1152525" y="266076"/>
                  <a:pt x="1075701" y="342900"/>
                  <a:pt x="981075" y="342900"/>
                </a:cubicBezTo>
                <a:lnTo>
                  <a:pt x="171450" y="342900"/>
                </a:lnTo>
                <a:cubicBezTo>
                  <a:pt x="76824" y="342900"/>
                  <a:pt x="0" y="266076"/>
                  <a:pt x="0" y="171450"/>
                </a:cubicBezTo>
                <a:lnTo>
                  <a:pt x="0" y="171450"/>
                </a:lnTo>
                <a:cubicBezTo>
                  <a:pt x="0" y="76824"/>
                  <a:pt x="76824" y="0"/>
                  <a:pt x="171450" y="0"/>
                </a:cubicBezTo>
                <a:close/>
              </a:path>
            </a:pathLst>
          </a:custGeom>
          <a:solidFill>
            <a:srgbClr val="0071E3">
              <a:alpha val="10196"/>
            </a:srgbClr>
          </a:solidFill>
          <a:ln/>
        </p:spPr>
      </p:sp>
      <p:sp>
        <p:nvSpPr>
          <p:cNvPr id="33" name="Text 31"/>
          <p:cNvSpPr/>
          <p:nvPr/>
        </p:nvSpPr>
        <p:spPr>
          <a:xfrm>
            <a:off x="3032879" y="5623564"/>
            <a:ext cx="1219200" cy="342900"/>
          </a:xfrm>
          <a:prstGeom prst="rect">
            <a:avLst/>
          </a:prstGeom>
          <a:noFill/>
          <a:ln/>
        </p:spPr>
        <p:txBody>
          <a:bodyPr wrap="square" lIns="152400" tIns="76200" rIns="152400" bIns="762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Export Results</a:t>
            </a:r>
            <a:endParaRPr lang="en-US" sz="1600" dirty="0"/>
          </a:p>
        </p:txBody>
      </p:sp>
      <p:sp>
        <p:nvSpPr>
          <p:cNvPr id="34" name="Shape 32"/>
          <p:cNvSpPr/>
          <p:nvPr/>
        </p:nvSpPr>
        <p:spPr>
          <a:xfrm>
            <a:off x="4300180" y="5623564"/>
            <a:ext cx="1276350" cy="342900"/>
          </a:xfrm>
          <a:custGeom>
            <a:avLst/>
            <a:gdLst/>
            <a:ahLst/>
            <a:cxnLst/>
            <a:rect l="l" t="t" r="r" b="b"/>
            <a:pathLst>
              <a:path w="1276350" h="342900">
                <a:moveTo>
                  <a:pt x="171450" y="0"/>
                </a:moveTo>
                <a:lnTo>
                  <a:pt x="1104900" y="0"/>
                </a:lnTo>
                <a:cubicBezTo>
                  <a:pt x="1199526" y="0"/>
                  <a:pt x="1276350" y="76824"/>
                  <a:pt x="1276350" y="171450"/>
                </a:cubicBezTo>
                <a:lnTo>
                  <a:pt x="1276350" y="171450"/>
                </a:lnTo>
                <a:cubicBezTo>
                  <a:pt x="1276350" y="266076"/>
                  <a:pt x="1199526" y="342900"/>
                  <a:pt x="1104900" y="342900"/>
                </a:cubicBezTo>
                <a:lnTo>
                  <a:pt x="171450" y="342900"/>
                </a:lnTo>
                <a:cubicBezTo>
                  <a:pt x="76824" y="342900"/>
                  <a:pt x="0" y="266076"/>
                  <a:pt x="0" y="171450"/>
                </a:cubicBezTo>
                <a:lnTo>
                  <a:pt x="0" y="171450"/>
                </a:lnTo>
                <a:cubicBezTo>
                  <a:pt x="0" y="76824"/>
                  <a:pt x="76824" y="0"/>
                  <a:pt x="171450" y="0"/>
                </a:cubicBezTo>
                <a:close/>
              </a:path>
            </a:pathLst>
          </a:custGeom>
          <a:solidFill>
            <a:srgbClr val="0071E3">
              <a:alpha val="10196"/>
            </a:srgbClr>
          </a:solidFill>
          <a:ln/>
        </p:spPr>
      </p:sp>
      <p:sp>
        <p:nvSpPr>
          <p:cNvPr id="35" name="Text 33"/>
          <p:cNvSpPr/>
          <p:nvPr/>
        </p:nvSpPr>
        <p:spPr>
          <a:xfrm>
            <a:off x="4300180" y="5623564"/>
            <a:ext cx="1343025" cy="342900"/>
          </a:xfrm>
          <a:prstGeom prst="rect">
            <a:avLst/>
          </a:prstGeom>
          <a:noFill/>
          <a:ln/>
        </p:spPr>
        <p:txBody>
          <a:bodyPr wrap="square" lIns="152400" tIns="76200" rIns="152400" bIns="762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History Tracking</a:t>
            </a:r>
            <a:endParaRPr lang="en-US" sz="1600" dirty="0"/>
          </a:p>
        </p:txBody>
      </p:sp>
      <p:sp>
        <p:nvSpPr>
          <p:cNvPr id="36" name="Shape 34"/>
          <p:cNvSpPr/>
          <p:nvPr/>
        </p:nvSpPr>
        <p:spPr>
          <a:xfrm>
            <a:off x="579120" y="6080764"/>
            <a:ext cx="1419225" cy="342900"/>
          </a:xfrm>
          <a:custGeom>
            <a:avLst/>
            <a:gdLst/>
            <a:ahLst/>
            <a:cxnLst/>
            <a:rect l="l" t="t" r="r" b="b"/>
            <a:pathLst>
              <a:path w="1419225" h="342900">
                <a:moveTo>
                  <a:pt x="171450" y="0"/>
                </a:moveTo>
                <a:lnTo>
                  <a:pt x="1247775" y="0"/>
                </a:lnTo>
                <a:cubicBezTo>
                  <a:pt x="1342401" y="0"/>
                  <a:pt x="1419225" y="76824"/>
                  <a:pt x="1419225" y="171450"/>
                </a:cubicBezTo>
                <a:lnTo>
                  <a:pt x="1419225" y="171450"/>
                </a:lnTo>
                <a:cubicBezTo>
                  <a:pt x="1419225" y="266076"/>
                  <a:pt x="1342401" y="342900"/>
                  <a:pt x="1247775" y="342900"/>
                </a:cubicBezTo>
                <a:lnTo>
                  <a:pt x="171450" y="342900"/>
                </a:lnTo>
                <a:cubicBezTo>
                  <a:pt x="76824" y="342900"/>
                  <a:pt x="0" y="266076"/>
                  <a:pt x="0" y="171450"/>
                </a:cubicBezTo>
                <a:lnTo>
                  <a:pt x="0" y="171450"/>
                </a:lnTo>
                <a:cubicBezTo>
                  <a:pt x="0" y="76824"/>
                  <a:pt x="76824" y="0"/>
                  <a:pt x="171450" y="0"/>
                </a:cubicBezTo>
                <a:close/>
              </a:path>
            </a:pathLst>
          </a:custGeom>
          <a:solidFill>
            <a:srgbClr val="0071E3">
              <a:alpha val="10196"/>
            </a:srgbClr>
          </a:solidFill>
          <a:ln/>
        </p:spPr>
      </p:sp>
      <p:sp>
        <p:nvSpPr>
          <p:cNvPr id="37" name="Text 35"/>
          <p:cNvSpPr/>
          <p:nvPr/>
        </p:nvSpPr>
        <p:spPr>
          <a:xfrm>
            <a:off x="579120" y="6080764"/>
            <a:ext cx="1485900" cy="342900"/>
          </a:xfrm>
          <a:prstGeom prst="rect">
            <a:avLst/>
          </a:prstGeom>
          <a:noFill/>
          <a:ln/>
        </p:spPr>
        <p:txBody>
          <a:bodyPr wrap="square" lIns="152400" tIns="76200" rIns="152400" bIns="762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Responsive Design</a:t>
            </a:r>
            <a:endParaRPr lang="en-US" sz="1600" dirty="0"/>
          </a:p>
        </p:txBody>
      </p:sp>
      <p:sp>
        <p:nvSpPr>
          <p:cNvPr id="39" name="Shape 36"/>
          <p:cNvSpPr/>
          <p:nvPr/>
        </p:nvSpPr>
        <p:spPr>
          <a:xfrm>
            <a:off x="7379970" y="5734056"/>
            <a:ext cx="2131695" cy="883920"/>
          </a:xfrm>
          <a:custGeom>
            <a:avLst/>
            <a:gdLst/>
            <a:ahLst/>
            <a:cxnLst/>
            <a:rect l="l" t="t" r="r" b="b"/>
            <a:pathLst>
              <a:path w="2131695" h="883920">
                <a:moveTo>
                  <a:pt x="152397" y="0"/>
                </a:moveTo>
                <a:lnTo>
                  <a:pt x="1979298" y="0"/>
                </a:lnTo>
                <a:cubicBezTo>
                  <a:pt x="2063465" y="0"/>
                  <a:pt x="2131695" y="68230"/>
                  <a:pt x="2131695" y="152397"/>
                </a:cubicBezTo>
                <a:lnTo>
                  <a:pt x="2131695" y="731523"/>
                </a:lnTo>
                <a:cubicBezTo>
                  <a:pt x="2131695" y="815690"/>
                  <a:pt x="2063465" y="883920"/>
                  <a:pt x="1979298" y="883920"/>
                </a:cubicBezTo>
                <a:lnTo>
                  <a:pt x="152397" y="883920"/>
                </a:lnTo>
                <a:cubicBezTo>
                  <a:pt x="68287" y="883920"/>
                  <a:pt x="0" y="815633"/>
                  <a:pt x="0" y="731523"/>
                </a:cubicBezTo>
                <a:lnTo>
                  <a:pt x="0" y="152397"/>
                </a:lnTo>
                <a:cubicBezTo>
                  <a:pt x="0" y="68287"/>
                  <a:pt x="68287" y="0"/>
                  <a:pt x="152397" y="0"/>
                </a:cubicBezTo>
                <a:close/>
              </a:path>
            </a:pathLst>
          </a:custGeom>
          <a:solidFill>
            <a:srgbClr val="FFFFFF">
              <a:alpha val="85098"/>
            </a:srgbClr>
          </a:solidFill>
          <a:ln w="10160">
            <a:solidFill>
              <a:srgbClr val="FFFFFF">
                <a:alpha val="30196"/>
              </a:srgbClr>
            </a:solidFill>
            <a:prstDash val="solid"/>
          </a:ln>
        </p:spPr>
      </p:sp>
      <p:sp>
        <p:nvSpPr>
          <p:cNvPr id="40" name="Text 37"/>
          <p:cNvSpPr/>
          <p:nvPr/>
        </p:nvSpPr>
        <p:spPr>
          <a:xfrm>
            <a:off x="7464743" y="5890264"/>
            <a:ext cx="1962150" cy="342900"/>
          </a:xfrm>
          <a:prstGeom prst="rect">
            <a:avLst/>
          </a:prstGeom>
          <a:noFill/>
          <a:ln/>
        </p:spPr>
        <p:txBody>
          <a:bodyPr wrap="square" lIns="0" tIns="0" rIns="0" bIns="0" rtlCol="0" anchor="ctr"/>
          <a:lstStyle/>
          <a:p>
            <a:pPr algn="ctr">
              <a:lnSpc>
                <a:spcPct val="100000"/>
              </a:lnSpc>
            </a:pPr>
            <a:r>
              <a:rPr lang="en-US" sz="2250" b="1" dirty="0">
                <a:solidFill>
                  <a:srgbClr val="0071E3"/>
                </a:solidFill>
                <a:latin typeface="Liter" pitchFamily="34" charset="0"/>
                <a:ea typeface="Liter" pitchFamily="34" charset="-122"/>
                <a:cs typeface="Liter" pitchFamily="34" charset="-120"/>
              </a:rPr>
              <a:t>100%</a:t>
            </a:r>
            <a:endParaRPr lang="en-US" sz="1600" dirty="0"/>
          </a:p>
        </p:txBody>
      </p:sp>
      <p:sp>
        <p:nvSpPr>
          <p:cNvPr id="41" name="Text 38"/>
          <p:cNvSpPr/>
          <p:nvPr/>
        </p:nvSpPr>
        <p:spPr>
          <a:xfrm>
            <a:off x="7502843" y="6271264"/>
            <a:ext cx="1885950"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Responsive</a:t>
            </a:r>
            <a:endParaRPr lang="en-US" sz="1600" dirty="0"/>
          </a:p>
        </p:txBody>
      </p:sp>
      <p:sp>
        <p:nvSpPr>
          <p:cNvPr id="42" name="Shape 39"/>
          <p:cNvSpPr/>
          <p:nvPr/>
        </p:nvSpPr>
        <p:spPr>
          <a:xfrm>
            <a:off x="9673590" y="5734056"/>
            <a:ext cx="2131695" cy="883920"/>
          </a:xfrm>
          <a:custGeom>
            <a:avLst/>
            <a:gdLst/>
            <a:ahLst/>
            <a:cxnLst/>
            <a:rect l="l" t="t" r="r" b="b"/>
            <a:pathLst>
              <a:path w="2131695" h="883920">
                <a:moveTo>
                  <a:pt x="152397" y="0"/>
                </a:moveTo>
                <a:lnTo>
                  <a:pt x="1979298" y="0"/>
                </a:lnTo>
                <a:cubicBezTo>
                  <a:pt x="2063465" y="0"/>
                  <a:pt x="2131695" y="68230"/>
                  <a:pt x="2131695" y="152397"/>
                </a:cubicBezTo>
                <a:lnTo>
                  <a:pt x="2131695" y="731523"/>
                </a:lnTo>
                <a:cubicBezTo>
                  <a:pt x="2131695" y="815690"/>
                  <a:pt x="2063465" y="883920"/>
                  <a:pt x="1979298" y="883920"/>
                </a:cubicBezTo>
                <a:lnTo>
                  <a:pt x="152397" y="883920"/>
                </a:lnTo>
                <a:cubicBezTo>
                  <a:pt x="68287" y="883920"/>
                  <a:pt x="0" y="815633"/>
                  <a:pt x="0" y="731523"/>
                </a:cubicBezTo>
                <a:lnTo>
                  <a:pt x="0" y="152397"/>
                </a:lnTo>
                <a:cubicBezTo>
                  <a:pt x="0" y="68287"/>
                  <a:pt x="68287" y="0"/>
                  <a:pt x="152397" y="0"/>
                </a:cubicBezTo>
                <a:close/>
              </a:path>
            </a:pathLst>
          </a:custGeom>
          <a:solidFill>
            <a:srgbClr val="FFFFFF">
              <a:alpha val="85098"/>
            </a:srgbClr>
          </a:solidFill>
          <a:ln w="10160">
            <a:solidFill>
              <a:srgbClr val="FFFFFF">
                <a:alpha val="30196"/>
              </a:srgbClr>
            </a:solidFill>
            <a:prstDash val="solid"/>
          </a:ln>
        </p:spPr>
      </p:sp>
      <p:sp>
        <p:nvSpPr>
          <p:cNvPr id="43" name="Text 40"/>
          <p:cNvSpPr/>
          <p:nvPr/>
        </p:nvSpPr>
        <p:spPr>
          <a:xfrm>
            <a:off x="9758363" y="5890264"/>
            <a:ext cx="1962150" cy="342900"/>
          </a:xfrm>
          <a:prstGeom prst="rect">
            <a:avLst/>
          </a:prstGeom>
          <a:noFill/>
          <a:ln/>
        </p:spPr>
        <p:txBody>
          <a:bodyPr wrap="square" lIns="0" tIns="0" rIns="0" bIns="0" rtlCol="0" anchor="ctr"/>
          <a:lstStyle/>
          <a:p>
            <a:pPr algn="ctr">
              <a:lnSpc>
                <a:spcPct val="100000"/>
              </a:lnSpc>
            </a:pPr>
            <a:r>
              <a:rPr lang="en-US" sz="2250" b="1" dirty="0">
                <a:solidFill>
                  <a:srgbClr val="0071E3"/>
                </a:solidFill>
                <a:latin typeface="Liter" pitchFamily="34" charset="0"/>
                <a:ea typeface="Liter" pitchFamily="34" charset="-122"/>
                <a:cs typeface="Liter" pitchFamily="34" charset="-120"/>
              </a:rPr>
              <a:t>&lt;1s</a:t>
            </a:r>
            <a:endParaRPr lang="en-US" sz="1600" dirty="0"/>
          </a:p>
        </p:txBody>
      </p:sp>
      <p:sp>
        <p:nvSpPr>
          <p:cNvPr id="44" name="Text 41"/>
          <p:cNvSpPr/>
          <p:nvPr/>
        </p:nvSpPr>
        <p:spPr>
          <a:xfrm>
            <a:off x="9796463" y="6271264"/>
            <a:ext cx="1885950" cy="190500"/>
          </a:xfrm>
          <a:prstGeom prst="rect">
            <a:avLst/>
          </a:prstGeom>
          <a:noFill/>
          <a:ln/>
        </p:spPr>
        <p:txBody>
          <a:bodyPr wrap="square" lIns="0" tIns="0" rIns="0" bIns="0" rtlCol="0" anchor="ctr"/>
          <a:lstStyle/>
          <a:p>
            <a:pPr algn="ctr">
              <a:lnSpc>
                <a:spcPct val="120000"/>
              </a:lnSpc>
            </a:pPr>
            <a:r>
              <a:rPr lang="en-US" sz="1050" dirty="0">
                <a:solidFill>
                  <a:srgbClr val="86868B"/>
                </a:solidFill>
                <a:latin typeface="Quattrocento Sans" pitchFamily="34" charset="0"/>
                <a:ea typeface="Quattrocento Sans" pitchFamily="34" charset="-122"/>
                <a:cs typeface="Quattrocento Sans" pitchFamily="34" charset="-120"/>
              </a:rPr>
              <a:t>Response Time</a:t>
            </a:r>
            <a:endParaRPr lang="en-US" sz="1600" dirty="0"/>
          </a:p>
        </p:txBody>
      </p:sp>
      <p:pic>
        <p:nvPicPr>
          <p:cNvPr id="48" name="Picture 47">
            <a:extLst>
              <a:ext uri="{FF2B5EF4-FFF2-40B4-BE49-F238E27FC236}">
                <a16:creationId xmlns:a16="http://schemas.microsoft.com/office/drawing/2014/main" id="{D2D7513E-7207-FC29-CE6B-E6C1F65FB76C}"/>
              </a:ext>
            </a:extLst>
          </p:cNvPr>
          <p:cNvPicPr>
            <a:picLocks noChangeAspect="1"/>
          </p:cNvPicPr>
          <p:nvPr/>
        </p:nvPicPr>
        <p:blipFill>
          <a:blip r:embed="rId3"/>
          <a:stretch>
            <a:fillRect/>
          </a:stretch>
        </p:blipFill>
        <p:spPr>
          <a:xfrm>
            <a:off x="7298055" y="1761300"/>
            <a:ext cx="4884754" cy="3587944"/>
          </a:xfrm>
          <a:prstGeom prst="rect">
            <a:avLst/>
          </a:prstGeom>
          <a:ln>
            <a:noFill/>
          </a:ln>
          <a:effectLst>
            <a:softEdge rad="112500"/>
          </a:effectLst>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D1D1F"/>
        </a:solidFill>
        <a:effectLst/>
      </p:bgPr>
    </p:bg>
    <p:spTree>
      <p:nvGrpSpPr>
        <p:cNvPr id="1" name=""/>
        <p:cNvGrpSpPr/>
        <p:nvPr/>
      </p:nvGrpSpPr>
      <p:grpSpPr>
        <a:xfrm>
          <a:off x="0" y="0"/>
          <a:ext cx="0" cy="0"/>
          <a:chOff x="0" y="0"/>
          <a:chExt cx="0" cy="0"/>
        </a:xfrm>
      </p:grpSpPr>
      <p:pic>
        <p:nvPicPr>
          <p:cNvPr id="2" name="Image 0" descr="https://kimi-web-img.moonshot.cn/img/media.istockphoto.com/7f17be46ca64b582f5c56a661c8bab9ef1e0fc08.jpg"/>
          <p:cNvPicPr>
            <a:picLocks noChangeAspect="1"/>
          </p:cNvPicPr>
          <p:nvPr/>
        </p:nvPicPr>
        <p:blipFill>
          <a:blip r:embed="rId3">
            <a:alphaModFix amt="10000"/>
          </a:blip>
          <a:srcRect l="327" r="32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D1D1F">
                  <a:alpha val="95000"/>
                </a:srgbClr>
              </a:gs>
              <a:gs pos="50000">
                <a:srgbClr val="1D1D1F">
                  <a:alpha val="90000"/>
                </a:srgbClr>
              </a:gs>
              <a:gs pos="100000">
                <a:srgbClr val="0071E3">
                  <a:alpha val="20000"/>
                </a:srgbClr>
              </a:gs>
            </a:gsLst>
            <a:lin ang="2700000" scaled="1"/>
          </a:gradFill>
          <a:ln/>
        </p:spPr>
      </p:sp>
      <p:sp>
        <p:nvSpPr>
          <p:cNvPr id="4" name="Shape 1"/>
          <p:cNvSpPr/>
          <p:nvPr/>
        </p:nvSpPr>
        <p:spPr>
          <a:xfrm>
            <a:off x="4809887" y="271468"/>
            <a:ext cx="2569845" cy="502920"/>
          </a:xfrm>
          <a:custGeom>
            <a:avLst/>
            <a:gdLst/>
            <a:ahLst/>
            <a:cxnLst/>
            <a:rect l="l" t="t" r="r" b="b"/>
            <a:pathLst>
              <a:path w="2569845" h="502920">
                <a:moveTo>
                  <a:pt x="251460" y="0"/>
                </a:moveTo>
                <a:lnTo>
                  <a:pt x="2318385" y="0"/>
                </a:lnTo>
                <a:cubicBezTo>
                  <a:pt x="2457263" y="0"/>
                  <a:pt x="2569845" y="112582"/>
                  <a:pt x="2569845" y="251460"/>
                </a:cubicBezTo>
                <a:lnTo>
                  <a:pt x="2569845" y="251460"/>
                </a:lnTo>
                <a:cubicBezTo>
                  <a:pt x="2569845" y="390338"/>
                  <a:pt x="2457263" y="502920"/>
                  <a:pt x="2318385" y="502920"/>
                </a:cubicBezTo>
                <a:lnTo>
                  <a:pt x="251460" y="502920"/>
                </a:lnTo>
                <a:cubicBezTo>
                  <a:pt x="112675" y="502920"/>
                  <a:pt x="0" y="390245"/>
                  <a:pt x="0" y="251460"/>
                </a:cubicBezTo>
                <a:lnTo>
                  <a:pt x="0" y="251460"/>
                </a:lnTo>
                <a:cubicBezTo>
                  <a:pt x="0" y="112675"/>
                  <a:pt x="112675" y="0"/>
                  <a:pt x="251460" y="0"/>
                </a:cubicBezTo>
                <a:close/>
              </a:path>
            </a:pathLst>
          </a:custGeom>
          <a:solidFill>
            <a:srgbClr val="FFFFFF">
              <a:alpha val="10196"/>
            </a:srgbClr>
          </a:solidFill>
          <a:ln w="10160">
            <a:solidFill>
              <a:srgbClr val="FFFFFF">
                <a:alpha val="20000"/>
              </a:srgbClr>
            </a:solidFill>
            <a:prstDash val="solid"/>
          </a:ln>
        </p:spPr>
      </p:sp>
      <p:sp>
        <p:nvSpPr>
          <p:cNvPr id="5" name="Shape 2"/>
          <p:cNvSpPr/>
          <p:nvPr/>
        </p:nvSpPr>
        <p:spPr>
          <a:xfrm>
            <a:off x="5066109" y="427676"/>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0071E3"/>
          </a:solidFill>
          <a:ln/>
        </p:spPr>
      </p:sp>
      <p:sp>
        <p:nvSpPr>
          <p:cNvPr id="6" name="Text 3"/>
          <p:cNvSpPr/>
          <p:nvPr/>
        </p:nvSpPr>
        <p:spPr>
          <a:xfrm>
            <a:off x="5351859" y="389576"/>
            <a:ext cx="1838325" cy="266700"/>
          </a:xfrm>
          <a:prstGeom prst="rect">
            <a:avLst/>
          </a:prstGeom>
          <a:noFill/>
          <a:ln/>
        </p:spPr>
        <p:txBody>
          <a:bodyPr wrap="square" lIns="0" tIns="0" rIns="0" bIns="0" rtlCol="0" anchor="ctr"/>
          <a:lstStyle/>
          <a:p>
            <a:pPr algn="ctr">
              <a:lnSpc>
                <a:spcPct val="130000"/>
              </a:lnSpc>
            </a:pPr>
            <a:r>
              <a:rPr lang="en-US" sz="1350" kern="0" spc="34" dirty="0">
                <a:solidFill>
                  <a:srgbClr val="FFFFFF">
                    <a:alpha val="80000"/>
                  </a:srgbClr>
                </a:solidFill>
                <a:latin typeface="Liter" pitchFamily="34" charset="0"/>
                <a:ea typeface="Liter" pitchFamily="34" charset="-122"/>
                <a:cs typeface="Liter" pitchFamily="34" charset="-120"/>
              </a:rPr>
              <a:t>PROJECT COMPLETE</a:t>
            </a:r>
            <a:endParaRPr lang="en-US" sz="1600" dirty="0"/>
          </a:p>
        </p:txBody>
      </p:sp>
      <p:sp>
        <p:nvSpPr>
          <p:cNvPr id="7" name="Text 4"/>
          <p:cNvSpPr/>
          <p:nvPr/>
        </p:nvSpPr>
        <p:spPr>
          <a:xfrm>
            <a:off x="238125" y="1006794"/>
            <a:ext cx="11715750" cy="571500"/>
          </a:xfrm>
          <a:prstGeom prst="rect">
            <a:avLst/>
          </a:prstGeom>
          <a:noFill/>
          <a:ln/>
        </p:spPr>
        <p:txBody>
          <a:bodyPr wrap="square" lIns="0" tIns="0" rIns="0" bIns="0" rtlCol="0" anchor="ctr"/>
          <a:lstStyle/>
          <a:p>
            <a:pPr algn="ctr">
              <a:lnSpc>
                <a:spcPct val="80000"/>
              </a:lnSpc>
            </a:pPr>
            <a:r>
              <a:rPr lang="en-US" sz="4500" b="1" dirty="0">
                <a:solidFill>
                  <a:srgbClr val="FFFFFF"/>
                </a:solidFill>
                <a:latin typeface="Liter" pitchFamily="34" charset="0"/>
                <a:ea typeface="Liter" pitchFamily="34" charset="-122"/>
                <a:cs typeface="Liter" pitchFamily="34" charset="-120"/>
              </a:rPr>
              <a:t>Conclusion</a:t>
            </a:r>
            <a:endParaRPr lang="en-US" sz="1600" dirty="0"/>
          </a:p>
        </p:txBody>
      </p:sp>
      <p:sp>
        <p:nvSpPr>
          <p:cNvPr id="8" name="Text 5"/>
          <p:cNvSpPr/>
          <p:nvPr/>
        </p:nvSpPr>
        <p:spPr>
          <a:xfrm>
            <a:off x="2390775" y="1730694"/>
            <a:ext cx="7410450" cy="266700"/>
          </a:xfrm>
          <a:prstGeom prst="rect">
            <a:avLst/>
          </a:prstGeom>
          <a:noFill/>
          <a:ln/>
        </p:spPr>
        <p:txBody>
          <a:bodyPr wrap="square" lIns="0" tIns="0" rIns="0" bIns="0" rtlCol="0" anchor="ctr"/>
          <a:lstStyle/>
          <a:p>
            <a:pPr algn="ctr">
              <a:lnSpc>
                <a:spcPct val="120000"/>
              </a:lnSpc>
            </a:pPr>
            <a:r>
              <a:rPr lang="en-US" sz="1500" dirty="0">
                <a:solidFill>
                  <a:srgbClr val="FFFFFF">
                    <a:alpha val="60000"/>
                  </a:srgbClr>
                </a:solidFill>
                <a:latin typeface="Quattrocento Sans" pitchFamily="34" charset="0"/>
                <a:ea typeface="Quattrocento Sans" pitchFamily="34" charset="-122"/>
                <a:cs typeface="Quattrocento Sans" pitchFamily="34" charset="-120"/>
              </a:rPr>
              <a:t>Successfully delivered an end-to-end AI text analytics solution</a:t>
            </a:r>
            <a:endParaRPr lang="en-US" sz="1600" dirty="0"/>
          </a:p>
        </p:txBody>
      </p:sp>
      <p:sp>
        <p:nvSpPr>
          <p:cNvPr id="9" name="Shape 6"/>
          <p:cNvSpPr/>
          <p:nvPr/>
        </p:nvSpPr>
        <p:spPr>
          <a:xfrm>
            <a:off x="1223010" y="2382204"/>
            <a:ext cx="4751070" cy="1512570"/>
          </a:xfrm>
          <a:custGeom>
            <a:avLst/>
            <a:gdLst/>
            <a:ahLst/>
            <a:cxnLst/>
            <a:rect l="l" t="t" r="r" b="b"/>
            <a:pathLst>
              <a:path w="4751070" h="1512570">
                <a:moveTo>
                  <a:pt x="228595" y="0"/>
                </a:moveTo>
                <a:lnTo>
                  <a:pt x="4522475" y="0"/>
                </a:lnTo>
                <a:cubicBezTo>
                  <a:pt x="4648725" y="0"/>
                  <a:pt x="4751070" y="102345"/>
                  <a:pt x="4751070" y="228595"/>
                </a:cubicBezTo>
                <a:lnTo>
                  <a:pt x="4751070" y="1283975"/>
                </a:lnTo>
                <a:cubicBezTo>
                  <a:pt x="4751070" y="1410225"/>
                  <a:pt x="4648725" y="1512570"/>
                  <a:pt x="4522475" y="1512570"/>
                </a:cubicBezTo>
                <a:lnTo>
                  <a:pt x="228595" y="1512570"/>
                </a:lnTo>
                <a:cubicBezTo>
                  <a:pt x="102345" y="1512570"/>
                  <a:pt x="0" y="1410225"/>
                  <a:pt x="0" y="1283975"/>
                </a:cubicBezTo>
                <a:lnTo>
                  <a:pt x="0" y="228595"/>
                </a:lnTo>
                <a:cubicBezTo>
                  <a:pt x="0" y="102430"/>
                  <a:pt x="102430" y="0"/>
                  <a:pt x="228595" y="0"/>
                </a:cubicBezTo>
                <a:close/>
              </a:path>
            </a:pathLst>
          </a:custGeom>
          <a:solidFill>
            <a:srgbClr val="FFFFFF">
              <a:alpha val="85098"/>
            </a:srgbClr>
          </a:solidFill>
          <a:ln w="10160">
            <a:solidFill>
              <a:srgbClr val="FFFFFF">
                <a:alpha val="30196"/>
              </a:srgbClr>
            </a:solidFill>
            <a:prstDash val="solid"/>
          </a:ln>
        </p:spPr>
      </p:sp>
      <p:sp>
        <p:nvSpPr>
          <p:cNvPr id="10" name="Shape 7"/>
          <p:cNvSpPr/>
          <p:nvPr/>
        </p:nvSpPr>
        <p:spPr>
          <a:xfrm>
            <a:off x="1455420" y="2614613"/>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20000"/>
            </a:srgbClr>
          </a:solidFill>
          <a:ln/>
        </p:spPr>
      </p:sp>
      <p:sp>
        <p:nvSpPr>
          <p:cNvPr id="11" name="Shape 8"/>
          <p:cNvSpPr/>
          <p:nvPr/>
        </p:nvSpPr>
        <p:spPr>
          <a:xfrm>
            <a:off x="1541145" y="2728913"/>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0071E3"/>
          </a:solidFill>
          <a:ln/>
        </p:spPr>
      </p:sp>
      <p:sp>
        <p:nvSpPr>
          <p:cNvPr id="12" name="Text 9"/>
          <p:cNvSpPr/>
          <p:nvPr/>
        </p:nvSpPr>
        <p:spPr>
          <a:xfrm>
            <a:off x="2026920" y="2709863"/>
            <a:ext cx="17430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End-to-End System</a:t>
            </a:r>
            <a:endParaRPr lang="en-US" sz="1600" dirty="0"/>
          </a:p>
        </p:txBody>
      </p:sp>
      <p:sp>
        <p:nvSpPr>
          <p:cNvPr id="13" name="Text 10"/>
          <p:cNvSpPr/>
          <p:nvPr/>
        </p:nvSpPr>
        <p:spPr>
          <a:xfrm>
            <a:off x="1455420" y="3224213"/>
            <a:ext cx="4352925" cy="438150"/>
          </a:xfrm>
          <a:prstGeom prst="rect">
            <a:avLst/>
          </a:prstGeom>
          <a:noFill/>
          <a:ln/>
        </p:spPr>
        <p:txBody>
          <a:bodyPr wrap="square" lIns="0" tIns="0" rIns="0" bIns="0" rtlCol="0" anchor="ctr"/>
          <a:lstStyle/>
          <a:p>
            <a:pPr>
              <a:lnSpc>
                <a:spcPct val="140000"/>
              </a:lnSpc>
            </a:pPr>
            <a:r>
              <a:rPr lang="en-US" sz="1050" dirty="0">
                <a:solidFill>
                  <a:srgbClr val="FFFFFF">
                    <a:alpha val="70000"/>
                  </a:srgbClr>
                </a:solidFill>
                <a:latin typeface="Quattrocento Sans" pitchFamily="34" charset="0"/>
                <a:ea typeface="Quattrocento Sans" pitchFamily="34" charset="-122"/>
                <a:cs typeface="Quattrocento Sans" pitchFamily="34" charset="-120"/>
              </a:rPr>
              <a:t>Developed a comprehensive AI-based text analytics system integrating preprocessing, topic modeling, and sentiment analysis in a unified pipeline.</a:t>
            </a:r>
            <a:endParaRPr lang="en-US" sz="1600" dirty="0"/>
          </a:p>
        </p:txBody>
      </p:sp>
      <p:sp>
        <p:nvSpPr>
          <p:cNvPr id="14" name="Shape 11"/>
          <p:cNvSpPr/>
          <p:nvPr/>
        </p:nvSpPr>
        <p:spPr>
          <a:xfrm>
            <a:off x="6214110" y="2382204"/>
            <a:ext cx="4751070" cy="1512570"/>
          </a:xfrm>
          <a:custGeom>
            <a:avLst/>
            <a:gdLst/>
            <a:ahLst/>
            <a:cxnLst/>
            <a:rect l="l" t="t" r="r" b="b"/>
            <a:pathLst>
              <a:path w="4751070" h="1512570">
                <a:moveTo>
                  <a:pt x="228595" y="0"/>
                </a:moveTo>
                <a:lnTo>
                  <a:pt x="4522475" y="0"/>
                </a:lnTo>
                <a:cubicBezTo>
                  <a:pt x="4648725" y="0"/>
                  <a:pt x="4751070" y="102345"/>
                  <a:pt x="4751070" y="228595"/>
                </a:cubicBezTo>
                <a:lnTo>
                  <a:pt x="4751070" y="1283975"/>
                </a:lnTo>
                <a:cubicBezTo>
                  <a:pt x="4751070" y="1410225"/>
                  <a:pt x="4648725" y="1512570"/>
                  <a:pt x="4522475" y="1512570"/>
                </a:cubicBezTo>
                <a:lnTo>
                  <a:pt x="228595" y="1512570"/>
                </a:lnTo>
                <a:cubicBezTo>
                  <a:pt x="102345" y="1512570"/>
                  <a:pt x="0" y="1410225"/>
                  <a:pt x="0" y="1283975"/>
                </a:cubicBezTo>
                <a:lnTo>
                  <a:pt x="0" y="228595"/>
                </a:lnTo>
                <a:cubicBezTo>
                  <a:pt x="0" y="102430"/>
                  <a:pt x="102430" y="0"/>
                  <a:pt x="228595" y="0"/>
                </a:cubicBezTo>
                <a:close/>
              </a:path>
            </a:pathLst>
          </a:custGeom>
          <a:solidFill>
            <a:srgbClr val="FFFFFF">
              <a:alpha val="85098"/>
            </a:srgbClr>
          </a:solidFill>
          <a:ln w="10160">
            <a:solidFill>
              <a:srgbClr val="FFFFFF">
                <a:alpha val="30196"/>
              </a:srgbClr>
            </a:solidFill>
            <a:prstDash val="solid"/>
          </a:ln>
        </p:spPr>
      </p:sp>
      <p:sp>
        <p:nvSpPr>
          <p:cNvPr id="15" name="Shape 12"/>
          <p:cNvSpPr/>
          <p:nvPr/>
        </p:nvSpPr>
        <p:spPr>
          <a:xfrm>
            <a:off x="6446520" y="2614613"/>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20000"/>
            </a:srgbClr>
          </a:solidFill>
          <a:ln/>
        </p:spPr>
      </p:sp>
      <p:sp>
        <p:nvSpPr>
          <p:cNvPr id="16" name="Shape 13"/>
          <p:cNvSpPr/>
          <p:nvPr/>
        </p:nvSpPr>
        <p:spPr>
          <a:xfrm>
            <a:off x="6589395" y="2728913"/>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0071E3"/>
          </a:solidFill>
          <a:ln/>
        </p:spPr>
      </p:sp>
      <p:sp>
        <p:nvSpPr>
          <p:cNvPr id="17" name="Text 14"/>
          <p:cNvSpPr/>
          <p:nvPr/>
        </p:nvSpPr>
        <p:spPr>
          <a:xfrm>
            <a:off x="7018020" y="2709863"/>
            <a:ext cx="17526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Meaningful Insights</a:t>
            </a:r>
            <a:endParaRPr lang="en-US" sz="1600" dirty="0"/>
          </a:p>
        </p:txBody>
      </p:sp>
      <p:sp>
        <p:nvSpPr>
          <p:cNvPr id="18" name="Text 15"/>
          <p:cNvSpPr/>
          <p:nvPr/>
        </p:nvSpPr>
        <p:spPr>
          <a:xfrm>
            <a:off x="6446520" y="3224213"/>
            <a:ext cx="4352925" cy="438150"/>
          </a:xfrm>
          <a:prstGeom prst="rect">
            <a:avLst/>
          </a:prstGeom>
          <a:noFill/>
          <a:ln/>
        </p:spPr>
        <p:txBody>
          <a:bodyPr wrap="square" lIns="0" tIns="0" rIns="0" bIns="0" rtlCol="0" anchor="ctr"/>
          <a:lstStyle/>
          <a:p>
            <a:pPr>
              <a:lnSpc>
                <a:spcPct val="140000"/>
              </a:lnSpc>
            </a:pPr>
            <a:r>
              <a:rPr lang="en-US" sz="1050" dirty="0">
                <a:solidFill>
                  <a:srgbClr val="FFFFFF">
                    <a:alpha val="70000"/>
                  </a:srgbClr>
                </a:solidFill>
                <a:latin typeface="Quattrocento Sans" pitchFamily="34" charset="0"/>
                <a:ea typeface="Quattrocento Sans" pitchFamily="34" charset="-122"/>
                <a:cs typeface="Quattrocento Sans" pitchFamily="34" charset="-120"/>
              </a:rPr>
              <a:t>Successfully extracted actionable topics and sentiment insights from unstructured text data, enabling data-driven decision making.</a:t>
            </a:r>
            <a:endParaRPr lang="en-US" sz="1600" dirty="0"/>
          </a:p>
        </p:txBody>
      </p:sp>
      <p:sp>
        <p:nvSpPr>
          <p:cNvPr id="19" name="Shape 16"/>
          <p:cNvSpPr/>
          <p:nvPr/>
        </p:nvSpPr>
        <p:spPr>
          <a:xfrm>
            <a:off x="1223010" y="4126228"/>
            <a:ext cx="4751070" cy="1512570"/>
          </a:xfrm>
          <a:custGeom>
            <a:avLst/>
            <a:gdLst/>
            <a:ahLst/>
            <a:cxnLst/>
            <a:rect l="l" t="t" r="r" b="b"/>
            <a:pathLst>
              <a:path w="4751070" h="1512570">
                <a:moveTo>
                  <a:pt x="228595" y="0"/>
                </a:moveTo>
                <a:lnTo>
                  <a:pt x="4522475" y="0"/>
                </a:lnTo>
                <a:cubicBezTo>
                  <a:pt x="4648725" y="0"/>
                  <a:pt x="4751070" y="102345"/>
                  <a:pt x="4751070" y="228595"/>
                </a:cubicBezTo>
                <a:lnTo>
                  <a:pt x="4751070" y="1283975"/>
                </a:lnTo>
                <a:cubicBezTo>
                  <a:pt x="4751070" y="1410225"/>
                  <a:pt x="4648725" y="1512570"/>
                  <a:pt x="4522475" y="1512570"/>
                </a:cubicBezTo>
                <a:lnTo>
                  <a:pt x="228595" y="1512570"/>
                </a:lnTo>
                <a:cubicBezTo>
                  <a:pt x="102345" y="1512570"/>
                  <a:pt x="0" y="1410225"/>
                  <a:pt x="0" y="1283975"/>
                </a:cubicBezTo>
                <a:lnTo>
                  <a:pt x="0" y="228595"/>
                </a:lnTo>
                <a:cubicBezTo>
                  <a:pt x="0" y="102430"/>
                  <a:pt x="102430" y="0"/>
                  <a:pt x="228595" y="0"/>
                </a:cubicBezTo>
                <a:close/>
              </a:path>
            </a:pathLst>
          </a:custGeom>
          <a:solidFill>
            <a:srgbClr val="FFFFFF">
              <a:alpha val="85098"/>
            </a:srgbClr>
          </a:solidFill>
          <a:ln w="10160">
            <a:solidFill>
              <a:srgbClr val="FFFFFF">
                <a:alpha val="30196"/>
              </a:srgbClr>
            </a:solidFill>
            <a:prstDash val="solid"/>
          </a:ln>
        </p:spPr>
      </p:sp>
      <p:sp>
        <p:nvSpPr>
          <p:cNvPr id="20" name="Shape 17"/>
          <p:cNvSpPr/>
          <p:nvPr/>
        </p:nvSpPr>
        <p:spPr>
          <a:xfrm>
            <a:off x="1455420" y="4358646"/>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20000"/>
            </a:srgbClr>
          </a:solidFill>
          <a:ln/>
        </p:spPr>
      </p:sp>
      <p:sp>
        <p:nvSpPr>
          <p:cNvPr id="21" name="Shape 18"/>
          <p:cNvSpPr/>
          <p:nvPr/>
        </p:nvSpPr>
        <p:spPr>
          <a:xfrm>
            <a:off x="1569720" y="4472946"/>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0071E3"/>
          </a:solidFill>
          <a:ln/>
        </p:spPr>
      </p:sp>
      <p:sp>
        <p:nvSpPr>
          <p:cNvPr id="22" name="Text 19"/>
          <p:cNvSpPr/>
          <p:nvPr/>
        </p:nvSpPr>
        <p:spPr>
          <a:xfrm>
            <a:off x="2026920" y="4453896"/>
            <a:ext cx="17526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Interactive Platform</a:t>
            </a:r>
            <a:endParaRPr lang="en-US" sz="1600" dirty="0"/>
          </a:p>
        </p:txBody>
      </p:sp>
      <p:sp>
        <p:nvSpPr>
          <p:cNvPr id="23" name="Text 20"/>
          <p:cNvSpPr/>
          <p:nvPr/>
        </p:nvSpPr>
        <p:spPr>
          <a:xfrm>
            <a:off x="1455420" y="4968246"/>
            <a:ext cx="4352925" cy="438150"/>
          </a:xfrm>
          <a:prstGeom prst="rect">
            <a:avLst/>
          </a:prstGeom>
          <a:noFill/>
          <a:ln/>
        </p:spPr>
        <p:txBody>
          <a:bodyPr wrap="square" lIns="0" tIns="0" rIns="0" bIns="0" rtlCol="0" anchor="ctr"/>
          <a:lstStyle/>
          <a:p>
            <a:pPr>
              <a:lnSpc>
                <a:spcPct val="140000"/>
              </a:lnSpc>
            </a:pPr>
            <a:r>
              <a:rPr lang="en-US" sz="1050" dirty="0">
                <a:solidFill>
                  <a:srgbClr val="FFFFFF">
                    <a:alpha val="70000"/>
                  </a:srgbClr>
                </a:solidFill>
                <a:latin typeface="Quattrocento Sans" pitchFamily="34" charset="0"/>
                <a:ea typeface="Quattrocento Sans" pitchFamily="34" charset="-122"/>
                <a:cs typeface="Quattrocento Sans" pitchFamily="34" charset="-120"/>
              </a:rPr>
              <a:t>Implemented an intuitive web application for real-time analysis and visualization, making complex NLP accessible to users.</a:t>
            </a:r>
            <a:endParaRPr lang="en-US" sz="1600" dirty="0"/>
          </a:p>
        </p:txBody>
      </p:sp>
      <p:sp>
        <p:nvSpPr>
          <p:cNvPr id="24" name="Shape 21"/>
          <p:cNvSpPr/>
          <p:nvPr/>
        </p:nvSpPr>
        <p:spPr>
          <a:xfrm>
            <a:off x="6214110" y="4126228"/>
            <a:ext cx="4751070" cy="1512570"/>
          </a:xfrm>
          <a:custGeom>
            <a:avLst/>
            <a:gdLst/>
            <a:ahLst/>
            <a:cxnLst/>
            <a:rect l="l" t="t" r="r" b="b"/>
            <a:pathLst>
              <a:path w="4751070" h="1512570">
                <a:moveTo>
                  <a:pt x="228595" y="0"/>
                </a:moveTo>
                <a:lnTo>
                  <a:pt x="4522475" y="0"/>
                </a:lnTo>
                <a:cubicBezTo>
                  <a:pt x="4648725" y="0"/>
                  <a:pt x="4751070" y="102345"/>
                  <a:pt x="4751070" y="228595"/>
                </a:cubicBezTo>
                <a:lnTo>
                  <a:pt x="4751070" y="1283975"/>
                </a:lnTo>
                <a:cubicBezTo>
                  <a:pt x="4751070" y="1410225"/>
                  <a:pt x="4648725" y="1512570"/>
                  <a:pt x="4522475" y="1512570"/>
                </a:cubicBezTo>
                <a:lnTo>
                  <a:pt x="228595" y="1512570"/>
                </a:lnTo>
                <a:cubicBezTo>
                  <a:pt x="102345" y="1512570"/>
                  <a:pt x="0" y="1410225"/>
                  <a:pt x="0" y="1283975"/>
                </a:cubicBezTo>
                <a:lnTo>
                  <a:pt x="0" y="228595"/>
                </a:lnTo>
                <a:cubicBezTo>
                  <a:pt x="0" y="102430"/>
                  <a:pt x="102430" y="0"/>
                  <a:pt x="228595" y="0"/>
                </a:cubicBezTo>
                <a:close/>
              </a:path>
            </a:pathLst>
          </a:custGeom>
          <a:solidFill>
            <a:srgbClr val="FFFFFF">
              <a:alpha val="85098"/>
            </a:srgbClr>
          </a:solidFill>
          <a:ln w="10160">
            <a:solidFill>
              <a:srgbClr val="FFFFFF">
                <a:alpha val="30196"/>
              </a:srgbClr>
            </a:solidFill>
            <a:prstDash val="solid"/>
          </a:ln>
        </p:spPr>
      </p:sp>
      <p:sp>
        <p:nvSpPr>
          <p:cNvPr id="25" name="Shape 22"/>
          <p:cNvSpPr/>
          <p:nvPr/>
        </p:nvSpPr>
        <p:spPr>
          <a:xfrm>
            <a:off x="6446520" y="4358646"/>
            <a:ext cx="457200" cy="457200"/>
          </a:xfrm>
          <a:custGeom>
            <a:avLst/>
            <a:gdLst/>
            <a:ahLst/>
            <a:cxnLst/>
            <a:rect l="l" t="t" r="r" b="b"/>
            <a:pathLst>
              <a:path w="457200" h="457200">
                <a:moveTo>
                  <a:pt x="152398" y="0"/>
                </a:moveTo>
                <a:lnTo>
                  <a:pt x="304802" y="0"/>
                </a:lnTo>
                <a:cubicBezTo>
                  <a:pt x="388913" y="0"/>
                  <a:pt x="457200" y="68287"/>
                  <a:pt x="457200" y="152398"/>
                </a:cubicBezTo>
                <a:lnTo>
                  <a:pt x="457200" y="304802"/>
                </a:lnTo>
                <a:cubicBezTo>
                  <a:pt x="457200" y="388913"/>
                  <a:pt x="388913" y="457200"/>
                  <a:pt x="304802" y="457200"/>
                </a:cubicBezTo>
                <a:lnTo>
                  <a:pt x="152398" y="457200"/>
                </a:lnTo>
                <a:cubicBezTo>
                  <a:pt x="68287" y="457200"/>
                  <a:pt x="0" y="388913"/>
                  <a:pt x="0" y="304802"/>
                </a:cubicBezTo>
                <a:lnTo>
                  <a:pt x="0" y="152398"/>
                </a:lnTo>
                <a:cubicBezTo>
                  <a:pt x="0" y="68287"/>
                  <a:pt x="68287" y="0"/>
                  <a:pt x="152398" y="0"/>
                </a:cubicBezTo>
                <a:close/>
              </a:path>
            </a:pathLst>
          </a:custGeom>
          <a:solidFill>
            <a:srgbClr val="0071E3">
              <a:alpha val="20000"/>
            </a:srgbClr>
          </a:solidFill>
          <a:ln/>
        </p:spPr>
      </p:sp>
      <p:sp>
        <p:nvSpPr>
          <p:cNvPr id="26" name="Shape 23"/>
          <p:cNvSpPr/>
          <p:nvPr/>
        </p:nvSpPr>
        <p:spPr>
          <a:xfrm>
            <a:off x="6560820" y="4472946"/>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0071E3"/>
          </a:solidFill>
          <a:ln/>
        </p:spPr>
      </p:sp>
      <p:sp>
        <p:nvSpPr>
          <p:cNvPr id="27" name="Text 24"/>
          <p:cNvSpPr/>
          <p:nvPr/>
        </p:nvSpPr>
        <p:spPr>
          <a:xfrm>
            <a:off x="7018020" y="4453896"/>
            <a:ext cx="15621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ML Effectiveness</a:t>
            </a:r>
            <a:endParaRPr lang="en-US" sz="1600" dirty="0"/>
          </a:p>
        </p:txBody>
      </p:sp>
      <p:sp>
        <p:nvSpPr>
          <p:cNvPr id="28" name="Text 25"/>
          <p:cNvSpPr/>
          <p:nvPr/>
        </p:nvSpPr>
        <p:spPr>
          <a:xfrm>
            <a:off x="6446520" y="4968246"/>
            <a:ext cx="4352925" cy="438150"/>
          </a:xfrm>
          <a:prstGeom prst="rect">
            <a:avLst/>
          </a:prstGeom>
          <a:noFill/>
          <a:ln/>
        </p:spPr>
        <p:txBody>
          <a:bodyPr wrap="square" lIns="0" tIns="0" rIns="0" bIns="0" rtlCol="0" anchor="ctr"/>
          <a:lstStyle/>
          <a:p>
            <a:pPr>
              <a:lnSpc>
                <a:spcPct val="140000"/>
              </a:lnSpc>
            </a:pPr>
            <a:r>
              <a:rPr lang="en-US" sz="1050" dirty="0">
                <a:solidFill>
                  <a:srgbClr val="FFFFFF">
                    <a:alpha val="70000"/>
                  </a:srgbClr>
                </a:solidFill>
                <a:latin typeface="Quattrocento Sans" pitchFamily="34" charset="0"/>
                <a:ea typeface="Quattrocento Sans" pitchFamily="34" charset="-122"/>
                <a:cs typeface="Quattrocento Sans" pitchFamily="34" charset="-120"/>
              </a:rPr>
              <a:t>Demonstrated the power of machine learning techniques in automating large-scale text analysis with high accuracy and efficiency.</a:t>
            </a:r>
            <a:endParaRPr lang="en-US" sz="1600" dirty="0"/>
          </a:p>
        </p:txBody>
      </p:sp>
      <p:sp>
        <p:nvSpPr>
          <p:cNvPr id="29" name="Shape 26"/>
          <p:cNvSpPr/>
          <p:nvPr/>
        </p:nvSpPr>
        <p:spPr>
          <a:xfrm>
            <a:off x="4239101" y="6018851"/>
            <a:ext cx="3714750" cy="571500"/>
          </a:xfrm>
          <a:custGeom>
            <a:avLst/>
            <a:gdLst/>
            <a:ahLst/>
            <a:cxnLst/>
            <a:rect l="l" t="t" r="r" b="b"/>
            <a:pathLst>
              <a:path w="3714750" h="571500">
                <a:moveTo>
                  <a:pt x="285750" y="0"/>
                </a:moveTo>
                <a:lnTo>
                  <a:pt x="3429000" y="0"/>
                </a:lnTo>
                <a:cubicBezTo>
                  <a:pt x="3586710" y="0"/>
                  <a:pt x="3714750" y="128040"/>
                  <a:pt x="3714750" y="285750"/>
                </a:cubicBezTo>
                <a:lnTo>
                  <a:pt x="3714750" y="285750"/>
                </a:lnTo>
                <a:cubicBezTo>
                  <a:pt x="3714750" y="443460"/>
                  <a:pt x="3586710" y="571500"/>
                  <a:pt x="3429000" y="571500"/>
                </a:cubicBezTo>
                <a:lnTo>
                  <a:pt x="285750" y="571500"/>
                </a:lnTo>
                <a:cubicBezTo>
                  <a:pt x="128040" y="571500"/>
                  <a:pt x="0" y="443460"/>
                  <a:pt x="0" y="285750"/>
                </a:cubicBezTo>
                <a:lnTo>
                  <a:pt x="0" y="285750"/>
                </a:lnTo>
                <a:cubicBezTo>
                  <a:pt x="0" y="128040"/>
                  <a:pt x="128040" y="0"/>
                  <a:pt x="285750" y="0"/>
                </a:cubicBezTo>
                <a:close/>
              </a:path>
            </a:pathLst>
          </a:custGeom>
          <a:solidFill>
            <a:srgbClr val="0071E3"/>
          </a:solidFill>
          <a:ln/>
        </p:spPr>
      </p:sp>
      <p:sp>
        <p:nvSpPr>
          <p:cNvPr id="30" name="Shape 27"/>
          <p:cNvSpPr/>
          <p:nvPr/>
        </p:nvSpPr>
        <p:spPr>
          <a:xfrm>
            <a:off x="4572476" y="6190301"/>
            <a:ext cx="228600" cy="228600"/>
          </a:xfrm>
          <a:custGeom>
            <a:avLst/>
            <a:gdLst/>
            <a:ahLst/>
            <a:cxnLst/>
            <a:rect l="l" t="t" r="r" b="b"/>
            <a:pathLst>
              <a:path w="228600" h="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FFFFFF"/>
          </a:solidFill>
          <a:ln/>
        </p:spPr>
      </p:sp>
      <p:sp>
        <p:nvSpPr>
          <p:cNvPr id="31" name="Text 28"/>
          <p:cNvSpPr/>
          <p:nvPr/>
        </p:nvSpPr>
        <p:spPr>
          <a:xfrm>
            <a:off x="4934426" y="6171251"/>
            <a:ext cx="2324100" cy="2667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AI-Powered Text Analytics</a:t>
            </a:r>
            <a:endParaRPr lang="en-US" sz="1600" dirty="0"/>
          </a:p>
        </p:txBody>
      </p:sp>
      <p:sp>
        <p:nvSpPr>
          <p:cNvPr id="32" name="Shape 29"/>
          <p:cNvSpPr/>
          <p:nvPr/>
        </p:nvSpPr>
        <p:spPr>
          <a:xfrm>
            <a:off x="7390924" y="6190301"/>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FFFFFF"/>
          </a:solidFill>
          <a:ln/>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B5478D-8172-B5D9-90CD-86E4835BA7C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337683" y="1143000"/>
            <a:ext cx="6599583" cy="4572000"/>
          </a:xfrm>
          <a:prstGeom prst="rect">
            <a:avLst/>
          </a:prstGeom>
        </p:spPr>
      </p:pic>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14</TotalTime>
  <Words>966</Words>
  <Application>Microsoft Office PowerPoint</Application>
  <PresentationFormat>Widescreen</PresentationFormat>
  <Paragraphs>288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Hedvig Letters Sans</vt:lpstr>
      <vt:lpstr>Liter</vt:lpstr>
      <vt:lpstr>Quattrocento Sans</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Text Analysis Platform</dc:title>
  <dc:subject>AI Text Analysis Platform</dc:subject>
  <dc:creator>Kimi</dc:creator>
  <cp:lastModifiedBy>Rakesh Ragala</cp:lastModifiedBy>
  <cp:revision>2</cp:revision>
  <dcterms:created xsi:type="dcterms:W3CDTF">2026-02-22T04:43:38Z</dcterms:created>
  <dcterms:modified xsi:type="dcterms:W3CDTF">2026-02-22T04:58:42Z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 Text Analysis Platform","ContentProducer":"001191110108MACG2KBH8F10000","ProduceID":"19c83a4c-7682-8d11-8000-0000b374e19c","ReservedCode1":"","ContentPropagator":"001191110108MACG2KBH8F20000","PropagateID":"19c83a4c-7682-8d11-8000-0000b374e19c","ReservedCode2":""}</vt:lpwstr>
  </property>
</Properties>
</file>