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ECECE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CECE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ECECE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CECE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ECECE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ECECE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8185" y="518217"/>
            <a:ext cx="3414395" cy="396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ECECE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8185" y="4977983"/>
            <a:ext cx="16640810" cy="4729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CECE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671" y="512121"/>
            <a:ext cx="4876799" cy="732472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37971" y="8091620"/>
            <a:ext cx="8378190" cy="577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00" spc="175" b="1">
                <a:solidFill>
                  <a:srgbClr val="ECECE7"/>
                </a:solidFill>
                <a:latin typeface="Tahoma"/>
                <a:cs typeface="Tahoma"/>
              </a:rPr>
              <a:t>Dynamic</a:t>
            </a:r>
            <a:r>
              <a:rPr dirty="0" sz="3600" spc="-170" b="1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dirty="0" sz="3600" b="1">
                <a:solidFill>
                  <a:srgbClr val="ECECE7"/>
                </a:solidFill>
                <a:latin typeface="Tahoma"/>
                <a:cs typeface="Tahoma"/>
              </a:rPr>
              <a:t>AI</a:t>
            </a:r>
            <a:r>
              <a:rPr dirty="0" sz="3600" spc="-165" b="1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dirty="0" sz="3600" b="1">
                <a:solidFill>
                  <a:srgbClr val="ECECE7"/>
                </a:solidFill>
                <a:latin typeface="Tahoma"/>
                <a:cs typeface="Tahoma"/>
              </a:rPr>
              <a:t>Text</a:t>
            </a:r>
            <a:r>
              <a:rPr dirty="0" sz="3600" spc="-165" b="1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dirty="0" sz="3600" spc="185" b="1">
                <a:solidFill>
                  <a:srgbClr val="ECECE7"/>
                </a:solidFill>
                <a:latin typeface="Tahoma"/>
                <a:cs typeface="Tahoma"/>
              </a:rPr>
              <a:t>Analysis</a:t>
            </a:r>
            <a:r>
              <a:rPr dirty="0" sz="3600" spc="-170" b="1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dirty="0" sz="3600" spc="65" b="1">
                <a:solidFill>
                  <a:srgbClr val="ECECE7"/>
                </a:solidFill>
                <a:latin typeface="Tahoma"/>
                <a:cs typeface="Tahoma"/>
              </a:rPr>
              <a:t>Platform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37971" y="8948108"/>
            <a:ext cx="7591425" cy="7512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120">
                <a:solidFill>
                  <a:srgbClr val="C8C8BF"/>
                </a:solidFill>
                <a:latin typeface="Tahoma"/>
                <a:cs typeface="Tahoma"/>
              </a:rPr>
              <a:t>An</a:t>
            </a:r>
            <a:r>
              <a:rPr dirty="0" sz="14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C8C8BF"/>
                </a:solidFill>
                <a:latin typeface="Tahoma"/>
                <a:cs typeface="Tahoma"/>
              </a:rPr>
              <a:t>interactive</a:t>
            </a:r>
            <a:r>
              <a:rPr dirty="0" sz="14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400" spc="100">
                <a:solidFill>
                  <a:srgbClr val="C8C8BF"/>
                </a:solidFill>
                <a:latin typeface="Tahoma"/>
                <a:cs typeface="Tahoma"/>
              </a:rPr>
              <a:t>NLP-powered</a:t>
            </a:r>
            <a:r>
              <a:rPr dirty="0" sz="14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400" spc="120">
                <a:solidFill>
                  <a:srgbClr val="C8C8BF"/>
                </a:solidFill>
                <a:latin typeface="Tahoma"/>
                <a:cs typeface="Tahoma"/>
              </a:rPr>
              <a:t>web</a:t>
            </a:r>
            <a:r>
              <a:rPr dirty="0" sz="14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C8C8BF"/>
                </a:solidFill>
                <a:latin typeface="Tahoma"/>
                <a:cs typeface="Tahoma"/>
              </a:rPr>
              <a:t>application</a:t>
            </a:r>
            <a:r>
              <a:rPr dirty="0" sz="14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8C8BF"/>
                </a:solidFill>
                <a:latin typeface="Tahoma"/>
                <a:cs typeface="Tahoma"/>
              </a:rPr>
              <a:t>for</a:t>
            </a:r>
            <a:r>
              <a:rPr dirty="0" sz="14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C8C8BF"/>
                </a:solidFill>
                <a:latin typeface="Tahoma"/>
                <a:cs typeface="Tahoma"/>
              </a:rPr>
              <a:t>intelligent</a:t>
            </a:r>
            <a:r>
              <a:rPr dirty="0" sz="14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C8C8BF"/>
                </a:solidFill>
                <a:latin typeface="Tahoma"/>
                <a:cs typeface="Tahoma"/>
              </a:rPr>
              <a:t>text</a:t>
            </a:r>
            <a:r>
              <a:rPr dirty="0" sz="14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400" spc="105">
                <a:solidFill>
                  <a:srgbClr val="C8C8BF"/>
                </a:solidFill>
                <a:latin typeface="Tahoma"/>
                <a:cs typeface="Tahoma"/>
              </a:rPr>
              <a:t>processing</a:t>
            </a:r>
            <a:r>
              <a:rPr dirty="0" sz="14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400" spc="100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4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C8C8BF"/>
                </a:solidFill>
                <a:latin typeface="Tahoma"/>
                <a:cs typeface="Tahoma"/>
              </a:rPr>
              <a:t>analysis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 spc="90">
                <a:solidFill>
                  <a:srgbClr val="C8C8BF"/>
                </a:solidFill>
                <a:latin typeface="Tahoma"/>
                <a:cs typeface="Tahoma"/>
              </a:rPr>
              <a:t>Presented</a:t>
            </a:r>
            <a:r>
              <a:rPr dirty="0" sz="1400" spc="-11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400" spc="100">
                <a:solidFill>
                  <a:srgbClr val="C8C8BF"/>
                </a:solidFill>
                <a:latin typeface="Tahoma"/>
                <a:cs typeface="Tahoma"/>
              </a:rPr>
              <a:t>by</a:t>
            </a:r>
            <a:r>
              <a:rPr dirty="0" sz="1400" spc="-10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400" spc="105">
                <a:solidFill>
                  <a:srgbClr val="C8C8BF"/>
                </a:solidFill>
                <a:latin typeface="Tahoma"/>
                <a:cs typeface="Tahoma"/>
              </a:rPr>
              <a:t>SAI</a:t>
            </a:r>
            <a:r>
              <a:rPr dirty="0" sz="1400" spc="-10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400" spc="85">
                <a:solidFill>
                  <a:srgbClr val="C8C8BF"/>
                </a:solidFill>
                <a:latin typeface="Tahoma"/>
                <a:cs typeface="Tahoma"/>
              </a:rPr>
              <a:t>AKHIL</a:t>
            </a:r>
            <a:r>
              <a:rPr dirty="0" sz="1400" spc="-10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400" spc="85">
                <a:solidFill>
                  <a:srgbClr val="C8C8BF"/>
                </a:solidFill>
                <a:latin typeface="Tahoma"/>
                <a:cs typeface="Tahoma"/>
              </a:rPr>
              <a:t>JAYANTH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9856" y="900277"/>
            <a:ext cx="1109980" cy="273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00" spc="60">
                <a:solidFill>
                  <a:srgbClr val="C8C8BF"/>
                </a:solidFill>
                <a:latin typeface="Tahoma"/>
                <a:cs typeface="Tahoma"/>
              </a:rPr>
              <a:t>OVERVIEW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9856" y="1440097"/>
            <a:ext cx="9306560" cy="5207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50" spc="100"/>
              <a:t>Transforming</a:t>
            </a:r>
            <a:r>
              <a:rPr dirty="0" sz="3250" spc="-170"/>
              <a:t> </a:t>
            </a:r>
            <a:r>
              <a:rPr dirty="0" sz="3250"/>
              <a:t>Text</a:t>
            </a:r>
            <a:r>
              <a:rPr dirty="0" sz="3250" spc="-165"/>
              <a:t> </a:t>
            </a:r>
            <a:r>
              <a:rPr dirty="0" sz="3250" spc="-10"/>
              <a:t>Into</a:t>
            </a:r>
            <a:r>
              <a:rPr dirty="0" sz="3250" spc="-165"/>
              <a:t> </a:t>
            </a:r>
            <a:r>
              <a:rPr dirty="0" sz="3250" spc="90"/>
              <a:t>Actionable</a:t>
            </a:r>
            <a:r>
              <a:rPr dirty="0" sz="3250" spc="-165"/>
              <a:t> </a:t>
            </a:r>
            <a:r>
              <a:rPr dirty="0" sz="3250" spc="60"/>
              <a:t>Insights</a:t>
            </a:r>
            <a:endParaRPr sz="3250"/>
          </a:p>
        </p:txBody>
      </p:sp>
      <p:sp>
        <p:nvSpPr>
          <p:cNvPr id="4" name="object 4" descr=""/>
          <p:cNvSpPr txBox="1"/>
          <p:nvPr/>
        </p:nvSpPr>
        <p:spPr>
          <a:xfrm>
            <a:off x="709856" y="2186524"/>
            <a:ext cx="16575405" cy="1565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95"/>
              </a:spcBef>
            </a:pPr>
            <a:r>
              <a:rPr dirty="0" sz="1600" spc="55">
                <a:solidFill>
                  <a:srgbClr val="C8C8BF"/>
                </a:solidFill>
                <a:latin typeface="Tahoma"/>
                <a:cs typeface="Tahoma"/>
              </a:rPr>
              <a:t>Our</a:t>
            </a:r>
            <a:r>
              <a:rPr dirty="0" sz="1600" spc="-1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25">
                <a:solidFill>
                  <a:srgbClr val="C8C8BF"/>
                </a:solidFill>
                <a:latin typeface="Tahoma"/>
                <a:cs typeface="Tahoma"/>
              </a:rPr>
              <a:t>web-</a:t>
            </a:r>
            <a:r>
              <a:rPr dirty="0" sz="1600" spc="110">
                <a:solidFill>
                  <a:srgbClr val="C8C8BF"/>
                </a:solidFill>
                <a:latin typeface="Tahoma"/>
                <a:cs typeface="Tahoma"/>
              </a:rPr>
              <a:t>based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80">
                <a:solidFill>
                  <a:srgbClr val="C8C8BF"/>
                </a:solidFill>
                <a:latin typeface="Tahoma"/>
                <a:cs typeface="Tahoma"/>
              </a:rPr>
              <a:t>platform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35">
                <a:solidFill>
                  <a:srgbClr val="C8C8BF"/>
                </a:solidFill>
                <a:latin typeface="Tahoma"/>
                <a:cs typeface="Tahoma"/>
              </a:rPr>
              <a:t>empowers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25">
                <a:solidFill>
                  <a:srgbClr val="C8C8BF"/>
                </a:solidFill>
                <a:latin typeface="Tahoma"/>
                <a:cs typeface="Tahoma"/>
              </a:rPr>
              <a:t>users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C8C8BF"/>
                </a:solidFill>
                <a:latin typeface="Tahoma"/>
                <a:cs typeface="Tahoma"/>
              </a:rPr>
              <a:t>to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00">
                <a:solidFill>
                  <a:srgbClr val="C8C8BF"/>
                </a:solidFill>
                <a:latin typeface="Tahoma"/>
                <a:cs typeface="Tahoma"/>
              </a:rPr>
              <a:t>analyse</a:t>
            </a:r>
            <a:r>
              <a:rPr dirty="0" sz="1600" spc="-1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05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45">
                <a:solidFill>
                  <a:srgbClr val="C8C8BF"/>
                </a:solidFill>
                <a:latin typeface="Tahoma"/>
                <a:cs typeface="Tahoma"/>
              </a:rPr>
              <a:t>summarise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25">
                <a:solidFill>
                  <a:srgbClr val="C8C8BF"/>
                </a:solidFill>
                <a:latin typeface="Tahoma"/>
                <a:cs typeface="Tahoma"/>
              </a:rPr>
              <a:t>complex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C8C8BF"/>
                </a:solidFill>
                <a:latin typeface="Tahoma"/>
                <a:cs typeface="Tahoma"/>
              </a:rPr>
              <a:t>text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65">
                <a:solidFill>
                  <a:srgbClr val="C8C8BF"/>
                </a:solidFill>
                <a:latin typeface="Tahoma"/>
                <a:cs typeface="Tahoma"/>
              </a:rPr>
              <a:t>data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80">
                <a:solidFill>
                  <a:srgbClr val="C8C8BF"/>
                </a:solidFill>
                <a:latin typeface="Tahoma"/>
                <a:cs typeface="Tahoma"/>
              </a:rPr>
              <a:t>with</a:t>
            </a:r>
            <a:r>
              <a:rPr dirty="0" sz="1600" spc="-1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00">
                <a:solidFill>
                  <a:srgbClr val="C8C8BF"/>
                </a:solidFill>
                <a:latin typeface="Tahoma"/>
                <a:cs typeface="Tahoma"/>
              </a:rPr>
              <a:t>unprecedented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65">
                <a:solidFill>
                  <a:srgbClr val="C8C8BF"/>
                </a:solidFill>
                <a:latin typeface="Tahoma"/>
                <a:cs typeface="Tahoma"/>
              </a:rPr>
              <a:t>ease.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75">
                <a:solidFill>
                  <a:srgbClr val="C8C8BF"/>
                </a:solidFill>
                <a:latin typeface="Tahoma"/>
                <a:cs typeface="Tahoma"/>
              </a:rPr>
              <a:t>Whether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75">
                <a:solidFill>
                  <a:srgbClr val="C8C8BF"/>
                </a:solidFill>
                <a:latin typeface="Tahoma"/>
                <a:cs typeface="Tahoma"/>
              </a:rPr>
              <a:t>you're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14">
                <a:solidFill>
                  <a:srgbClr val="C8C8BF"/>
                </a:solidFill>
                <a:latin typeface="Tahoma"/>
                <a:cs typeface="Tahoma"/>
              </a:rPr>
              <a:t>processing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10">
                <a:solidFill>
                  <a:srgbClr val="C8C8BF"/>
                </a:solidFill>
                <a:latin typeface="Tahoma"/>
                <a:cs typeface="Tahoma"/>
              </a:rPr>
              <a:t>research</a:t>
            </a:r>
            <a:r>
              <a:rPr dirty="0" sz="1600" spc="-1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70">
                <a:solidFill>
                  <a:srgbClr val="C8C8BF"/>
                </a:solidFill>
                <a:latin typeface="Tahoma"/>
                <a:cs typeface="Tahoma"/>
              </a:rPr>
              <a:t>papers,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14">
                <a:solidFill>
                  <a:srgbClr val="C8C8BF"/>
                </a:solidFill>
                <a:latin typeface="Tahoma"/>
                <a:cs typeface="Tahoma"/>
              </a:rPr>
              <a:t>business </a:t>
            </a:r>
            <a:r>
              <a:rPr dirty="0" sz="1600" spc="100">
                <a:solidFill>
                  <a:srgbClr val="C8C8BF"/>
                </a:solidFill>
                <a:latin typeface="Tahoma"/>
                <a:cs typeface="Tahoma"/>
              </a:rPr>
              <a:t>documents,</a:t>
            </a:r>
            <a:r>
              <a:rPr dirty="0" sz="1600" spc="-1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85">
                <a:solidFill>
                  <a:srgbClr val="C8C8BF"/>
                </a:solidFill>
                <a:latin typeface="Tahoma"/>
                <a:cs typeface="Tahoma"/>
              </a:rPr>
              <a:t>or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95">
                <a:solidFill>
                  <a:srgbClr val="C8C8BF"/>
                </a:solidFill>
                <a:latin typeface="Tahoma"/>
                <a:cs typeface="Tahoma"/>
              </a:rPr>
              <a:t>social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20">
                <a:solidFill>
                  <a:srgbClr val="C8C8BF"/>
                </a:solidFill>
                <a:latin typeface="Tahoma"/>
                <a:cs typeface="Tahoma"/>
              </a:rPr>
              <a:t>media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60">
                <a:solidFill>
                  <a:srgbClr val="C8C8BF"/>
                </a:solidFill>
                <a:latin typeface="Tahoma"/>
                <a:cs typeface="Tahoma"/>
              </a:rPr>
              <a:t>content,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75">
                <a:solidFill>
                  <a:srgbClr val="C8C8BF"/>
                </a:solidFill>
                <a:latin typeface="Tahoma"/>
                <a:cs typeface="Tahoma"/>
              </a:rPr>
              <a:t>the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80">
                <a:solidFill>
                  <a:srgbClr val="C8C8BF"/>
                </a:solidFill>
                <a:latin typeface="Tahoma"/>
                <a:cs typeface="Tahoma"/>
              </a:rPr>
              <a:t>platform</a:t>
            </a:r>
            <a:r>
              <a:rPr dirty="0" sz="1600" spc="-1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95">
                <a:solidFill>
                  <a:srgbClr val="C8C8BF"/>
                </a:solidFill>
                <a:latin typeface="Tahoma"/>
                <a:cs typeface="Tahoma"/>
              </a:rPr>
              <a:t>delivers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00">
                <a:solidFill>
                  <a:srgbClr val="C8C8BF"/>
                </a:solidFill>
                <a:latin typeface="Tahoma"/>
                <a:cs typeface="Tahoma"/>
              </a:rPr>
              <a:t>deep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95">
                <a:solidFill>
                  <a:srgbClr val="C8C8BF"/>
                </a:solidFill>
                <a:latin typeface="Tahoma"/>
                <a:cs typeface="Tahoma"/>
              </a:rPr>
              <a:t>insights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85">
                <a:solidFill>
                  <a:srgbClr val="C8C8BF"/>
                </a:solidFill>
                <a:latin typeface="Tahoma"/>
                <a:cs typeface="Tahoma"/>
              </a:rPr>
              <a:t>through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10">
                <a:solidFill>
                  <a:srgbClr val="C8C8BF"/>
                </a:solidFill>
                <a:latin typeface="Tahoma"/>
                <a:cs typeface="Tahoma"/>
              </a:rPr>
              <a:t>advanced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70">
                <a:solidFill>
                  <a:srgbClr val="C8C8BF"/>
                </a:solidFill>
                <a:latin typeface="Tahoma"/>
                <a:cs typeface="Tahoma"/>
              </a:rPr>
              <a:t>natural</a:t>
            </a:r>
            <a:r>
              <a:rPr dirty="0" sz="1600" spc="-1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90">
                <a:solidFill>
                  <a:srgbClr val="C8C8BF"/>
                </a:solidFill>
                <a:latin typeface="Tahoma"/>
                <a:cs typeface="Tahoma"/>
              </a:rPr>
              <a:t>language</a:t>
            </a:r>
            <a:r>
              <a:rPr dirty="0" sz="16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80">
                <a:solidFill>
                  <a:srgbClr val="C8C8BF"/>
                </a:solidFill>
                <a:latin typeface="Tahoma"/>
                <a:cs typeface="Tahoma"/>
              </a:rPr>
              <a:t>processing.</a:t>
            </a:r>
            <a:endParaRPr sz="1600">
              <a:latin typeface="Tahoma"/>
              <a:cs typeface="Tahoma"/>
            </a:endParaRPr>
          </a:p>
          <a:p>
            <a:pPr marL="12700" marR="183515">
              <a:lnSpc>
                <a:spcPct val="132800"/>
              </a:lnSpc>
              <a:spcBef>
                <a:spcPts val="1930"/>
              </a:spcBef>
            </a:pPr>
            <a:r>
              <a:rPr dirty="0" sz="1600" spc="60">
                <a:solidFill>
                  <a:srgbClr val="C8C8BF"/>
                </a:solidFill>
                <a:latin typeface="Tahoma"/>
                <a:cs typeface="Tahoma"/>
              </a:rPr>
              <a:t>The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40">
                <a:solidFill>
                  <a:srgbClr val="C8C8BF"/>
                </a:solidFill>
                <a:latin typeface="Tahoma"/>
                <a:cs typeface="Tahoma"/>
              </a:rPr>
              <a:t>system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25">
                <a:solidFill>
                  <a:srgbClr val="C8C8BF"/>
                </a:solidFill>
                <a:latin typeface="Tahoma"/>
                <a:cs typeface="Tahoma"/>
              </a:rPr>
              <a:t>seamlessly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05">
                <a:solidFill>
                  <a:srgbClr val="C8C8BF"/>
                </a:solidFill>
                <a:latin typeface="Tahoma"/>
                <a:cs typeface="Tahoma"/>
              </a:rPr>
              <a:t>handles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75">
                <a:solidFill>
                  <a:srgbClr val="C8C8BF"/>
                </a:solidFill>
                <a:latin typeface="Tahoma"/>
                <a:cs typeface="Tahoma"/>
              </a:rPr>
              <a:t>both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20">
                <a:solidFill>
                  <a:srgbClr val="C8C8BF"/>
                </a:solidFill>
                <a:latin typeface="Tahoma"/>
                <a:cs typeface="Tahoma"/>
              </a:rPr>
              <a:t>manual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C8C8BF"/>
                </a:solidFill>
                <a:latin typeface="Tahoma"/>
                <a:cs typeface="Tahoma"/>
              </a:rPr>
              <a:t>text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75">
                <a:solidFill>
                  <a:srgbClr val="C8C8BF"/>
                </a:solidFill>
                <a:latin typeface="Tahoma"/>
                <a:cs typeface="Tahoma"/>
              </a:rPr>
              <a:t>input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05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20">
                <a:solidFill>
                  <a:srgbClr val="C8C8BF"/>
                </a:solidFill>
                <a:latin typeface="Tahoma"/>
                <a:cs typeface="Tahoma"/>
              </a:rPr>
              <a:t>document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70">
                <a:solidFill>
                  <a:srgbClr val="C8C8BF"/>
                </a:solidFill>
                <a:latin typeface="Tahoma"/>
                <a:cs typeface="Tahoma"/>
              </a:rPr>
              <a:t>uploads,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14">
                <a:solidFill>
                  <a:srgbClr val="C8C8BF"/>
                </a:solidFill>
                <a:latin typeface="Tahoma"/>
                <a:cs typeface="Tahoma"/>
              </a:rPr>
              <a:t>making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90">
                <a:solidFill>
                  <a:srgbClr val="C8C8BF"/>
                </a:solidFill>
                <a:latin typeface="Tahoma"/>
                <a:cs typeface="Tahoma"/>
              </a:rPr>
              <a:t>sophisticated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C8C8BF"/>
                </a:solidFill>
                <a:latin typeface="Tahoma"/>
                <a:cs typeface="Tahoma"/>
              </a:rPr>
              <a:t>text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00">
                <a:solidFill>
                  <a:srgbClr val="C8C8BF"/>
                </a:solidFill>
                <a:latin typeface="Tahoma"/>
                <a:cs typeface="Tahoma"/>
              </a:rPr>
              <a:t>analysis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10">
                <a:solidFill>
                  <a:srgbClr val="C8C8BF"/>
                </a:solidFill>
                <a:latin typeface="Tahoma"/>
                <a:cs typeface="Tahoma"/>
              </a:rPr>
              <a:t>accessible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C8C8BF"/>
                </a:solidFill>
                <a:latin typeface="Tahoma"/>
                <a:cs typeface="Tahoma"/>
              </a:rPr>
              <a:t>to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05">
                <a:solidFill>
                  <a:srgbClr val="C8C8BF"/>
                </a:solidFill>
                <a:latin typeface="Tahoma"/>
                <a:cs typeface="Tahoma"/>
              </a:rPr>
              <a:t>everyone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05">
                <a:solidFill>
                  <a:srgbClr val="C8C8BF"/>
                </a:solidFill>
                <a:latin typeface="Tahoma"/>
                <a:cs typeface="Tahoma"/>
              </a:rPr>
              <a:t>from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110">
                <a:solidFill>
                  <a:srgbClr val="C8C8BF"/>
                </a:solidFill>
                <a:latin typeface="Tahoma"/>
                <a:cs typeface="Tahoma"/>
              </a:rPr>
              <a:t>researchers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C8C8BF"/>
                </a:solidFill>
                <a:latin typeface="Tahoma"/>
                <a:cs typeface="Tahoma"/>
              </a:rPr>
              <a:t>to</a:t>
            </a:r>
            <a:r>
              <a:rPr dirty="0" sz="16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600" spc="80">
                <a:solidFill>
                  <a:srgbClr val="C8C8BF"/>
                </a:solidFill>
                <a:latin typeface="Tahoma"/>
                <a:cs typeface="Tahoma"/>
              </a:rPr>
              <a:t>content </a:t>
            </a:r>
            <a:r>
              <a:rPr dirty="0" sz="1600" spc="55">
                <a:solidFill>
                  <a:srgbClr val="C8C8BF"/>
                </a:solidFill>
                <a:latin typeface="Tahoma"/>
                <a:cs typeface="Tahoma"/>
              </a:rPr>
              <a:t>strategists.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556" y="4067917"/>
            <a:ext cx="5486399" cy="54863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6988" y="564235"/>
            <a:ext cx="8972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C8C8BF"/>
                </a:solidFill>
                <a:latin typeface="Tahoma"/>
                <a:cs typeface="Tahoma"/>
              </a:rPr>
              <a:t>CAPABILITIES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16988" y="858094"/>
            <a:ext cx="468947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80" b="1">
                <a:solidFill>
                  <a:srgbClr val="ECECE7"/>
                </a:solidFill>
                <a:latin typeface="Tahoma"/>
                <a:cs typeface="Tahoma"/>
              </a:rPr>
              <a:t>Comprehensive</a:t>
            </a:r>
            <a:r>
              <a:rPr dirty="0" sz="2050" spc="-25" b="1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dirty="0" sz="2050" b="1">
                <a:solidFill>
                  <a:srgbClr val="ECECE7"/>
                </a:solidFill>
                <a:latin typeface="Tahoma"/>
                <a:cs typeface="Tahoma"/>
              </a:rPr>
              <a:t>NLP</a:t>
            </a:r>
            <a:r>
              <a:rPr dirty="0" sz="2050" spc="-25" b="1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dirty="0" sz="2050" spc="50" b="1">
                <a:solidFill>
                  <a:srgbClr val="ECECE7"/>
                </a:solidFill>
                <a:latin typeface="Tahoma"/>
                <a:cs typeface="Tahoma"/>
              </a:rPr>
              <a:t>Feature</a:t>
            </a:r>
            <a:r>
              <a:rPr dirty="0" sz="2050" spc="-25" b="1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dirty="0" sz="2050" spc="45" b="1">
                <a:solidFill>
                  <a:srgbClr val="ECECE7"/>
                </a:solidFill>
                <a:latin typeface="Tahoma"/>
                <a:cs typeface="Tahoma"/>
              </a:rPr>
              <a:t>Suite</a:t>
            </a:r>
            <a:endParaRPr sz="205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688" y="1364456"/>
            <a:ext cx="2133599" cy="132278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688" y="2799759"/>
            <a:ext cx="2133599" cy="132278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688" y="4235053"/>
            <a:ext cx="2133599" cy="132278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16988" y="5648947"/>
            <a:ext cx="5988050" cy="4111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C8C8BF"/>
                </a:solidFill>
                <a:latin typeface="Tahoma"/>
                <a:cs typeface="Tahoma"/>
              </a:rPr>
              <a:t>Flexible</a:t>
            </a:r>
            <a:r>
              <a:rPr dirty="0" sz="1000" spc="30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b="1">
                <a:solidFill>
                  <a:srgbClr val="C8C8BF"/>
                </a:solidFill>
                <a:latin typeface="Tahoma"/>
                <a:cs typeface="Tahoma"/>
              </a:rPr>
              <a:t>Input</a:t>
            </a:r>
            <a:r>
              <a:rPr dirty="0" sz="1000" spc="35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C8C8BF"/>
                </a:solidFill>
                <a:latin typeface="Tahoma"/>
                <a:cs typeface="Tahoma"/>
              </a:rPr>
              <a:t>Methods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Manual</a:t>
            </a:r>
            <a:r>
              <a:rPr dirty="0" sz="1000" spc="-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C8C8BF"/>
                </a:solidFill>
                <a:latin typeface="Tahoma"/>
                <a:cs typeface="Tahoma"/>
              </a:rPr>
              <a:t>text</a:t>
            </a:r>
            <a:r>
              <a:rPr dirty="0" sz="1000" spc="-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C8C8BF"/>
                </a:solidFill>
                <a:latin typeface="Tahoma"/>
                <a:cs typeface="Tahoma"/>
              </a:rPr>
              <a:t>entry</a:t>
            </a:r>
            <a:r>
              <a:rPr dirty="0" sz="1000" spc="-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C8C8BF"/>
                </a:solidFill>
                <a:latin typeface="Tahoma"/>
                <a:cs typeface="Tahoma"/>
              </a:rPr>
              <a:t>or</a:t>
            </a:r>
            <a:r>
              <a:rPr dirty="0" sz="1000" spc="-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C8C8BF"/>
                </a:solidFill>
                <a:latin typeface="Tahoma"/>
                <a:cs typeface="Tahoma"/>
              </a:rPr>
              <a:t>upload</a:t>
            </a:r>
            <a:r>
              <a:rPr dirty="0" sz="1000" spc="-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65">
                <a:solidFill>
                  <a:srgbClr val="C8C8BF"/>
                </a:solidFill>
                <a:latin typeface="Tahoma"/>
                <a:cs typeface="Tahoma"/>
              </a:rPr>
              <a:t>documents</a:t>
            </a:r>
            <a:r>
              <a:rPr dirty="0" sz="1000" spc="-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C8C8BF"/>
                </a:solidFill>
                <a:latin typeface="Tahoma"/>
                <a:cs typeface="Tahoma"/>
              </a:rPr>
              <a:t>in</a:t>
            </a:r>
            <a:r>
              <a:rPr dirty="0" sz="1000" spc="-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multiple</a:t>
            </a:r>
            <a:r>
              <a:rPr dirty="0" sz="1000" spc="-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formats</a:t>
            </a:r>
            <a:r>
              <a:rPr dirty="0" sz="1000" spc="-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including</a:t>
            </a:r>
            <a:r>
              <a:rPr dirty="0" sz="1000" spc="-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C8C8BF"/>
                </a:solidFill>
                <a:latin typeface="Tahoma"/>
                <a:cs typeface="Tahoma"/>
              </a:rPr>
              <a:t>PDF,</a:t>
            </a:r>
            <a:r>
              <a:rPr dirty="0" sz="1000" spc="-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C8C8BF"/>
                </a:solidFill>
                <a:latin typeface="Tahoma"/>
                <a:cs typeface="Tahoma"/>
              </a:rPr>
              <a:t>DOCX,</a:t>
            </a:r>
            <a:r>
              <a:rPr dirty="0" sz="1000" spc="-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000" spc="-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45">
                <a:solidFill>
                  <a:srgbClr val="C8C8BF"/>
                </a:solidFill>
                <a:latin typeface="Tahoma"/>
                <a:cs typeface="Tahoma"/>
              </a:rPr>
              <a:t>spreadsheets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000" b="1">
                <a:solidFill>
                  <a:srgbClr val="C8C8BF"/>
                </a:solidFill>
                <a:latin typeface="Tahoma"/>
                <a:cs typeface="Tahoma"/>
              </a:rPr>
              <a:t>Intelligent</a:t>
            </a:r>
            <a:r>
              <a:rPr dirty="0" sz="1000" spc="-10" b="1">
                <a:solidFill>
                  <a:srgbClr val="C8C8BF"/>
                </a:solidFill>
                <a:latin typeface="Tahoma"/>
                <a:cs typeface="Tahoma"/>
              </a:rPr>
              <a:t> Preprocessing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000" spc="60">
                <a:solidFill>
                  <a:srgbClr val="C8C8BF"/>
                </a:solidFill>
                <a:latin typeface="Tahoma"/>
                <a:cs typeface="Tahoma"/>
              </a:rPr>
              <a:t>Advanced</a:t>
            </a:r>
            <a:r>
              <a:rPr dirty="0" sz="10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cleaning</a:t>
            </a:r>
            <a:r>
              <a:rPr dirty="0" sz="10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0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30">
                <a:solidFill>
                  <a:srgbClr val="C8C8BF"/>
                </a:solidFill>
                <a:latin typeface="Tahoma"/>
                <a:cs typeface="Tahoma"/>
              </a:rPr>
              <a:t>tokenisation</a:t>
            </a:r>
            <a:r>
              <a:rPr dirty="0" sz="10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45">
                <a:solidFill>
                  <a:srgbClr val="C8C8BF"/>
                </a:solidFill>
                <a:latin typeface="Tahoma"/>
                <a:cs typeface="Tahoma"/>
              </a:rPr>
              <a:t>prepare</a:t>
            </a:r>
            <a:r>
              <a:rPr dirty="0" sz="10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your</a:t>
            </a:r>
            <a:r>
              <a:rPr dirty="0" sz="10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C8C8BF"/>
                </a:solidFill>
                <a:latin typeface="Tahoma"/>
                <a:cs typeface="Tahoma"/>
              </a:rPr>
              <a:t>text</a:t>
            </a:r>
            <a:r>
              <a:rPr dirty="0" sz="10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C8C8BF"/>
                </a:solidFill>
                <a:latin typeface="Tahoma"/>
                <a:cs typeface="Tahoma"/>
              </a:rPr>
              <a:t>for</a:t>
            </a:r>
            <a:r>
              <a:rPr dirty="0" sz="10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optimal</a:t>
            </a:r>
            <a:r>
              <a:rPr dirty="0" sz="10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40">
                <a:solidFill>
                  <a:srgbClr val="C8C8BF"/>
                </a:solidFill>
                <a:latin typeface="Tahoma"/>
                <a:cs typeface="Tahoma"/>
              </a:rPr>
              <a:t>analysis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000" b="1">
                <a:solidFill>
                  <a:srgbClr val="C8C8BF"/>
                </a:solidFill>
                <a:latin typeface="Tahoma"/>
                <a:cs typeface="Tahoma"/>
              </a:rPr>
              <a:t>Smart</a:t>
            </a:r>
            <a:r>
              <a:rPr dirty="0" sz="1000" spc="114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C8C8BF"/>
                </a:solidFill>
                <a:latin typeface="Tahoma"/>
                <a:cs typeface="Tahoma"/>
              </a:rPr>
              <a:t>Summarisation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000" spc="45">
                <a:solidFill>
                  <a:srgbClr val="C8C8BF"/>
                </a:solidFill>
                <a:latin typeface="Tahoma"/>
                <a:cs typeface="Tahoma"/>
              </a:rPr>
              <a:t>LexRank</a:t>
            </a:r>
            <a:r>
              <a:rPr dirty="0" sz="1000" spc="-3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algorithm</a:t>
            </a:r>
            <a:r>
              <a:rPr dirty="0" sz="1000" spc="-3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C8C8BF"/>
                </a:solidFill>
                <a:latin typeface="Tahoma"/>
                <a:cs typeface="Tahoma"/>
              </a:rPr>
              <a:t>via</a:t>
            </a:r>
            <a:r>
              <a:rPr dirty="0" sz="1000" spc="-3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90">
                <a:solidFill>
                  <a:srgbClr val="C8C8BF"/>
                </a:solidFill>
                <a:latin typeface="Tahoma"/>
                <a:cs typeface="Tahoma"/>
              </a:rPr>
              <a:t>Sumy</a:t>
            </a:r>
            <a:r>
              <a:rPr dirty="0" sz="1000" spc="-3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C8C8BF"/>
                </a:solidFill>
                <a:latin typeface="Tahoma"/>
                <a:cs typeface="Tahoma"/>
              </a:rPr>
              <a:t>extracts</a:t>
            </a:r>
            <a:r>
              <a:rPr dirty="0" sz="1000" spc="-3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C8C8BF"/>
                </a:solidFill>
                <a:latin typeface="Tahoma"/>
                <a:cs typeface="Tahoma"/>
              </a:rPr>
              <a:t>the</a:t>
            </a:r>
            <a:r>
              <a:rPr dirty="0" sz="1000" spc="-3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75">
                <a:solidFill>
                  <a:srgbClr val="C8C8BF"/>
                </a:solidFill>
                <a:latin typeface="Tahoma"/>
                <a:cs typeface="Tahoma"/>
              </a:rPr>
              <a:t>most</a:t>
            </a:r>
            <a:r>
              <a:rPr dirty="0" sz="1000" spc="-3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C8C8BF"/>
                </a:solidFill>
                <a:latin typeface="Tahoma"/>
                <a:cs typeface="Tahoma"/>
              </a:rPr>
              <a:t>relevant</a:t>
            </a:r>
            <a:r>
              <a:rPr dirty="0" sz="1000" spc="-3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60">
                <a:solidFill>
                  <a:srgbClr val="C8C8BF"/>
                </a:solidFill>
                <a:latin typeface="Tahoma"/>
                <a:cs typeface="Tahoma"/>
              </a:rPr>
              <a:t>sentences</a:t>
            </a:r>
            <a:r>
              <a:rPr dirty="0" sz="1000" spc="-3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35">
                <a:solidFill>
                  <a:srgbClr val="C8C8BF"/>
                </a:solidFill>
                <a:latin typeface="Tahoma"/>
                <a:cs typeface="Tahoma"/>
              </a:rPr>
              <a:t>automatically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000" b="1">
                <a:solidFill>
                  <a:srgbClr val="C8C8BF"/>
                </a:solidFill>
                <a:latin typeface="Tahoma"/>
                <a:cs typeface="Tahoma"/>
              </a:rPr>
              <a:t>Sentiment</a:t>
            </a:r>
            <a:r>
              <a:rPr dirty="0" sz="1000" spc="165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35" b="1">
                <a:solidFill>
                  <a:srgbClr val="C8C8BF"/>
                </a:solidFill>
                <a:latin typeface="Tahoma"/>
                <a:cs typeface="Tahoma"/>
              </a:rPr>
              <a:t>Analysis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000" spc="20">
                <a:solidFill>
                  <a:srgbClr val="C8C8BF"/>
                </a:solidFill>
                <a:latin typeface="Tahoma"/>
                <a:cs typeface="Tahoma"/>
              </a:rPr>
              <a:t>TextBlob-</a:t>
            </a:r>
            <a:r>
              <a:rPr dirty="0" sz="1000" spc="55">
                <a:solidFill>
                  <a:srgbClr val="C8C8BF"/>
                </a:solidFill>
                <a:latin typeface="Tahoma"/>
                <a:cs typeface="Tahoma"/>
              </a:rPr>
              <a:t>powered</a:t>
            </a:r>
            <a:r>
              <a:rPr dirty="0" sz="1000" spc="-1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emotional</a:t>
            </a:r>
            <a:r>
              <a:rPr dirty="0" sz="1000" spc="-1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C8C8BF"/>
                </a:solidFill>
                <a:latin typeface="Tahoma"/>
                <a:cs typeface="Tahoma"/>
              </a:rPr>
              <a:t>tone</a:t>
            </a:r>
            <a:r>
              <a:rPr dirty="0" sz="1000" spc="-1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C8C8BF"/>
                </a:solidFill>
                <a:latin typeface="Tahoma"/>
                <a:cs typeface="Tahoma"/>
              </a:rPr>
              <a:t>detection</a:t>
            </a:r>
            <a:r>
              <a:rPr dirty="0" sz="1000" spc="-1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reveals</a:t>
            </a:r>
            <a:r>
              <a:rPr dirty="0" sz="1000" spc="-1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underlying</a:t>
            </a:r>
            <a:r>
              <a:rPr dirty="0" sz="1000" spc="-1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C8C8BF"/>
                </a:solidFill>
                <a:latin typeface="Tahoma"/>
                <a:cs typeface="Tahoma"/>
              </a:rPr>
              <a:t>sentiment</a:t>
            </a:r>
            <a:r>
              <a:rPr dirty="0" sz="1000" spc="-10">
                <a:solidFill>
                  <a:srgbClr val="C8C8BF"/>
                </a:solidFill>
                <a:latin typeface="Tahoma"/>
                <a:cs typeface="Tahoma"/>
              </a:rPr>
              <a:t> patterns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000" b="1">
                <a:solidFill>
                  <a:srgbClr val="C8C8BF"/>
                </a:solidFill>
                <a:latin typeface="Tahoma"/>
                <a:cs typeface="Tahoma"/>
              </a:rPr>
              <a:t>Keyword</a:t>
            </a:r>
            <a:r>
              <a:rPr dirty="0" sz="1000" spc="165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C8C8BF"/>
                </a:solidFill>
                <a:latin typeface="Tahoma"/>
                <a:cs typeface="Tahoma"/>
              </a:rPr>
              <a:t>Extraction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000" spc="20">
                <a:solidFill>
                  <a:srgbClr val="C8C8BF"/>
                </a:solidFill>
                <a:latin typeface="Tahoma"/>
                <a:cs typeface="Tahoma"/>
              </a:rPr>
              <a:t>Identify</a:t>
            </a:r>
            <a:r>
              <a:rPr dirty="0" sz="1000" spc="-4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C8C8BF"/>
                </a:solidFill>
                <a:latin typeface="Tahoma"/>
                <a:cs typeface="Tahoma"/>
              </a:rPr>
              <a:t>critical</a:t>
            </a:r>
            <a:r>
              <a:rPr dirty="0" sz="1000" spc="-4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65">
                <a:solidFill>
                  <a:srgbClr val="C8C8BF"/>
                </a:solidFill>
                <a:latin typeface="Tahoma"/>
                <a:cs typeface="Tahoma"/>
              </a:rPr>
              <a:t>terms</a:t>
            </a:r>
            <a:r>
              <a:rPr dirty="0" sz="1000" spc="-4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000" spc="-4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60">
                <a:solidFill>
                  <a:srgbClr val="C8C8BF"/>
                </a:solidFill>
                <a:latin typeface="Tahoma"/>
                <a:cs typeface="Tahoma"/>
              </a:rPr>
              <a:t>phrases</a:t>
            </a:r>
            <a:r>
              <a:rPr dirty="0" sz="1000" spc="-4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C8C8BF"/>
                </a:solidFill>
                <a:latin typeface="Tahoma"/>
                <a:cs typeface="Tahoma"/>
              </a:rPr>
              <a:t>that</a:t>
            </a:r>
            <a:r>
              <a:rPr dirty="0" sz="1000" spc="-4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C8C8BF"/>
                </a:solidFill>
                <a:latin typeface="Tahoma"/>
                <a:cs typeface="Tahoma"/>
              </a:rPr>
              <a:t>define</a:t>
            </a:r>
            <a:r>
              <a:rPr dirty="0" sz="1000" spc="-3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your</a:t>
            </a:r>
            <a:r>
              <a:rPr dirty="0" sz="1000" spc="-4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C8C8BF"/>
                </a:solidFill>
                <a:latin typeface="Tahoma"/>
                <a:cs typeface="Tahoma"/>
              </a:rPr>
              <a:t>content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000" b="1">
                <a:solidFill>
                  <a:srgbClr val="C8C8BF"/>
                </a:solidFill>
                <a:latin typeface="Tahoma"/>
                <a:cs typeface="Tahoma"/>
              </a:rPr>
              <a:t>Topic</a:t>
            </a:r>
            <a:r>
              <a:rPr dirty="0" sz="1000" spc="100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C8C8BF"/>
                </a:solidFill>
                <a:latin typeface="Tahoma"/>
                <a:cs typeface="Tahoma"/>
              </a:rPr>
              <a:t>Modelling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000">
                <a:solidFill>
                  <a:srgbClr val="C8C8BF"/>
                </a:solidFill>
                <a:latin typeface="Tahoma"/>
                <a:cs typeface="Tahoma"/>
              </a:rPr>
              <a:t>LDA</a:t>
            </a:r>
            <a:r>
              <a:rPr dirty="0" sz="1000" spc="-6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000" spc="-5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65">
                <a:solidFill>
                  <a:srgbClr val="C8C8BF"/>
                </a:solidFill>
                <a:latin typeface="Tahoma"/>
                <a:cs typeface="Tahoma"/>
              </a:rPr>
              <a:t>NMF</a:t>
            </a:r>
            <a:r>
              <a:rPr dirty="0" sz="1000" spc="-5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45">
                <a:solidFill>
                  <a:srgbClr val="C8C8BF"/>
                </a:solidFill>
                <a:latin typeface="Tahoma"/>
                <a:cs typeface="Tahoma"/>
              </a:rPr>
              <a:t>algorithms</a:t>
            </a:r>
            <a:r>
              <a:rPr dirty="0" sz="1000" spc="-5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60">
                <a:solidFill>
                  <a:srgbClr val="C8C8BF"/>
                </a:solidFill>
                <a:latin typeface="Tahoma"/>
                <a:cs typeface="Tahoma"/>
              </a:rPr>
              <a:t>uncover</a:t>
            </a:r>
            <a:r>
              <a:rPr dirty="0" sz="1000" spc="-5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hidden</a:t>
            </a:r>
            <a:r>
              <a:rPr dirty="0" sz="1000" spc="-5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thematic</a:t>
            </a:r>
            <a:r>
              <a:rPr dirty="0" sz="1000" spc="-5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40">
                <a:solidFill>
                  <a:srgbClr val="C8C8BF"/>
                </a:solidFill>
                <a:latin typeface="Tahoma"/>
                <a:cs typeface="Tahoma"/>
              </a:rPr>
              <a:t>structures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000" b="1">
                <a:solidFill>
                  <a:srgbClr val="C8C8BF"/>
                </a:solidFill>
                <a:latin typeface="Tahoma"/>
                <a:cs typeface="Tahoma"/>
              </a:rPr>
              <a:t>Word</a:t>
            </a:r>
            <a:r>
              <a:rPr dirty="0" sz="1000" spc="35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b="1">
                <a:solidFill>
                  <a:srgbClr val="C8C8BF"/>
                </a:solidFill>
                <a:latin typeface="Tahoma"/>
                <a:cs typeface="Tahoma"/>
              </a:rPr>
              <a:t>Cloud</a:t>
            </a:r>
            <a:r>
              <a:rPr dirty="0" sz="1000" spc="40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C8C8BF"/>
                </a:solidFill>
                <a:latin typeface="Tahoma"/>
                <a:cs typeface="Tahoma"/>
              </a:rPr>
              <a:t>Visualisation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000" spc="10">
                <a:solidFill>
                  <a:srgbClr val="C8C8BF"/>
                </a:solidFill>
                <a:latin typeface="Tahoma"/>
                <a:cs typeface="Tahoma"/>
              </a:rPr>
              <a:t>Create</a:t>
            </a:r>
            <a:r>
              <a:rPr dirty="0" sz="1000" spc="-6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stunning</a:t>
            </a:r>
            <a:r>
              <a:rPr dirty="0" sz="1000" spc="-6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visual</a:t>
            </a:r>
            <a:r>
              <a:rPr dirty="0" sz="1000" spc="-6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45">
                <a:solidFill>
                  <a:srgbClr val="C8C8BF"/>
                </a:solidFill>
                <a:latin typeface="Tahoma"/>
                <a:cs typeface="Tahoma"/>
              </a:rPr>
              <a:t>representations</a:t>
            </a:r>
            <a:r>
              <a:rPr dirty="0" sz="1000" spc="-6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C8C8BF"/>
                </a:solidFill>
                <a:latin typeface="Tahoma"/>
                <a:cs typeface="Tahoma"/>
              </a:rPr>
              <a:t>of</a:t>
            </a:r>
            <a:r>
              <a:rPr dirty="0" sz="1000" spc="-6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60">
                <a:solidFill>
                  <a:srgbClr val="C8C8BF"/>
                </a:solidFill>
                <a:latin typeface="Tahoma"/>
                <a:cs typeface="Tahoma"/>
              </a:rPr>
              <a:t>term</a:t>
            </a:r>
            <a:r>
              <a:rPr dirty="0" sz="1000" spc="-6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C8C8BF"/>
                </a:solidFill>
                <a:latin typeface="Tahoma"/>
                <a:cs typeface="Tahoma"/>
              </a:rPr>
              <a:t>frequency</a:t>
            </a:r>
            <a:r>
              <a:rPr dirty="0" sz="1000" spc="-6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000" spc="-6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000" spc="45">
                <a:solidFill>
                  <a:srgbClr val="C8C8BF"/>
                </a:solidFill>
                <a:latin typeface="Tahoma"/>
                <a:cs typeface="Tahoma"/>
              </a:rPr>
              <a:t>importance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3965" y="880922"/>
            <a:ext cx="153416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40">
                <a:solidFill>
                  <a:srgbClr val="C8C8BF"/>
                </a:solidFill>
                <a:latin typeface="Tahoma"/>
                <a:cs typeface="Tahoma"/>
              </a:rPr>
              <a:t>TECHNOLOGY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3965" y="1447333"/>
            <a:ext cx="7641590" cy="5778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00" spc="60"/>
              <a:t>Built</a:t>
            </a:r>
            <a:r>
              <a:rPr dirty="0" sz="3600" spc="-145"/>
              <a:t> </a:t>
            </a:r>
            <a:r>
              <a:rPr dirty="0" sz="3600" spc="145"/>
              <a:t>on</a:t>
            </a:r>
            <a:r>
              <a:rPr dirty="0" sz="3600" spc="-145"/>
              <a:t> </a:t>
            </a:r>
            <a:r>
              <a:rPr dirty="0" sz="3600" spc="95"/>
              <a:t>Industry-</a:t>
            </a:r>
            <a:r>
              <a:rPr dirty="0" sz="3600" spc="130"/>
              <a:t>Leading</a:t>
            </a:r>
            <a:r>
              <a:rPr dirty="0" sz="3600" spc="-140"/>
              <a:t> </a:t>
            </a:r>
            <a:r>
              <a:rPr dirty="0" sz="3600" spc="105"/>
              <a:t>Tools</a:t>
            </a:r>
            <a:endParaRPr sz="3600"/>
          </a:p>
        </p:txBody>
      </p:sp>
      <p:sp>
        <p:nvSpPr>
          <p:cNvPr id="4" name="object 4" descr=""/>
          <p:cNvSpPr txBox="1"/>
          <p:nvPr/>
        </p:nvSpPr>
        <p:spPr>
          <a:xfrm>
            <a:off x="893965" y="2342419"/>
            <a:ext cx="12320905" cy="8921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40" b="1">
                <a:solidFill>
                  <a:srgbClr val="C8C8BF"/>
                </a:solidFill>
                <a:latin typeface="Tahoma"/>
                <a:cs typeface="Tahoma"/>
              </a:rPr>
              <a:t>Frontend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C8C8BF"/>
                </a:solidFill>
                <a:latin typeface="Tahoma"/>
                <a:cs typeface="Tahoma"/>
              </a:rPr>
              <a:t>Streamlit</a:t>
            </a:r>
            <a:r>
              <a:rPr dirty="0" sz="1800" spc="-40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05">
                <a:solidFill>
                  <a:srgbClr val="C8C8BF"/>
                </a:solidFill>
                <a:latin typeface="Tahoma"/>
                <a:cs typeface="Tahoma"/>
              </a:rPr>
              <a:t>provides</a:t>
            </a:r>
            <a:r>
              <a:rPr dirty="0" sz="1800" spc="-1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10">
                <a:solidFill>
                  <a:srgbClr val="C8C8BF"/>
                </a:solidFill>
                <a:latin typeface="Tahoma"/>
                <a:cs typeface="Tahoma"/>
              </a:rPr>
              <a:t>an</a:t>
            </a:r>
            <a:r>
              <a:rPr dirty="0" sz="1800" spc="-1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45">
                <a:solidFill>
                  <a:srgbClr val="C8C8BF"/>
                </a:solidFill>
                <a:latin typeface="Tahoma"/>
                <a:cs typeface="Tahoma"/>
              </a:rPr>
              <a:t>intuitive,</a:t>
            </a:r>
            <a:r>
              <a:rPr dirty="0" sz="18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14">
                <a:solidFill>
                  <a:srgbClr val="C8C8BF"/>
                </a:solidFill>
                <a:latin typeface="Tahoma"/>
                <a:cs typeface="Tahoma"/>
              </a:rPr>
              <a:t>responsive</a:t>
            </a:r>
            <a:r>
              <a:rPr dirty="0" sz="1800" spc="-1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C8C8BF"/>
                </a:solidFill>
                <a:latin typeface="Tahoma"/>
                <a:cs typeface="Tahoma"/>
              </a:rPr>
              <a:t>interface</a:t>
            </a:r>
            <a:r>
              <a:rPr dirty="0" sz="1800" spc="-1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C8C8BF"/>
                </a:solidFill>
                <a:latin typeface="Tahoma"/>
                <a:cs typeface="Tahoma"/>
              </a:rPr>
              <a:t>that</a:t>
            </a:r>
            <a:r>
              <a:rPr dirty="0" sz="18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50">
                <a:solidFill>
                  <a:srgbClr val="C8C8BF"/>
                </a:solidFill>
                <a:latin typeface="Tahoma"/>
                <a:cs typeface="Tahoma"/>
              </a:rPr>
              <a:t>makes</a:t>
            </a:r>
            <a:r>
              <a:rPr dirty="0" sz="1800" spc="-1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35">
                <a:solidFill>
                  <a:srgbClr val="C8C8BF"/>
                </a:solidFill>
                <a:latin typeface="Tahoma"/>
                <a:cs typeface="Tahoma"/>
              </a:rPr>
              <a:t>complex</a:t>
            </a:r>
            <a:r>
              <a:rPr dirty="0" sz="1800" spc="-1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00">
                <a:solidFill>
                  <a:srgbClr val="C8C8BF"/>
                </a:solidFill>
                <a:latin typeface="Tahoma"/>
                <a:cs typeface="Tahoma"/>
              </a:rPr>
              <a:t>NLP</a:t>
            </a:r>
            <a:r>
              <a:rPr dirty="0" sz="18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14">
                <a:solidFill>
                  <a:srgbClr val="C8C8BF"/>
                </a:solidFill>
                <a:latin typeface="Tahoma"/>
                <a:cs typeface="Tahoma"/>
              </a:rPr>
              <a:t>accessible</a:t>
            </a:r>
            <a:r>
              <a:rPr dirty="0" sz="1800" spc="-1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C8C8BF"/>
                </a:solidFill>
                <a:latin typeface="Tahoma"/>
                <a:cs typeface="Tahoma"/>
              </a:rPr>
              <a:t>to</a:t>
            </a:r>
            <a:r>
              <a:rPr dirty="0" sz="1800" spc="-1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40">
                <a:solidFill>
                  <a:srgbClr val="C8C8BF"/>
                </a:solidFill>
                <a:latin typeface="Tahoma"/>
                <a:cs typeface="Tahoma"/>
              </a:rPr>
              <a:t>non-</a:t>
            </a:r>
            <a:r>
              <a:rPr dirty="0" sz="1800" spc="95">
                <a:solidFill>
                  <a:srgbClr val="C8C8BF"/>
                </a:solidFill>
                <a:latin typeface="Tahoma"/>
                <a:cs typeface="Tahoma"/>
              </a:rPr>
              <a:t>technical</a:t>
            </a:r>
            <a:r>
              <a:rPr dirty="0" sz="18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10">
                <a:solidFill>
                  <a:srgbClr val="C8C8BF"/>
                </a:solidFill>
                <a:latin typeface="Tahoma"/>
                <a:cs typeface="Tahoma"/>
              </a:rPr>
              <a:t>users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6665" y="3545385"/>
            <a:ext cx="294951" cy="28574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93965" y="4041889"/>
            <a:ext cx="11291570" cy="20732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70" b="1">
                <a:solidFill>
                  <a:srgbClr val="C8C8BF"/>
                </a:solidFill>
                <a:latin typeface="Tahoma"/>
                <a:cs typeface="Tahoma"/>
              </a:rPr>
              <a:t>Backend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800" spc="55" b="1">
                <a:solidFill>
                  <a:srgbClr val="C8C8BF"/>
                </a:solidFill>
                <a:latin typeface="Tahoma"/>
                <a:cs typeface="Tahoma"/>
              </a:rPr>
              <a:t>Python</a:t>
            </a:r>
            <a:r>
              <a:rPr dirty="0" sz="1800" spc="-70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20">
                <a:solidFill>
                  <a:srgbClr val="C8C8BF"/>
                </a:solidFill>
                <a:latin typeface="Tahoma"/>
                <a:cs typeface="Tahoma"/>
              </a:rPr>
              <a:t>powers</a:t>
            </a:r>
            <a:r>
              <a:rPr dirty="0" sz="1800" spc="-15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C8C8BF"/>
                </a:solidFill>
                <a:latin typeface="Tahoma"/>
                <a:cs typeface="Tahoma"/>
              </a:rPr>
              <a:t>the</a:t>
            </a:r>
            <a:r>
              <a:rPr dirty="0" sz="1800" spc="-15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14">
                <a:solidFill>
                  <a:srgbClr val="C8C8BF"/>
                </a:solidFill>
                <a:latin typeface="Tahoma"/>
                <a:cs typeface="Tahoma"/>
              </a:rPr>
              <a:t>core</a:t>
            </a:r>
            <a:r>
              <a:rPr dirty="0" sz="1800" spc="-15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20">
                <a:solidFill>
                  <a:srgbClr val="C8C8BF"/>
                </a:solidFill>
                <a:latin typeface="Tahoma"/>
                <a:cs typeface="Tahoma"/>
              </a:rPr>
              <a:t>processing</a:t>
            </a:r>
            <a:r>
              <a:rPr dirty="0" sz="1800" spc="-15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05">
                <a:solidFill>
                  <a:srgbClr val="C8C8BF"/>
                </a:solidFill>
                <a:latin typeface="Tahoma"/>
                <a:cs typeface="Tahoma"/>
              </a:rPr>
              <a:t>engine</a:t>
            </a:r>
            <a:r>
              <a:rPr dirty="0" sz="1800" spc="-15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80">
                <a:solidFill>
                  <a:srgbClr val="C8C8BF"/>
                </a:solidFill>
                <a:latin typeface="Tahoma"/>
                <a:cs typeface="Tahoma"/>
              </a:rPr>
              <a:t>with</a:t>
            </a:r>
            <a:r>
              <a:rPr dirty="0" sz="1800" spc="-15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C8C8BF"/>
                </a:solidFill>
                <a:latin typeface="Tahoma"/>
                <a:cs typeface="Tahoma"/>
              </a:rPr>
              <a:t>robust,</a:t>
            </a:r>
            <a:r>
              <a:rPr dirty="0" sz="1800" spc="-15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95">
                <a:solidFill>
                  <a:srgbClr val="C8C8BF"/>
                </a:solidFill>
                <a:latin typeface="Tahoma"/>
                <a:cs typeface="Tahoma"/>
              </a:rPr>
              <a:t>scalable</a:t>
            </a:r>
            <a:r>
              <a:rPr dirty="0" sz="1800" spc="-15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C8C8BF"/>
                </a:solidFill>
                <a:latin typeface="Tahoma"/>
                <a:cs typeface="Tahoma"/>
              </a:rPr>
              <a:t>architecture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C8C8BF"/>
                </a:solidFill>
                <a:latin typeface="Tahoma"/>
                <a:cs typeface="Tahoma"/>
              </a:rPr>
              <a:t>NLP</a:t>
            </a:r>
            <a:r>
              <a:rPr dirty="0" sz="1800" spc="35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45" b="1">
                <a:solidFill>
                  <a:srgbClr val="C8C8BF"/>
                </a:solidFill>
                <a:latin typeface="Tahoma"/>
                <a:cs typeface="Tahoma"/>
              </a:rPr>
              <a:t>Libraries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C8C8BF"/>
                </a:solidFill>
                <a:latin typeface="Tahoma"/>
                <a:cs typeface="Tahoma"/>
              </a:rPr>
              <a:t>NLTK,</a:t>
            </a:r>
            <a:r>
              <a:rPr dirty="0" sz="1800" spc="-35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C8C8BF"/>
                </a:solidFill>
                <a:latin typeface="Tahoma"/>
                <a:cs typeface="Tahoma"/>
              </a:rPr>
              <a:t>TextBlob,</a:t>
            </a:r>
            <a:r>
              <a:rPr dirty="0" sz="1800" spc="-35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05" b="1">
                <a:solidFill>
                  <a:srgbClr val="C8C8BF"/>
                </a:solidFill>
                <a:latin typeface="Tahoma"/>
                <a:cs typeface="Tahoma"/>
              </a:rPr>
              <a:t>Sumy,</a:t>
            </a:r>
            <a:r>
              <a:rPr dirty="0" sz="1800" spc="-30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60" b="1">
                <a:solidFill>
                  <a:srgbClr val="C8C8BF"/>
                </a:solidFill>
                <a:latin typeface="Tahoma"/>
                <a:cs typeface="Tahoma"/>
              </a:rPr>
              <a:t>Scikit-</a:t>
            </a:r>
            <a:r>
              <a:rPr dirty="0" sz="1800" spc="50" b="1">
                <a:solidFill>
                  <a:srgbClr val="C8C8BF"/>
                </a:solidFill>
                <a:latin typeface="Tahoma"/>
                <a:cs typeface="Tahoma"/>
              </a:rPr>
              <a:t>learn</a:t>
            </a:r>
            <a:r>
              <a:rPr dirty="0" sz="1800" spc="-35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85">
                <a:solidFill>
                  <a:srgbClr val="C8C8BF"/>
                </a:solidFill>
                <a:latin typeface="Tahoma"/>
                <a:cs typeface="Tahoma"/>
              </a:rPr>
              <a:t>deliver</a:t>
            </a:r>
            <a:r>
              <a:rPr dirty="0" sz="18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85">
                <a:solidFill>
                  <a:srgbClr val="C8C8BF"/>
                </a:solidFill>
                <a:latin typeface="Tahoma"/>
                <a:cs typeface="Tahoma"/>
              </a:rPr>
              <a:t>state-</a:t>
            </a:r>
            <a:r>
              <a:rPr dirty="0" sz="1800" spc="75">
                <a:solidFill>
                  <a:srgbClr val="C8C8BF"/>
                </a:solidFill>
                <a:latin typeface="Tahoma"/>
                <a:cs typeface="Tahoma"/>
              </a:rPr>
              <a:t>of-</a:t>
            </a:r>
            <a:r>
              <a:rPr dirty="0" sz="1800" spc="95">
                <a:solidFill>
                  <a:srgbClr val="C8C8BF"/>
                </a:solidFill>
                <a:latin typeface="Tahoma"/>
                <a:cs typeface="Tahoma"/>
              </a:rPr>
              <a:t>the-</a:t>
            </a:r>
            <a:r>
              <a:rPr dirty="0" sz="1800" spc="50">
                <a:solidFill>
                  <a:srgbClr val="C8C8BF"/>
                </a:solidFill>
                <a:latin typeface="Tahoma"/>
                <a:cs typeface="Tahoma"/>
              </a:rPr>
              <a:t>art</a:t>
            </a:r>
            <a:r>
              <a:rPr dirty="0" sz="18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70">
                <a:solidFill>
                  <a:srgbClr val="C8C8BF"/>
                </a:solidFill>
                <a:latin typeface="Tahoma"/>
                <a:cs typeface="Tahoma"/>
              </a:rPr>
              <a:t>natural</a:t>
            </a:r>
            <a:r>
              <a:rPr dirty="0" sz="18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90">
                <a:solidFill>
                  <a:srgbClr val="C8C8BF"/>
                </a:solidFill>
                <a:latin typeface="Tahoma"/>
                <a:cs typeface="Tahoma"/>
              </a:rPr>
              <a:t>language</a:t>
            </a:r>
            <a:r>
              <a:rPr dirty="0" sz="1800" spc="-114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20">
                <a:solidFill>
                  <a:srgbClr val="C8C8BF"/>
                </a:solidFill>
                <a:latin typeface="Tahoma"/>
                <a:cs typeface="Tahoma"/>
              </a:rPr>
              <a:t>processing</a:t>
            </a:r>
            <a:r>
              <a:rPr dirty="0" sz="1800" spc="-1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70">
                <a:solidFill>
                  <a:srgbClr val="C8C8BF"/>
                </a:solidFill>
                <a:latin typeface="Tahoma"/>
                <a:cs typeface="Tahoma"/>
              </a:rPr>
              <a:t>capabilities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6665" y="6425650"/>
            <a:ext cx="276224" cy="27622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893965" y="6916353"/>
            <a:ext cx="11135995" cy="20732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45" b="1">
                <a:solidFill>
                  <a:srgbClr val="C8C8BF"/>
                </a:solidFill>
                <a:latin typeface="Tahoma"/>
                <a:cs typeface="Tahoma"/>
              </a:rPr>
              <a:t>Visualisation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C8C8BF"/>
                </a:solidFill>
                <a:latin typeface="Tahoma"/>
                <a:cs typeface="Tahoma"/>
              </a:rPr>
              <a:t>Matplotlib, WordCloud</a:t>
            </a:r>
            <a:r>
              <a:rPr dirty="0" sz="1800" spc="5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05">
                <a:solidFill>
                  <a:srgbClr val="C8C8BF"/>
                </a:solidFill>
                <a:latin typeface="Tahoma"/>
                <a:cs typeface="Tahoma"/>
              </a:rPr>
              <a:t>transform</a:t>
            </a:r>
            <a:r>
              <a:rPr dirty="0" sz="18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C8C8BF"/>
                </a:solidFill>
                <a:latin typeface="Tahoma"/>
                <a:cs typeface="Tahoma"/>
              </a:rPr>
              <a:t>data</a:t>
            </a:r>
            <a:r>
              <a:rPr dirty="0" sz="18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70">
                <a:solidFill>
                  <a:srgbClr val="C8C8BF"/>
                </a:solidFill>
                <a:latin typeface="Tahoma"/>
                <a:cs typeface="Tahoma"/>
              </a:rPr>
              <a:t>into</a:t>
            </a:r>
            <a:r>
              <a:rPr dirty="0" sz="18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14">
                <a:solidFill>
                  <a:srgbClr val="C8C8BF"/>
                </a:solidFill>
                <a:latin typeface="Tahoma"/>
                <a:cs typeface="Tahoma"/>
              </a:rPr>
              <a:t>compelling</a:t>
            </a:r>
            <a:r>
              <a:rPr dirty="0" sz="18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95">
                <a:solidFill>
                  <a:srgbClr val="C8C8BF"/>
                </a:solidFill>
                <a:latin typeface="Tahoma"/>
                <a:cs typeface="Tahoma"/>
              </a:rPr>
              <a:t>visual</a:t>
            </a:r>
            <a:r>
              <a:rPr dirty="0" sz="18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80">
                <a:solidFill>
                  <a:srgbClr val="C8C8BF"/>
                </a:solidFill>
                <a:latin typeface="Tahoma"/>
                <a:cs typeface="Tahoma"/>
              </a:rPr>
              <a:t>narratives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C8C8BF"/>
                </a:solidFill>
                <a:latin typeface="Tahoma"/>
                <a:cs typeface="Tahoma"/>
              </a:rPr>
              <a:t>File</a:t>
            </a:r>
            <a:r>
              <a:rPr dirty="0" sz="1800" spc="110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70" b="1">
                <a:solidFill>
                  <a:srgbClr val="C8C8BF"/>
                </a:solidFill>
                <a:latin typeface="Tahoma"/>
                <a:cs typeface="Tahoma"/>
              </a:rPr>
              <a:t>Processing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800" spc="55" b="1">
                <a:solidFill>
                  <a:srgbClr val="C8C8BF"/>
                </a:solidFill>
                <a:latin typeface="Tahoma"/>
                <a:cs typeface="Tahoma"/>
              </a:rPr>
              <a:t>PyPDF2,</a:t>
            </a:r>
            <a:r>
              <a:rPr dirty="0" sz="1800" spc="-70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55" b="1">
                <a:solidFill>
                  <a:srgbClr val="C8C8BF"/>
                </a:solidFill>
                <a:latin typeface="Tahoma"/>
                <a:cs typeface="Tahoma"/>
              </a:rPr>
              <a:t>python-</a:t>
            </a:r>
            <a:r>
              <a:rPr dirty="0" sz="1800" spc="50" b="1">
                <a:solidFill>
                  <a:srgbClr val="C8C8BF"/>
                </a:solidFill>
                <a:latin typeface="Tahoma"/>
                <a:cs typeface="Tahoma"/>
              </a:rPr>
              <a:t>docx,</a:t>
            </a:r>
            <a:r>
              <a:rPr dirty="0" sz="1800" spc="-60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50" b="1">
                <a:solidFill>
                  <a:srgbClr val="C8C8BF"/>
                </a:solidFill>
                <a:latin typeface="Tahoma"/>
                <a:cs typeface="Tahoma"/>
              </a:rPr>
              <a:t>openpyxl,</a:t>
            </a:r>
            <a:r>
              <a:rPr dirty="0" sz="1800" spc="-60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85" b="1">
                <a:solidFill>
                  <a:srgbClr val="C8C8BF"/>
                </a:solidFill>
                <a:latin typeface="Tahoma"/>
                <a:cs typeface="Tahoma"/>
              </a:rPr>
              <a:t>pandas</a:t>
            </a:r>
            <a:r>
              <a:rPr dirty="0" sz="1800" spc="-60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20">
                <a:solidFill>
                  <a:srgbClr val="C8C8BF"/>
                </a:solidFill>
                <a:latin typeface="Tahoma"/>
                <a:cs typeface="Tahoma"/>
              </a:rPr>
              <a:t>ensure</a:t>
            </a:r>
            <a:r>
              <a:rPr dirty="0" sz="1800" spc="-14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45">
                <a:solidFill>
                  <a:srgbClr val="C8C8BF"/>
                </a:solidFill>
                <a:latin typeface="Tahoma"/>
                <a:cs typeface="Tahoma"/>
              </a:rPr>
              <a:t>seamless</a:t>
            </a:r>
            <a:r>
              <a:rPr dirty="0" sz="1800" spc="-14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95">
                <a:solidFill>
                  <a:srgbClr val="C8C8BF"/>
                </a:solidFill>
                <a:latin typeface="Tahoma"/>
                <a:cs typeface="Tahoma"/>
              </a:rPr>
              <a:t>handling</a:t>
            </a:r>
            <a:r>
              <a:rPr dirty="0" sz="1800" spc="-14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C8C8BF"/>
                </a:solidFill>
                <a:latin typeface="Tahoma"/>
                <a:cs typeface="Tahoma"/>
              </a:rPr>
              <a:t>of</a:t>
            </a:r>
            <a:r>
              <a:rPr dirty="0" sz="1800" spc="-14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05">
                <a:solidFill>
                  <a:srgbClr val="C8C8BF"/>
                </a:solidFill>
                <a:latin typeface="Tahoma"/>
                <a:cs typeface="Tahoma"/>
              </a:rPr>
              <a:t>diverse</a:t>
            </a:r>
            <a:r>
              <a:rPr dirty="0" sz="1800" spc="-14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130">
                <a:solidFill>
                  <a:srgbClr val="C8C8BF"/>
                </a:solidFill>
                <a:latin typeface="Tahoma"/>
                <a:cs typeface="Tahoma"/>
              </a:rPr>
              <a:t>document</a:t>
            </a:r>
            <a:r>
              <a:rPr dirty="0" sz="1800" spc="-14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800" spc="90">
                <a:solidFill>
                  <a:srgbClr val="C8C8BF"/>
                </a:solidFill>
                <a:latin typeface="Tahoma"/>
                <a:cs typeface="Tahoma"/>
              </a:rPr>
              <a:t>formats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6665" y="9300123"/>
            <a:ext cx="276224" cy="2740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1227" y="678106"/>
            <a:ext cx="1274445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40">
                <a:solidFill>
                  <a:srgbClr val="C8C8BF"/>
                </a:solidFill>
                <a:latin typeface="Tahoma"/>
                <a:cs typeface="Tahoma"/>
              </a:rPr>
              <a:t>ARCHITECTURE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1227" y="1067778"/>
            <a:ext cx="4624705" cy="4349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75"/>
              <a:t>Modular</a:t>
            </a:r>
            <a:r>
              <a:rPr dirty="0" sz="2650" spc="-114"/>
              <a:t> </a:t>
            </a:r>
            <a:r>
              <a:rPr dirty="0" sz="2650" spc="55"/>
              <a:t>Project</a:t>
            </a:r>
            <a:r>
              <a:rPr dirty="0" sz="2650" spc="-114"/>
              <a:t> </a:t>
            </a:r>
            <a:r>
              <a:rPr dirty="0" sz="2650" spc="65"/>
              <a:t>Structure</a:t>
            </a:r>
            <a:endParaRPr sz="2650"/>
          </a:p>
        </p:txBody>
      </p:sp>
      <p:sp>
        <p:nvSpPr>
          <p:cNvPr id="4" name="object 4" descr=""/>
          <p:cNvSpPr txBox="1"/>
          <p:nvPr/>
        </p:nvSpPr>
        <p:spPr>
          <a:xfrm>
            <a:off x="701227" y="1736429"/>
            <a:ext cx="6883400" cy="6483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45" b="1">
                <a:solidFill>
                  <a:srgbClr val="C8C8BF"/>
                </a:solidFill>
                <a:latin typeface="Tahoma"/>
                <a:cs typeface="Tahoma"/>
              </a:rPr>
              <a:t>app.py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70">
                <a:solidFill>
                  <a:srgbClr val="C8C8BF"/>
                </a:solidFill>
                <a:latin typeface="Tahoma"/>
                <a:cs typeface="Tahoma"/>
              </a:rPr>
              <a:t>Streamlit</a:t>
            </a:r>
            <a:r>
              <a:rPr dirty="0" sz="13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C8C8BF"/>
                </a:solidFill>
                <a:latin typeface="Tahoma"/>
                <a:cs typeface="Tahoma"/>
              </a:rPr>
              <a:t>application</a:t>
            </a:r>
            <a:r>
              <a:rPr dirty="0" sz="13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C8C8BF"/>
                </a:solidFill>
                <a:latin typeface="Tahoma"/>
                <a:cs typeface="Tahoma"/>
              </a:rPr>
              <a:t>interface</a:t>
            </a:r>
            <a:r>
              <a:rPr dirty="0" sz="13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-114">
                <a:solidFill>
                  <a:srgbClr val="C8C8BF"/>
                </a:solidFill>
                <a:latin typeface="Tahoma"/>
                <a:cs typeface="Tahoma"/>
              </a:rPr>
              <a:t>—</a:t>
            </a:r>
            <a:r>
              <a:rPr dirty="0" sz="13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C8C8BF"/>
                </a:solidFill>
                <a:latin typeface="Tahoma"/>
                <a:cs typeface="Tahoma"/>
              </a:rPr>
              <a:t>the</a:t>
            </a:r>
            <a:r>
              <a:rPr dirty="0" sz="13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95">
                <a:solidFill>
                  <a:srgbClr val="C8C8BF"/>
                </a:solidFill>
                <a:latin typeface="Tahoma"/>
                <a:cs typeface="Tahoma"/>
              </a:rPr>
              <a:t>user-</a:t>
            </a:r>
            <a:r>
              <a:rPr dirty="0" sz="1300" spc="65">
                <a:solidFill>
                  <a:srgbClr val="C8C8BF"/>
                </a:solidFill>
                <a:latin typeface="Tahoma"/>
                <a:cs typeface="Tahoma"/>
              </a:rPr>
              <a:t>facing</a:t>
            </a:r>
            <a:r>
              <a:rPr dirty="0" sz="13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C8C8BF"/>
                </a:solidFill>
                <a:latin typeface="Tahoma"/>
                <a:cs typeface="Tahoma"/>
              </a:rPr>
              <a:t>layer</a:t>
            </a:r>
            <a:r>
              <a:rPr dirty="0" sz="13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C8C8BF"/>
                </a:solidFill>
                <a:latin typeface="Tahoma"/>
                <a:cs typeface="Tahoma"/>
              </a:rPr>
              <a:t>that</a:t>
            </a:r>
            <a:r>
              <a:rPr dirty="0" sz="13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75">
                <a:solidFill>
                  <a:srgbClr val="C8C8BF"/>
                </a:solidFill>
                <a:latin typeface="Tahoma"/>
                <a:cs typeface="Tahoma"/>
              </a:rPr>
              <a:t>orchestrates</a:t>
            </a:r>
            <a:r>
              <a:rPr dirty="0" sz="13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C8C8BF"/>
                </a:solidFill>
                <a:latin typeface="Tahoma"/>
                <a:cs typeface="Tahoma"/>
              </a:rPr>
              <a:t>all</a:t>
            </a:r>
            <a:r>
              <a:rPr dirty="0" sz="13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C8C8BF"/>
                </a:solidFill>
                <a:latin typeface="Tahoma"/>
                <a:cs typeface="Tahoma"/>
              </a:rPr>
              <a:t>interactions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927" y="2597048"/>
            <a:ext cx="3324224" cy="332422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01227" y="6074171"/>
            <a:ext cx="6980555" cy="36048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50" b="1">
                <a:solidFill>
                  <a:srgbClr val="C8C8BF"/>
                </a:solidFill>
                <a:latin typeface="Tahoma"/>
                <a:cs typeface="Tahoma"/>
              </a:rPr>
              <a:t>backend.py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70">
                <a:solidFill>
                  <a:srgbClr val="C8C8BF"/>
                </a:solidFill>
                <a:latin typeface="Tahoma"/>
                <a:cs typeface="Tahoma"/>
              </a:rPr>
              <a:t>Core</a:t>
            </a:r>
            <a:r>
              <a:rPr dirty="0" sz="1300" spc="-9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100">
                <a:solidFill>
                  <a:srgbClr val="C8C8BF"/>
                </a:solidFill>
                <a:latin typeface="Tahoma"/>
                <a:cs typeface="Tahoma"/>
              </a:rPr>
              <a:t>business</a:t>
            </a:r>
            <a:r>
              <a:rPr dirty="0" sz="1300" spc="-9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70">
                <a:solidFill>
                  <a:srgbClr val="C8C8BF"/>
                </a:solidFill>
                <a:latin typeface="Tahoma"/>
                <a:cs typeface="Tahoma"/>
              </a:rPr>
              <a:t>logic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-114">
                <a:solidFill>
                  <a:srgbClr val="C8C8BF"/>
                </a:solidFill>
                <a:latin typeface="Tahoma"/>
                <a:cs typeface="Tahoma"/>
              </a:rPr>
              <a:t>—</a:t>
            </a:r>
            <a:r>
              <a:rPr dirty="0" sz="1300" spc="-9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100">
                <a:solidFill>
                  <a:srgbClr val="C8C8BF"/>
                </a:solidFill>
                <a:latin typeface="Tahoma"/>
                <a:cs typeface="Tahoma"/>
              </a:rPr>
              <a:t>implements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C8C8BF"/>
                </a:solidFill>
                <a:latin typeface="Tahoma"/>
                <a:cs typeface="Tahoma"/>
              </a:rPr>
              <a:t>all</a:t>
            </a:r>
            <a:r>
              <a:rPr dirty="0" sz="1300" spc="-9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80">
                <a:solidFill>
                  <a:srgbClr val="C8C8BF"/>
                </a:solidFill>
                <a:latin typeface="Tahoma"/>
                <a:cs typeface="Tahoma"/>
              </a:rPr>
              <a:t>NLP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80">
                <a:solidFill>
                  <a:srgbClr val="C8C8BF"/>
                </a:solidFill>
                <a:latin typeface="Tahoma"/>
                <a:cs typeface="Tahoma"/>
              </a:rPr>
              <a:t>algorithms</a:t>
            </a:r>
            <a:r>
              <a:rPr dirty="0" sz="1300" spc="-9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80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80">
                <a:solidFill>
                  <a:srgbClr val="C8C8BF"/>
                </a:solidFill>
                <a:latin typeface="Tahoma"/>
                <a:cs typeface="Tahoma"/>
              </a:rPr>
              <a:t>analysis</a:t>
            </a:r>
            <a:r>
              <a:rPr dirty="0" sz="1300" spc="-9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C8C8BF"/>
                </a:solidFill>
                <a:latin typeface="Tahoma"/>
                <a:cs typeface="Tahoma"/>
              </a:rPr>
              <a:t>functions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00" spc="45" b="1">
                <a:solidFill>
                  <a:srgbClr val="C8C8BF"/>
                </a:solidFill>
                <a:latin typeface="Tahoma"/>
                <a:cs typeface="Tahoma"/>
              </a:rPr>
              <a:t>preprocessing.py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C8C8BF"/>
                </a:solidFill>
                <a:latin typeface="Tahoma"/>
                <a:cs typeface="Tahoma"/>
              </a:rPr>
              <a:t>Text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90">
                <a:solidFill>
                  <a:srgbClr val="C8C8BF"/>
                </a:solidFill>
                <a:latin typeface="Tahoma"/>
                <a:cs typeface="Tahoma"/>
              </a:rPr>
              <a:t>preprocessing</a:t>
            </a:r>
            <a:r>
              <a:rPr dirty="0" sz="13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100">
                <a:solidFill>
                  <a:srgbClr val="C8C8BF"/>
                </a:solidFill>
                <a:latin typeface="Tahoma"/>
                <a:cs typeface="Tahoma"/>
              </a:rPr>
              <a:t>module</a:t>
            </a:r>
            <a:r>
              <a:rPr dirty="0" sz="13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-114">
                <a:solidFill>
                  <a:srgbClr val="C8C8BF"/>
                </a:solidFill>
                <a:latin typeface="Tahoma"/>
                <a:cs typeface="Tahoma"/>
              </a:rPr>
              <a:t>—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80">
                <a:solidFill>
                  <a:srgbClr val="C8C8BF"/>
                </a:solidFill>
                <a:latin typeface="Tahoma"/>
                <a:cs typeface="Tahoma"/>
              </a:rPr>
              <a:t>handles</a:t>
            </a:r>
            <a:r>
              <a:rPr dirty="0" sz="13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C8C8BF"/>
                </a:solidFill>
                <a:latin typeface="Tahoma"/>
                <a:cs typeface="Tahoma"/>
              </a:rPr>
              <a:t>cleaning,</a:t>
            </a:r>
            <a:r>
              <a:rPr dirty="0" sz="13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65">
                <a:solidFill>
                  <a:srgbClr val="C8C8BF"/>
                </a:solidFill>
                <a:latin typeface="Tahoma"/>
                <a:cs typeface="Tahoma"/>
              </a:rPr>
              <a:t>normalisation,</a:t>
            </a:r>
            <a:r>
              <a:rPr dirty="0" sz="13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80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C8C8BF"/>
                </a:solidFill>
                <a:latin typeface="Tahoma"/>
                <a:cs typeface="Tahoma"/>
              </a:rPr>
              <a:t>tokenisation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-10" b="1">
                <a:solidFill>
                  <a:srgbClr val="C8C8BF"/>
                </a:solidFill>
                <a:latin typeface="Tahoma"/>
                <a:cs typeface="Tahoma"/>
              </a:rPr>
              <a:t>venv/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00" spc="50">
                <a:solidFill>
                  <a:srgbClr val="C8C8BF"/>
                </a:solidFill>
                <a:latin typeface="Tahoma"/>
                <a:cs typeface="Tahoma"/>
              </a:rPr>
              <a:t>Virtual</a:t>
            </a:r>
            <a:r>
              <a:rPr dirty="0" sz="13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85">
                <a:solidFill>
                  <a:srgbClr val="C8C8BF"/>
                </a:solidFill>
                <a:latin typeface="Tahoma"/>
                <a:cs typeface="Tahoma"/>
              </a:rPr>
              <a:t>environment</a:t>
            </a:r>
            <a:r>
              <a:rPr dirty="0" sz="13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-114">
                <a:solidFill>
                  <a:srgbClr val="C8C8BF"/>
                </a:solidFill>
                <a:latin typeface="Tahoma"/>
                <a:cs typeface="Tahoma"/>
              </a:rPr>
              <a:t>—</a:t>
            </a:r>
            <a:r>
              <a:rPr dirty="0" sz="13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65">
                <a:solidFill>
                  <a:srgbClr val="C8C8BF"/>
                </a:solidFill>
                <a:latin typeface="Tahoma"/>
                <a:cs typeface="Tahoma"/>
              </a:rPr>
              <a:t>isolates</a:t>
            </a:r>
            <a:r>
              <a:rPr dirty="0" sz="13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90">
                <a:solidFill>
                  <a:srgbClr val="C8C8BF"/>
                </a:solidFill>
                <a:latin typeface="Tahoma"/>
                <a:cs typeface="Tahoma"/>
              </a:rPr>
              <a:t>dependencies</a:t>
            </a:r>
            <a:r>
              <a:rPr dirty="0" sz="13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C8C8BF"/>
                </a:solidFill>
                <a:latin typeface="Tahoma"/>
                <a:cs typeface="Tahoma"/>
              </a:rPr>
              <a:t>for</a:t>
            </a:r>
            <a:r>
              <a:rPr dirty="0" sz="13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80">
                <a:solidFill>
                  <a:srgbClr val="C8C8BF"/>
                </a:solidFill>
                <a:latin typeface="Tahoma"/>
                <a:cs typeface="Tahoma"/>
              </a:rPr>
              <a:t>consistent</a:t>
            </a:r>
            <a:r>
              <a:rPr dirty="0" sz="13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75">
                <a:solidFill>
                  <a:srgbClr val="C8C8BF"/>
                </a:solidFill>
                <a:latin typeface="Tahoma"/>
                <a:cs typeface="Tahoma"/>
              </a:rPr>
              <a:t>deployment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solidFill>
                  <a:srgbClr val="C8C8BF"/>
                </a:solidFill>
                <a:latin typeface="Tahoma"/>
                <a:cs typeface="Tahoma"/>
              </a:rPr>
              <a:t>__pycache__/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00" spc="85">
                <a:solidFill>
                  <a:srgbClr val="C8C8BF"/>
                </a:solidFill>
                <a:latin typeface="Tahoma"/>
                <a:cs typeface="Tahoma"/>
              </a:rPr>
              <a:t>Compiled</a:t>
            </a:r>
            <a:r>
              <a:rPr dirty="0" sz="1300" spc="-10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70">
                <a:solidFill>
                  <a:srgbClr val="C8C8BF"/>
                </a:solidFill>
                <a:latin typeface="Tahoma"/>
                <a:cs typeface="Tahoma"/>
              </a:rPr>
              <a:t>Python</a:t>
            </a:r>
            <a:r>
              <a:rPr dirty="0" sz="1300" spc="-9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C8C8BF"/>
                </a:solidFill>
                <a:latin typeface="Tahoma"/>
                <a:cs typeface="Tahoma"/>
              </a:rPr>
              <a:t>files</a:t>
            </a:r>
            <a:r>
              <a:rPr dirty="0" sz="1300" spc="-9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-114">
                <a:solidFill>
                  <a:srgbClr val="C8C8BF"/>
                </a:solidFill>
                <a:latin typeface="Tahoma"/>
                <a:cs typeface="Tahoma"/>
              </a:rPr>
              <a:t>—</a:t>
            </a:r>
            <a:r>
              <a:rPr dirty="0" sz="1300" spc="-9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90">
                <a:solidFill>
                  <a:srgbClr val="C8C8BF"/>
                </a:solidFill>
                <a:latin typeface="Tahoma"/>
                <a:cs typeface="Tahoma"/>
              </a:rPr>
              <a:t>optimises</a:t>
            </a:r>
            <a:r>
              <a:rPr dirty="0" sz="1300" spc="-9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85">
                <a:solidFill>
                  <a:srgbClr val="C8C8BF"/>
                </a:solidFill>
                <a:latin typeface="Tahoma"/>
                <a:cs typeface="Tahoma"/>
              </a:rPr>
              <a:t>performance</a:t>
            </a:r>
            <a:r>
              <a:rPr dirty="0" sz="1300" spc="-9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70">
                <a:solidFill>
                  <a:srgbClr val="C8C8BF"/>
                </a:solidFill>
                <a:latin typeface="Tahoma"/>
                <a:cs typeface="Tahoma"/>
              </a:rPr>
              <a:t>through</a:t>
            </a:r>
            <a:r>
              <a:rPr dirty="0" sz="1300" spc="-9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80">
                <a:solidFill>
                  <a:srgbClr val="C8C8BF"/>
                </a:solidFill>
                <a:latin typeface="Tahoma"/>
                <a:cs typeface="Tahoma"/>
              </a:rPr>
              <a:t>bytecode</a:t>
            </a:r>
            <a:r>
              <a:rPr dirty="0" sz="1300" spc="-9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75">
                <a:solidFill>
                  <a:srgbClr val="C8C8BF"/>
                </a:solidFill>
                <a:latin typeface="Tahoma"/>
                <a:cs typeface="Tahoma"/>
              </a:rPr>
              <a:t>caching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00" spc="65">
                <a:solidFill>
                  <a:srgbClr val="C8C8BF"/>
                </a:solidFill>
                <a:latin typeface="Tahoma"/>
                <a:cs typeface="Tahoma"/>
              </a:rPr>
              <a:t>Clean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70">
                <a:solidFill>
                  <a:srgbClr val="C8C8BF"/>
                </a:solidFill>
                <a:latin typeface="Tahoma"/>
                <a:cs typeface="Tahoma"/>
              </a:rPr>
              <a:t>separation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C8C8BF"/>
                </a:solidFill>
                <a:latin typeface="Tahoma"/>
                <a:cs typeface="Tahoma"/>
              </a:rPr>
              <a:t>of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95">
                <a:solidFill>
                  <a:srgbClr val="C8C8BF"/>
                </a:solidFill>
                <a:latin typeface="Tahoma"/>
                <a:cs typeface="Tahoma"/>
              </a:rPr>
              <a:t>concerns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95">
                <a:solidFill>
                  <a:srgbClr val="C8C8BF"/>
                </a:solidFill>
                <a:latin typeface="Tahoma"/>
                <a:cs typeface="Tahoma"/>
              </a:rPr>
              <a:t>ensures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C8C8BF"/>
                </a:solidFill>
                <a:latin typeface="Tahoma"/>
                <a:cs typeface="Tahoma"/>
              </a:rPr>
              <a:t>maintainability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80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3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C8C8BF"/>
                </a:solidFill>
                <a:latin typeface="Tahoma"/>
                <a:cs typeface="Tahoma"/>
              </a:rPr>
              <a:t>scalability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95">
                <a:solidFill>
                  <a:srgbClr val="C8C8BF"/>
                </a:solidFill>
                <a:latin typeface="Tahoma"/>
                <a:cs typeface="Tahoma"/>
              </a:rPr>
              <a:t>as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C8C8BF"/>
                </a:solidFill>
                <a:latin typeface="Tahoma"/>
                <a:cs typeface="Tahoma"/>
              </a:rPr>
              <a:t>features</a:t>
            </a:r>
            <a:r>
              <a:rPr dirty="0" sz="130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300" spc="70">
                <a:solidFill>
                  <a:srgbClr val="C8C8BF"/>
                </a:solidFill>
                <a:latin typeface="Tahoma"/>
                <a:cs typeface="Tahoma"/>
              </a:rPr>
              <a:t>expand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96899" y="578125"/>
            <a:ext cx="71437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70">
                <a:solidFill>
                  <a:srgbClr val="C8C8BF"/>
                </a:solidFill>
                <a:latin typeface="Tahoma"/>
                <a:cs typeface="Tahoma"/>
              </a:rPr>
              <a:t>PROCESS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899" y="970806"/>
            <a:ext cx="4744720" cy="3968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150"/>
              <a:t>Seamless</a:t>
            </a:r>
            <a:r>
              <a:rPr dirty="0" spc="-85"/>
              <a:t> </a:t>
            </a:r>
            <a:r>
              <a:rPr dirty="0" spc="135"/>
              <a:t>Analysis</a:t>
            </a:r>
            <a:r>
              <a:rPr dirty="0" spc="-80"/>
              <a:t> </a:t>
            </a:r>
            <a:r>
              <a:rPr dirty="0" spc="55"/>
              <a:t>Workflow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590970"/>
            <a:ext cx="704849" cy="424575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96899" y="5966447"/>
            <a:ext cx="8567420" cy="3777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solidFill>
                  <a:srgbClr val="C8C8BF"/>
                </a:solidFill>
                <a:latin typeface="Tahoma"/>
                <a:cs typeface="Tahoma"/>
              </a:rPr>
              <a:t>Input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50" spc="90">
                <a:solidFill>
                  <a:srgbClr val="C8C8BF"/>
                </a:solidFill>
                <a:latin typeface="Tahoma"/>
                <a:cs typeface="Tahoma"/>
              </a:rPr>
              <a:t>User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0">
                <a:solidFill>
                  <a:srgbClr val="C8C8BF"/>
                </a:solidFill>
                <a:latin typeface="Tahoma"/>
                <a:cs typeface="Tahoma"/>
              </a:rPr>
              <a:t>provides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C8C8BF"/>
                </a:solidFill>
                <a:latin typeface="Tahoma"/>
                <a:cs typeface="Tahoma"/>
              </a:rPr>
              <a:t>text</a:t>
            </a:r>
            <a:r>
              <a:rPr dirty="0" sz="115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C8C8BF"/>
                </a:solidFill>
                <a:latin typeface="Tahoma"/>
                <a:cs typeface="Tahoma"/>
              </a:rPr>
              <a:t>directly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C8C8BF"/>
                </a:solidFill>
                <a:latin typeface="Tahoma"/>
                <a:cs typeface="Tahoma"/>
              </a:rPr>
              <a:t>or</a:t>
            </a:r>
            <a:r>
              <a:rPr dirty="0" sz="115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0">
                <a:solidFill>
                  <a:srgbClr val="C8C8BF"/>
                </a:solidFill>
                <a:latin typeface="Tahoma"/>
                <a:cs typeface="Tahoma"/>
              </a:rPr>
              <a:t>uploads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105">
                <a:solidFill>
                  <a:srgbClr val="C8C8BF"/>
                </a:solidFill>
                <a:latin typeface="Tahoma"/>
                <a:cs typeface="Tahoma"/>
              </a:rPr>
              <a:t>documents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C8C8BF"/>
                </a:solidFill>
                <a:latin typeface="Tahoma"/>
                <a:cs typeface="Tahoma"/>
              </a:rPr>
              <a:t>in</a:t>
            </a:r>
            <a:r>
              <a:rPr dirty="0" sz="115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C8C8BF"/>
                </a:solidFill>
                <a:latin typeface="Tahoma"/>
                <a:cs typeface="Tahoma"/>
              </a:rPr>
              <a:t>supported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C8C8BF"/>
                </a:solidFill>
                <a:latin typeface="Tahoma"/>
                <a:cs typeface="Tahoma"/>
              </a:rPr>
              <a:t>formats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50" b="1">
                <a:solidFill>
                  <a:srgbClr val="C8C8BF"/>
                </a:solidFill>
                <a:latin typeface="Tahoma"/>
                <a:cs typeface="Tahoma"/>
              </a:rPr>
              <a:t>Preprocessing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solidFill>
                  <a:srgbClr val="C8C8BF"/>
                </a:solidFill>
                <a:latin typeface="Tahoma"/>
                <a:cs typeface="Tahoma"/>
              </a:rPr>
              <a:t>Text</a:t>
            </a:r>
            <a:r>
              <a:rPr dirty="0" sz="1150" spc="-4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90">
                <a:solidFill>
                  <a:srgbClr val="C8C8BF"/>
                </a:solidFill>
                <a:latin typeface="Tahoma"/>
                <a:cs typeface="Tahoma"/>
              </a:rPr>
              <a:t>undergoes</a:t>
            </a:r>
            <a:r>
              <a:rPr dirty="0" sz="1150" spc="-4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C8C8BF"/>
                </a:solidFill>
                <a:latin typeface="Tahoma"/>
                <a:cs typeface="Tahoma"/>
              </a:rPr>
              <a:t>cleaning,</a:t>
            </a:r>
            <a:r>
              <a:rPr dirty="0" sz="1150" spc="-4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C8C8BF"/>
                </a:solidFill>
                <a:latin typeface="Tahoma"/>
                <a:cs typeface="Tahoma"/>
              </a:rPr>
              <a:t>normalisation,</a:t>
            </a:r>
            <a:r>
              <a:rPr dirty="0" sz="1150" spc="-4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5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150" spc="-4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C8C8BF"/>
                </a:solidFill>
                <a:latin typeface="Tahoma"/>
                <a:cs typeface="Tahoma"/>
              </a:rPr>
              <a:t>tokenisation</a:t>
            </a:r>
            <a:r>
              <a:rPr dirty="0" sz="1150" spc="-4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C8C8BF"/>
                </a:solidFill>
                <a:latin typeface="Tahoma"/>
                <a:cs typeface="Tahoma"/>
              </a:rPr>
              <a:t>to</a:t>
            </a:r>
            <a:r>
              <a:rPr dirty="0" sz="1150" spc="-4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C8C8BF"/>
                </a:solidFill>
                <a:latin typeface="Tahoma"/>
                <a:cs typeface="Tahoma"/>
              </a:rPr>
              <a:t>prepare</a:t>
            </a:r>
            <a:r>
              <a:rPr dirty="0" sz="1150" spc="-4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C8C8BF"/>
                </a:solidFill>
                <a:latin typeface="Tahoma"/>
                <a:cs typeface="Tahoma"/>
              </a:rPr>
              <a:t>for</a:t>
            </a:r>
            <a:r>
              <a:rPr dirty="0" sz="1150" spc="-4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C8C8BF"/>
                </a:solidFill>
                <a:latin typeface="Tahoma"/>
                <a:cs typeface="Tahoma"/>
              </a:rPr>
              <a:t>analysis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solidFill>
                  <a:srgbClr val="C8C8BF"/>
                </a:solidFill>
                <a:latin typeface="Tahoma"/>
                <a:cs typeface="Tahoma"/>
              </a:rPr>
              <a:t>NLP</a:t>
            </a:r>
            <a:r>
              <a:rPr dirty="0" sz="1150" spc="85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60" b="1">
                <a:solidFill>
                  <a:srgbClr val="C8C8BF"/>
                </a:solidFill>
                <a:latin typeface="Tahoma"/>
                <a:cs typeface="Tahoma"/>
              </a:rPr>
              <a:t>Analysis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50" spc="65">
                <a:solidFill>
                  <a:srgbClr val="C8C8BF"/>
                </a:solidFill>
                <a:latin typeface="Tahoma"/>
                <a:cs typeface="Tahoma"/>
              </a:rPr>
              <a:t>Multiple</a:t>
            </a:r>
            <a:r>
              <a:rPr dirty="0" sz="115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100">
                <a:solidFill>
                  <a:srgbClr val="C8C8BF"/>
                </a:solidFill>
                <a:latin typeface="Tahoma"/>
                <a:cs typeface="Tahoma"/>
              </a:rPr>
              <a:t>modules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C8C8BF"/>
                </a:solidFill>
                <a:latin typeface="Tahoma"/>
                <a:cs typeface="Tahoma"/>
              </a:rPr>
              <a:t>perform</a:t>
            </a:r>
            <a:r>
              <a:rPr dirty="0" sz="115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0">
                <a:solidFill>
                  <a:srgbClr val="C8C8BF"/>
                </a:solidFill>
                <a:latin typeface="Tahoma"/>
                <a:cs typeface="Tahoma"/>
              </a:rPr>
              <a:t>summarisation,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5">
                <a:solidFill>
                  <a:srgbClr val="C8C8BF"/>
                </a:solidFill>
                <a:latin typeface="Tahoma"/>
                <a:cs typeface="Tahoma"/>
              </a:rPr>
              <a:t>sentiment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C8C8BF"/>
                </a:solidFill>
                <a:latin typeface="Tahoma"/>
                <a:cs typeface="Tahoma"/>
              </a:rPr>
              <a:t>analysis,</a:t>
            </a:r>
            <a:r>
              <a:rPr dirty="0" sz="115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5">
                <a:solidFill>
                  <a:srgbClr val="C8C8BF"/>
                </a:solidFill>
                <a:latin typeface="Tahoma"/>
                <a:cs typeface="Tahoma"/>
              </a:rPr>
              <a:t>keyword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C8C8BF"/>
                </a:solidFill>
                <a:latin typeface="Tahoma"/>
                <a:cs typeface="Tahoma"/>
              </a:rPr>
              <a:t>extraction,</a:t>
            </a:r>
            <a:r>
              <a:rPr dirty="0" sz="115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5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C8C8BF"/>
                </a:solidFill>
                <a:latin typeface="Tahoma"/>
                <a:cs typeface="Tahoma"/>
              </a:rPr>
              <a:t>topic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5">
                <a:solidFill>
                  <a:srgbClr val="C8C8BF"/>
                </a:solidFill>
                <a:latin typeface="Tahoma"/>
                <a:cs typeface="Tahoma"/>
              </a:rPr>
              <a:t>modelling</a:t>
            </a:r>
            <a:r>
              <a:rPr dirty="0" sz="115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C8C8BF"/>
                </a:solidFill>
                <a:latin typeface="Tahoma"/>
                <a:cs typeface="Tahoma"/>
              </a:rPr>
              <a:t>simultaneously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40" b="1">
                <a:solidFill>
                  <a:srgbClr val="C8C8BF"/>
                </a:solidFill>
                <a:latin typeface="Tahoma"/>
                <a:cs typeface="Tahoma"/>
              </a:rPr>
              <a:t>Visualisation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50" spc="80">
                <a:solidFill>
                  <a:srgbClr val="C8C8BF"/>
                </a:solidFill>
                <a:latin typeface="Tahoma"/>
                <a:cs typeface="Tahoma"/>
              </a:rPr>
              <a:t>Results</a:t>
            </a:r>
            <a:r>
              <a:rPr dirty="0" sz="115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C8C8BF"/>
                </a:solidFill>
                <a:latin typeface="Tahoma"/>
                <a:cs typeface="Tahoma"/>
              </a:rPr>
              <a:t>are</a:t>
            </a:r>
            <a:r>
              <a:rPr dirty="0" sz="115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0">
                <a:solidFill>
                  <a:srgbClr val="C8C8BF"/>
                </a:solidFill>
                <a:latin typeface="Tahoma"/>
                <a:cs typeface="Tahoma"/>
              </a:rPr>
              <a:t>rendered</a:t>
            </a:r>
            <a:r>
              <a:rPr dirty="0" sz="115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C8C8BF"/>
                </a:solidFill>
                <a:latin typeface="Tahoma"/>
                <a:cs typeface="Tahoma"/>
              </a:rPr>
              <a:t>through</a:t>
            </a:r>
            <a:r>
              <a:rPr dirty="0" sz="115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C8C8BF"/>
                </a:solidFill>
                <a:latin typeface="Tahoma"/>
                <a:cs typeface="Tahoma"/>
              </a:rPr>
              <a:t>interactive</a:t>
            </a:r>
            <a:r>
              <a:rPr dirty="0" sz="115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C8C8BF"/>
                </a:solidFill>
                <a:latin typeface="Tahoma"/>
                <a:cs typeface="Tahoma"/>
              </a:rPr>
              <a:t>charts,</a:t>
            </a:r>
            <a:r>
              <a:rPr dirty="0" sz="115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90">
                <a:solidFill>
                  <a:srgbClr val="C8C8BF"/>
                </a:solidFill>
                <a:latin typeface="Tahoma"/>
                <a:cs typeface="Tahoma"/>
              </a:rPr>
              <a:t>word</a:t>
            </a:r>
            <a:r>
              <a:rPr dirty="0" sz="1150" spc="-9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C8C8BF"/>
                </a:solidFill>
                <a:latin typeface="Tahoma"/>
                <a:cs typeface="Tahoma"/>
              </a:rPr>
              <a:t>clouds,</a:t>
            </a:r>
            <a:r>
              <a:rPr dirty="0" sz="115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5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15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C8C8BF"/>
                </a:solidFill>
                <a:latin typeface="Tahoma"/>
                <a:cs typeface="Tahoma"/>
              </a:rPr>
              <a:t>structured</a:t>
            </a:r>
            <a:r>
              <a:rPr dirty="0" sz="115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105">
                <a:solidFill>
                  <a:srgbClr val="C8C8BF"/>
                </a:solidFill>
                <a:latin typeface="Tahoma"/>
                <a:cs typeface="Tahoma"/>
              </a:rPr>
              <a:t>summaries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50" spc="-10" b="1">
                <a:solidFill>
                  <a:srgbClr val="C8C8BF"/>
                </a:solidFill>
                <a:latin typeface="Tahoma"/>
                <a:cs typeface="Tahoma"/>
              </a:rPr>
              <a:t>Delivery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50" spc="80">
                <a:solidFill>
                  <a:srgbClr val="C8C8BF"/>
                </a:solidFill>
                <a:latin typeface="Tahoma"/>
                <a:cs typeface="Tahoma"/>
              </a:rPr>
              <a:t>Insights</a:t>
            </a:r>
            <a:r>
              <a:rPr dirty="0" sz="115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C8C8BF"/>
                </a:solidFill>
                <a:latin typeface="Tahoma"/>
                <a:cs typeface="Tahoma"/>
              </a:rPr>
              <a:t>are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0">
                <a:solidFill>
                  <a:srgbClr val="C8C8BF"/>
                </a:solidFill>
                <a:latin typeface="Tahoma"/>
                <a:cs typeface="Tahoma"/>
              </a:rPr>
              <a:t>presented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C8C8BF"/>
                </a:solidFill>
                <a:latin typeface="Tahoma"/>
                <a:cs typeface="Tahoma"/>
              </a:rPr>
              <a:t>in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90">
                <a:solidFill>
                  <a:srgbClr val="C8C8BF"/>
                </a:solidFill>
                <a:latin typeface="Tahoma"/>
                <a:cs typeface="Tahoma"/>
              </a:rPr>
              <a:t>an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C8C8BF"/>
                </a:solidFill>
                <a:latin typeface="Tahoma"/>
                <a:cs typeface="Tahoma"/>
              </a:rPr>
              <a:t>intuitive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0">
                <a:solidFill>
                  <a:srgbClr val="C8C8BF"/>
                </a:solidFill>
                <a:latin typeface="Tahoma"/>
                <a:cs typeface="Tahoma"/>
              </a:rPr>
              <a:t>dashboard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C8C8BF"/>
                </a:solidFill>
                <a:latin typeface="Tahoma"/>
                <a:cs typeface="Tahoma"/>
              </a:rPr>
              <a:t>ready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C8C8BF"/>
                </a:solidFill>
                <a:latin typeface="Tahoma"/>
                <a:cs typeface="Tahoma"/>
              </a:rPr>
              <a:t>for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C8C8BF"/>
                </a:solidFill>
                <a:latin typeface="Tahoma"/>
                <a:cs typeface="Tahoma"/>
              </a:rPr>
              <a:t>interpretation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5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15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C8C8BF"/>
                </a:solidFill>
                <a:latin typeface="Tahoma"/>
                <a:cs typeface="Tahoma"/>
              </a:rPr>
              <a:t>action</a:t>
            </a:r>
            <a:endParaRPr sz="1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225" y="753370"/>
            <a:ext cx="3836984" cy="575309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98525" y="6710657"/>
            <a:ext cx="365823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b="1">
                <a:solidFill>
                  <a:srgbClr val="ECECE7"/>
                </a:solidFill>
                <a:latin typeface="Tahoma"/>
                <a:cs typeface="Tahoma"/>
              </a:rPr>
              <a:t>Real-World</a:t>
            </a:r>
            <a:r>
              <a:rPr dirty="0" sz="2250" spc="305" b="1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dirty="0" sz="2250" spc="65" b="1">
                <a:solidFill>
                  <a:srgbClr val="ECECE7"/>
                </a:solidFill>
                <a:latin typeface="Tahoma"/>
                <a:cs typeface="Tahoma"/>
              </a:rPr>
              <a:t>Applications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98525" y="7295601"/>
            <a:ext cx="12626340" cy="21875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70" b="1">
                <a:solidFill>
                  <a:srgbClr val="C8C8BF"/>
                </a:solidFill>
                <a:latin typeface="Tahoma"/>
                <a:cs typeface="Tahoma"/>
              </a:rPr>
              <a:t>Academic</a:t>
            </a:r>
            <a:r>
              <a:rPr dirty="0" sz="1100" spc="-15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45" b="1">
                <a:solidFill>
                  <a:srgbClr val="C8C8BF"/>
                </a:solidFill>
                <a:latin typeface="Tahoma"/>
                <a:cs typeface="Tahoma"/>
              </a:rPr>
              <a:t>Research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00" spc="70">
                <a:solidFill>
                  <a:srgbClr val="C8C8BF"/>
                </a:solidFill>
                <a:latin typeface="Tahoma"/>
                <a:cs typeface="Tahoma"/>
              </a:rPr>
              <a:t>Accelerate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C8C8BF"/>
                </a:solidFill>
                <a:latin typeface="Tahoma"/>
                <a:cs typeface="Tahoma"/>
              </a:rPr>
              <a:t>literature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5">
                <a:solidFill>
                  <a:srgbClr val="C8C8BF"/>
                </a:solidFill>
                <a:latin typeface="Tahoma"/>
                <a:cs typeface="Tahoma"/>
              </a:rPr>
              <a:t>reviews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by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5">
                <a:solidFill>
                  <a:srgbClr val="C8C8BF"/>
                </a:solidFill>
                <a:latin typeface="Tahoma"/>
                <a:cs typeface="Tahoma"/>
              </a:rPr>
              <a:t>quickly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100">
                <a:solidFill>
                  <a:srgbClr val="C8C8BF"/>
                </a:solidFill>
                <a:latin typeface="Tahoma"/>
                <a:cs typeface="Tahoma"/>
              </a:rPr>
              <a:t>summarising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C8C8BF"/>
                </a:solidFill>
                <a:latin typeface="Tahoma"/>
                <a:cs typeface="Tahoma"/>
              </a:rPr>
              <a:t>extracting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C8C8BF"/>
                </a:solidFill>
                <a:latin typeface="Tahoma"/>
                <a:cs typeface="Tahoma"/>
              </a:rPr>
              <a:t>key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95">
                <a:solidFill>
                  <a:srgbClr val="C8C8BF"/>
                </a:solidFill>
                <a:latin typeface="Tahoma"/>
                <a:cs typeface="Tahoma"/>
              </a:rPr>
              <a:t>themes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from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research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C8C8BF"/>
                </a:solidFill>
                <a:latin typeface="Tahoma"/>
                <a:cs typeface="Tahoma"/>
              </a:rPr>
              <a:t>papers.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40">
                <a:solidFill>
                  <a:srgbClr val="C8C8BF"/>
                </a:solidFill>
                <a:latin typeface="Tahoma"/>
                <a:cs typeface="Tahoma"/>
              </a:rPr>
              <a:t>Identify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5">
                <a:solidFill>
                  <a:srgbClr val="C8C8BF"/>
                </a:solidFill>
                <a:latin typeface="Tahoma"/>
                <a:cs typeface="Tahoma"/>
              </a:rPr>
              <a:t>trends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90">
                <a:solidFill>
                  <a:srgbClr val="C8C8BF"/>
                </a:solidFill>
                <a:latin typeface="Tahoma"/>
                <a:cs typeface="Tahoma"/>
              </a:rPr>
              <a:t>across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5">
                <a:solidFill>
                  <a:srgbClr val="C8C8BF"/>
                </a:solidFill>
                <a:latin typeface="Tahoma"/>
                <a:cs typeface="Tahoma"/>
              </a:rPr>
              <a:t>multiple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5">
                <a:solidFill>
                  <a:srgbClr val="C8C8BF"/>
                </a:solidFill>
                <a:latin typeface="Tahoma"/>
                <a:cs typeface="Tahoma"/>
              </a:rPr>
              <a:t>studies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discover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5">
                <a:solidFill>
                  <a:srgbClr val="C8C8BF"/>
                </a:solidFill>
                <a:latin typeface="Tahoma"/>
                <a:cs typeface="Tahoma"/>
              </a:rPr>
              <a:t>emerging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C8C8BF"/>
                </a:solidFill>
                <a:latin typeface="Tahoma"/>
                <a:cs typeface="Tahoma"/>
              </a:rPr>
              <a:t>topics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C8C8BF"/>
                </a:solidFill>
                <a:latin typeface="Tahoma"/>
                <a:cs typeface="Tahoma"/>
              </a:rPr>
              <a:t>in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C8C8BF"/>
                </a:solidFill>
                <a:latin typeface="Tahoma"/>
                <a:cs typeface="Tahoma"/>
              </a:rPr>
              <a:t>your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C8C8BF"/>
                </a:solidFill>
                <a:latin typeface="Tahoma"/>
                <a:cs typeface="Tahoma"/>
              </a:rPr>
              <a:t>field.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70" b="1">
                <a:solidFill>
                  <a:srgbClr val="C8C8BF"/>
                </a:solidFill>
                <a:latin typeface="Tahoma"/>
                <a:cs typeface="Tahoma"/>
              </a:rPr>
              <a:t>Business</a:t>
            </a:r>
            <a:r>
              <a:rPr dirty="0" sz="1100" spc="-20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C8C8BF"/>
                </a:solidFill>
                <a:latin typeface="Tahoma"/>
                <a:cs typeface="Tahoma"/>
              </a:rPr>
              <a:t>Intelligence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Analyse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90">
                <a:solidFill>
                  <a:srgbClr val="C8C8BF"/>
                </a:solidFill>
                <a:latin typeface="Tahoma"/>
                <a:cs typeface="Tahoma"/>
              </a:rPr>
              <a:t>customer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C8C8BF"/>
                </a:solidFill>
                <a:latin typeface="Tahoma"/>
                <a:cs typeface="Tahoma"/>
              </a:rPr>
              <a:t>feedback,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C8C8BF"/>
                </a:solidFill>
                <a:latin typeface="Tahoma"/>
                <a:cs typeface="Tahoma"/>
              </a:rPr>
              <a:t>reviews,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5">
                <a:solidFill>
                  <a:srgbClr val="C8C8BF"/>
                </a:solidFill>
                <a:latin typeface="Tahoma"/>
                <a:cs typeface="Tahoma"/>
              </a:rPr>
              <a:t>survey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95">
                <a:solidFill>
                  <a:srgbClr val="C8C8BF"/>
                </a:solidFill>
                <a:latin typeface="Tahoma"/>
                <a:cs typeface="Tahoma"/>
              </a:rPr>
              <a:t>responses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C8C8BF"/>
                </a:solidFill>
                <a:latin typeface="Tahoma"/>
                <a:cs typeface="Tahoma"/>
              </a:rPr>
              <a:t>at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C8C8BF"/>
                </a:solidFill>
                <a:latin typeface="Tahoma"/>
                <a:cs typeface="Tahoma"/>
              </a:rPr>
              <a:t>scale.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C8C8BF"/>
                </a:solidFill>
                <a:latin typeface="Tahoma"/>
                <a:cs typeface="Tahoma"/>
              </a:rPr>
              <a:t>Extract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C8C8BF"/>
                </a:solidFill>
                <a:latin typeface="Tahoma"/>
                <a:cs typeface="Tahoma"/>
              </a:rPr>
              <a:t>actionable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C8C8BF"/>
                </a:solidFill>
                <a:latin typeface="Tahoma"/>
                <a:cs typeface="Tahoma"/>
              </a:rPr>
              <a:t>insights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from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5">
                <a:solidFill>
                  <a:srgbClr val="C8C8BF"/>
                </a:solidFill>
                <a:latin typeface="Tahoma"/>
                <a:cs typeface="Tahoma"/>
              </a:rPr>
              <a:t>market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research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C8C8BF"/>
                </a:solidFill>
                <a:latin typeface="Tahoma"/>
                <a:cs typeface="Tahoma"/>
              </a:rPr>
              <a:t>competitive</a:t>
            </a:r>
            <a:r>
              <a:rPr dirty="0" sz="1100" spc="-7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5">
                <a:solidFill>
                  <a:srgbClr val="C8C8BF"/>
                </a:solidFill>
                <a:latin typeface="Tahoma"/>
                <a:cs typeface="Tahoma"/>
              </a:rPr>
              <a:t>analysis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5">
                <a:solidFill>
                  <a:srgbClr val="C8C8BF"/>
                </a:solidFill>
                <a:latin typeface="Tahoma"/>
                <a:cs typeface="Tahoma"/>
              </a:rPr>
              <a:t>documents.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C8C8BF"/>
                </a:solidFill>
                <a:latin typeface="Tahoma"/>
                <a:cs typeface="Tahoma"/>
              </a:rPr>
              <a:t>Content</a:t>
            </a:r>
            <a:r>
              <a:rPr dirty="0" sz="1100" spc="135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C8C8BF"/>
                </a:solidFill>
                <a:latin typeface="Tahoma"/>
                <a:cs typeface="Tahoma"/>
              </a:rPr>
              <a:t>Strategy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00" spc="60">
                <a:solidFill>
                  <a:srgbClr val="C8C8BF"/>
                </a:solidFill>
                <a:latin typeface="Tahoma"/>
                <a:cs typeface="Tahoma"/>
              </a:rPr>
              <a:t>Evaluate</a:t>
            </a:r>
            <a:r>
              <a:rPr dirty="0" sz="11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C8C8BF"/>
                </a:solidFill>
                <a:latin typeface="Tahoma"/>
                <a:cs typeface="Tahoma"/>
              </a:rPr>
              <a:t>social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90">
                <a:solidFill>
                  <a:srgbClr val="C8C8BF"/>
                </a:solidFill>
                <a:latin typeface="Tahoma"/>
                <a:cs typeface="Tahoma"/>
              </a:rPr>
              <a:t>media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5">
                <a:solidFill>
                  <a:srgbClr val="C8C8BF"/>
                </a:solidFill>
                <a:latin typeface="Tahoma"/>
                <a:cs typeface="Tahoma"/>
              </a:rPr>
              <a:t>sentiment,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5">
                <a:solidFill>
                  <a:srgbClr val="C8C8BF"/>
                </a:solidFill>
                <a:latin typeface="Tahoma"/>
                <a:cs typeface="Tahoma"/>
              </a:rPr>
              <a:t>optimise</a:t>
            </a:r>
            <a:r>
              <a:rPr dirty="0" sz="11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messaging,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C8C8BF"/>
                </a:solidFill>
                <a:latin typeface="Tahoma"/>
                <a:cs typeface="Tahoma"/>
              </a:rPr>
              <a:t>identify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5">
                <a:solidFill>
                  <a:srgbClr val="C8C8BF"/>
                </a:solidFill>
                <a:latin typeface="Tahoma"/>
                <a:cs typeface="Tahoma"/>
              </a:rPr>
              <a:t>trending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C8C8BF"/>
                </a:solidFill>
                <a:latin typeface="Tahoma"/>
                <a:cs typeface="Tahoma"/>
              </a:rPr>
              <a:t>topics.</a:t>
            </a:r>
            <a:r>
              <a:rPr dirty="0" sz="11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C8C8BF"/>
                </a:solidFill>
                <a:latin typeface="Tahoma"/>
                <a:cs typeface="Tahoma"/>
              </a:rPr>
              <a:t>Create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5">
                <a:solidFill>
                  <a:srgbClr val="C8C8BF"/>
                </a:solidFill>
                <a:latin typeface="Tahoma"/>
                <a:cs typeface="Tahoma"/>
              </a:rPr>
              <a:t>data-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C8C8BF"/>
                </a:solidFill>
                <a:latin typeface="Tahoma"/>
                <a:cs typeface="Tahoma"/>
              </a:rPr>
              <a:t>driven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5">
                <a:solidFill>
                  <a:srgbClr val="C8C8BF"/>
                </a:solidFill>
                <a:latin typeface="Tahoma"/>
                <a:cs typeface="Tahoma"/>
              </a:rPr>
              <a:t>content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5">
                <a:solidFill>
                  <a:srgbClr val="C8C8BF"/>
                </a:solidFill>
                <a:latin typeface="Tahoma"/>
                <a:cs typeface="Tahoma"/>
              </a:rPr>
              <a:t>strategies</a:t>
            </a:r>
            <a:r>
              <a:rPr dirty="0" sz="11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5">
                <a:solidFill>
                  <a:srgbClr val="C8C8BF"/>
                </a:solidFill>
                <a:latin typeface="Tahoma"/>
                <a:cs typeface="Tahoma"/>
              </a:rPr>
              <a:t>based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5">
                <a:solidFill>
                  <a:srgbClr val="C8C8BF"/>
                </a:solidFill>
                <a:latin typeface="Tahoma"/>
                <a:cs typeface="Tahoma"/>
              </a:rPr>
              <a:t>on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keyword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C8C8BF"/>
                </a:solidFill>
                <a:latin typeface="Tahoma"/>
                <a:cs typeface="Tahoma"/>
              </a:rPr>
              <a:t>topic</a:t>
            </a:r>
            <a:r>
              <a:rPr dirty="0" sz="11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C8C8BF"/>
                </a:solidFill>
                <a:latin typeface="Tahoma"/>
                <a:cs typeface="Tahoma"/>
              </a:rPr>
              <a:t>analysis.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105"/>
              <a:t>Performance</a:t>
            </a:r>
            <a:r>
              <a:rPr dirty="0" spc="-90"/>
              <a:t> </a:t>
            </a:r>
            <a:r>
              <a:rPr dirty="0" spc="65"/>
              <a:t>Metrics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885" y="1173061"/>
            <a:ext cx="3648074" cy="3648074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60"/>
              <a:t>5</a:t>
            </a: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dirty="0" sz="1150">
                <a:solidFill>
                  <a:srgbClr val="C8C8BF"/>
                </a:solidFill>
              </a:rPr>
              <a:t>NLP</a:t>
            </a:r>
            <a:r>
              <a:rPr dirty="0" sz="1150" spc="85">
                <a:solidFill>
                  <a:srgbClr val="C8C8BF"/>
                </a:solidFill>
              </a:rPr>
              <a:t> </a:t>
            </a:r>
            <a:r>
              <a:rPr dirty="0" sz="1150" spc="50">
                <a:solidFill>
                  <a:srgbClr val="C8C8BF"/>
                </a:solidFill>
              </a:rPr>
              <a:t>Techniques</a:t>
            </a:r>
            <a:endParaRPr sz="1150"/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150"/>
          </a:p>
          <a:p>
            <a:pPr marL="12700">
              <a:lnSpc>
                <a:spcPct val="100000"/>
              </a:lnSpc>
            </a:pPr>
            <a:r>
              <a:rPr dirty="0" sz="1150" spc="60" b="0">
                <a:solidFill>
                  <a:srgbClr val="C8C8BF"/>
                </a:solidFill>
                <a:latin typeface="Tahoma"/>
                <a:cs typeface="Tahoma"/>
              </a:rPr>
              <a:t>Integrated</a:t>
            </a:r>
            <a:r>
              <a:rPr dirty="0" sz="1150" spc="-70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0" b="0">
                <a:solidFill>
                  <a:srgbClr val="C8C8BF"/>
                </a:solidFill>
                <a:latin typeface="Tahoma"/>
                <a:cs typeface="Tahoma"/>
              </a:rPr>
              <a:t>analysis</a:t>
            </a:r>
            <a:r>
              <a:rPr dirty="0" sz="1150" spc="-6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90" b="0">
                <a:solidFill>
                  <a:srgbClr val="C8C8BF"/>
                </a:solidFill>
                <a:latin typeface="Tahoma"/>
                <a:cs typeface="Tahoma"/>
              </a:rPr>
              <a:t>methods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pc="140"/>
              <a:t>8</a:t>
            </a: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dirty="0" sz="1150">
                <a:solidFill>
                  <a:srgbClr val="C8C8BF"/>
                </a:solidFill>
              </a:rPr>
              <a:t>File</a:t>
            </a:r>
            <a:r>
              <a:rPr dirty="0" sz="1150" spc="135">
                <a:solidFill>
                  <a:srgbClr val="C8C8BF"/>
                </a:solidFill>
              </a:rPr>
              <a:t> </a:t>
            </a:r>
            <a:r>
              <a:rPr dirty="0" sz="1150" spc="50">
                <a:solidFill>
                  <a:srgbClr val="C8C8BF"/>
                </a:solidFill>
              </a:rPr>
              <a:t>Formats</a:t>
            </a:r>
            <a:endParaRPr sz="1150"/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15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75" b="0">
                <a:solidFill>
                  <a:srgbClr val="C8C8BF"/>
                </a:solidFill>
                <a:latin typeface="Tahoma"/>
                <a:cs typeface="Tahoma"/>
              </a:rPr>
              <a:t>Supported</a:t>
            </a:r>
            <a:r>
              <a:rPr dirty="0" sz="1150" spc="-80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100" b="0">
                <a:solidFill>
                  <a:srgbClr val="C8C8BF"/>
                </a:solidFill>
                <a:latin typeface="Tahoma"/>
                <a:cs typeface="Tahoma"/>
              </a:rPr>
              <a:t>document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0" b="0">
                <a:solidFill>
                  <a:srgbClr val="C8C8BF"/>
                </a:solidFill>
                <a:latin typeface="Tahoma"/>
                <a:cs typeface="Tahoma"/>
              </a:rPr>
              <a:t>types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0"/>
              <a:t>100%</a:t>
            </a: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dirty="0" sz="1150">
                <a:solidFill>
                  <a:srgbClr val="C8C8BF"/>
                </a:solidFill>
              </a:rPr>
              <a:t>Web-</a:t>
            </a:r>
            <a:r>
              <a:rPr dirty="0" sz="1150" spc="65">
                <a:solidFill>
                  <a:srgbClr val="C8C8BF"/>
                </a:solidFill>
              </a:rPr>
              <a:t>Based</a:t>
            </a:r>
            <a:endParaRPr sz="1150"/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150"/>
          </a:p>
          <a:p>
            <a:pPr marL="12700">
              <a:lnSpc>
                <a:spcPct val="100000"/>
              </a:lnSpc>
            </a:pPr>
            <a:r>
              <a:rPr dirty="0" sz="1150" spc="95" b="0">
                <a:solidFill>
                  <a:srgbClr val="C8C8BF"/>
                </a:solidFill>
                <a:latin typeface="Tahoma"/>
                <a:cs typeface="Tahoma"/>
              </a:rPr>
              <a:t>Accessible</a:t>
            </a:r>
            <a:r>
              <a:rPr dirty="0" sz="1150" spc="-9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0" b="0">
                <a:solidFill>
                  <a:srgbClr val="C8C8BF"/>
                </a:solidFill>
                <a:latin typeface="Tahoma"/>
                <a:cs typeface="Tahoma"/>
              </a:rPr>
              <a:t>anywhere</a:t>
            </a:r>
            <a:endParaRPr sz="11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1145"/>
              </a:spcBef>
            </a:pPr>
            <a:r>
              <a:rPr dirty="0" sz="1150" spc="50" b="0">
                <a:solidFill>
                  <a:srgbClr val="C8C8BF"/>
                </a:solidFill>
                <a:latin typeface="Tahoma"/>
                <a:cs typeface="Tahoma"/>
              </a:rPr>
              <a:t>The</a:t>
            </a:r>
            <a:r>
              <a:rPr dirty="0" sz="1150" spc="-80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65" b="0">
                <a:solidFill>
                  <a:srgbClr val="C8C8BF"/>
                </a:solidFill>
                <a:latin typeface="Tahoma"/>
                <a:cs typeface="Tahoma"/>
              </a:rPr>
              <a:t>platform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100" b="0">
                <a:solidFill>
                  <a:srgbClr val="C8C8BF"/>
                </a:solidFill>
                <a:latin typeface="Tahoma"/>
                <a:cs typeface="Tahoma"/>
              </a:rPr>
              <a:t>processes</a:t>
            </a:r>
            <a:r>
              <a:rPr dirty="0" sz="1150" spc="-80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105" b="0">
                <a:solidFill>
                  <a:srgbClr val="C8C8BF"/>
                </a:solidFill>
                <a:latin typeface="Tahoma"/>
                <a:cs typeface="Tahoma"/>
              </a:rPr>
              <a:t>documents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30" b="0">
                <a:solidFill>
                  <a:srgbClr val="C8C8BF"/>
                </a:solidFill>
                <a:latin typeface="Tahoma"/>
                <a:cs typeface="Tahoma"/>
              </a:rPr>
              <a:t>of</a:t>
            </a:r>
            <a:r>
              <a:rPr dirty="0" sz="1150" spc="-80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5" b="0">
                <a:solidFill>
                  <a:srgbClr val="C8C8BF"/>
                </a:solidFill>
                <a:latin typeface="Tahoma"/>
                <a:cs typeface="Tahoma"/>
              </a:rPr>
              <a:t>varying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100" b="0">
                <a:solidFill>
                  <a:srgbClr val="C8C8BF"/>
                </a:solidFill>
                <a:latin typeface="Tahoma"/>
                <a:cs typeface="Tahoma"/>
              </a:rPr>
              <a:t>sizes</a:t>
            </a:r>
            <a:r>
              <a:rPr dirty="0" sz="1150" spc="-80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30" b="0">
                <a:solidFill>
                  <a:srgbClr val="C8C8BF"/>
                </a:solidFill>
                <a:latin typeface="Tahoma"/>
                <a:cs typeface="Tahoma"/>
              </a:rPr>
              <a:t>efficiently,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0" b="0">
                <a:solidFill>
                  <a:srgbClr val="C8C8BF"/>
                </a:solidFill>
                <a:latin typeface="Tahoma"/>
                <a:cs typeface="Tahoma"/>
              </a:rPr>
              <a:t>delivering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5" b="0">
                <a:solidFill>
                  <a:srgbClr val="C8C8BF"/>
                </a:solidFill>
                <a:latin typeface="Tahoma"/>
                <a:cs typeface="Tahoma"/>
              </a:rPr>
              <a:t>results</a:t>
            </a:r>
            <a:r>
              <a:rPr dirty="0" sz="1150" spc="-80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0" b="0">
                <a:solidFill>
                  <a:srgbClr val="C8C8BF"/>
                </a:solidFill>
                <a:latin typeface="Tahoma"/>
                <a:cs typeface="Tahoma"/>
              </a:rPr>
              <a:t>in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105" b="0">
                <a:solidFill>
                  <a:srgbClr val="C8C8BF"/>
                </a:solidFill>
                <a:latin typeface="Tahoma"/>
                <a:cs typeface="Tahoma"/>
              </a:rPr>
              <a:t>seconds</a:t>
            </a:r>
            <a:r>
              <a:rPr dirty="0" sz="1150" spc="-80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0" b="0">
                <a:solidFill>
                  <a:srgbClr val="C8C8BF"/>
                </a:solidFill>
                <a:latin typeface="Tahoma"/>
                <a:cs typeface="Tahoma"/>
              </a:rPr>
              <a:t>whilst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0" b="0">
                <a:solidFill>
                  <a:srgbClr val="C8C8BF"/>
                </a:solidFill>
                <a:latin typeface="Tahoma"/>
                <a:cs typeface="Tahoma"/>
              </a:rPr>
              <a:t>maintaining</a:t>
            </a:r>
            <a:r>
              <a:rPr dirty="0" sz="1150" spc="-80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95" b="0">
                <a:solidFill>
                  <a:srgbClr val="C8C8BF"/>
                </a:solidFill>
                <a:latin typeface="Tahoma"/>
                <a:cs typeface="Tahoma"/>
              </a:rPr>
              <a:t>accuracy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100" b="0">
                <a:solidFill>
                  <a:srgbClr val="C8C8BF"/>
                </a:solidFill>
                <a:latin typeface="Tahoma"/>
                <a:cs typeface="Tahoma"/>
              </a:rPr>
              <a:t>across</a:t>
            </a:r>
            <a:r>
              <a:rPr dirty="0" sz="1150" spc="-80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30" b="0">
                <a:solidFill>
                  <a:srgbClr val="C8C8BF"/>
                </a:solidFill>
                <a:latin typeface="Tahoma"/>
                <a:cs typeface="Tahoma"/>
              </a:rPr>
              <a:t>all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0" b="0">
                <a:solidFill>
                  <a:srgbClr val="C8C8BF"/>
                </a:solidFill>
                <a:latin typeface="Tahoma"/>
                <a:cs typeface="Tahoma"/>
              </a:rPr>
              <a:t>NLP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55" b="0">
                <a:solidFill>
                  <a:srgbClr val="C8C8BF"/>
                </a:solidFill>
                <a:latin typeface="Tahoma"/>
                <a:cs typeface="Tahoma"/>
              </a:rPr>
              <a:t>operations.</a:t>
            </a:r>
            <a:r>
              <a:rPr dirty="0" sz="1150" spc="-80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50" b="0">
                <a:solidFill>
                  <a:srgbClr val="C8C8BF"/>
                </a:solidFill>
                <a:latin typeface="Tahoma"/>
                <a:cs typeface="Tahoma"/>
              </a:rPr>
              <a:t>Our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90" b="0">
                <a:solidFill>
                  <a:srgbClr val="C8C8BF"/>
                </a:solidFill>
                <a:latin typeface="Tahoma"/>
                <a:cs typeface="Tahoma"/>
              </a:rPr>
              <a:t>modular</a:t>
            </a:r>
            <a:r>
              <a:rPr dirty="0" sz="1150" spc="-80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70" b="0">
                <a:solidFill>
                  <a:srgbClr val="C8C8BF"/>
                </a:solidFill>
                <a:latin typeface="Tahoma"/>
                <a:cs typeface="Tahoma"/>
              </a:rPr>
              <a:t>architecture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100" b="0">
                <a:solidFill>
                  <a:srgbClr val="C8C8BF"/>
                </a:solidFill>
                <a:latin typeface="Tahoma"/>
                <a:cs typeface="Tahoma"/>
              </a:rPr>
              <a:t>ensures</a:t>
            </a:r>
            <a:r>
              <a:rPr dirty="0" sz="1150" spc="-80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0" b="0">
                <a:solidFill>
                  <a:srgbClr val="C8C8BF"/>
                </a:solidFill>
                <a:latin typeface="Tahoma"/>
                <a:cs typeface="Tahoma"/>
              </a:rPr>
              <a:t>consistent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85" b="0">
                <a:solidFill>
                  <a:srgbClr val="C8C8BF"/>
                </a:solidFill>
                <a:latin typeface="Tahoma"/>
                <a:cs typeface="Tahoma"/>
              </a:rPr>
              <a:t>performance</a:t>
            </a:r>
            <a:r>
              <a:rPr dirty="0" sz="1150" spc="-80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95" b="0">
                <a:solidFill>
                  <a:srgbClr val="C8C8BF"/>
                </a:solidFill>
                <a:latin typeface="Tahoma"/>
                <a:cs typeface="Tahoma"/>
              </a:rPr>
              <a:t>even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100" b="0">
                <a:solidFill>
                  <a:srgbClr val="C8C8BF"/>
                </a:solidFill>
                <a:latin typeface="Tahoma"/>
                <a:cs typeface="Tahoma"/>
              </a:rPr>
              <a:t>as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110" b="0">
                <a:solidFill>
                  <a:srgbClr val="C8C8BF"/>
                </a:solidFill>
                <a:latin typeface="Tahoma"/>
                <a:cs typeface="Tahoma"/>
              </a:rPr>
              <a:t>new</a:t>
            </a:r>
            <a:r>
              <a:rPr dirty="0" sz="1150" spc="-80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65" b="0">
                <a:solidFill>
                  <a:srgbClr val="C8C8BF"/>
                </a:solidFill>
                <a:latin typeface="Tahoma"/>
                <a:cs typeface="Tahoma"/>
              </a:rPr>
              <a:t>features</a:t>
            </a:r>
            <a:r>
              <a:rPr dirty="0" sz="1150" spc="-75" b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50" spc="45" b="0">
                <a:solidFill>
                  <a:srgbClr val="C8C8BF"/>
                </a:solidFill>
                <a:latin typeface="Tahoma"/>
                <a:cs typeface="Tahoma"/>
              </a:rPr>
              <a:t>are </a:t>
            </a:r>
            <a:r>
              <a:rPr dirty="0" sz="1150" spc="40" b="0">
                <a:solidFill>
                  <a:srgbClr val="C8C8BF"/>
                </a:solidFill>
                <a:latin typeface="Tahoma"/>
                <a:cs typeface="Tahoma"/>
              </a:rPr>
              <a:t>added.</a:t>
            </a:r>
            <a:endParaRPr sz="1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870" y="623592"/>
            <a:ext cx="3856033" cy="578167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78170" y="6523567"/>
            <a:ext cx="5988050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90" b="1">
                <a:solidFill>
                  <a:srgbClr val="ECECE7"/>
                </a:solidFill>
                <a:latin typeface="Tahoma"/>
                <a:cs typeface="Tahoma"/>
              </a:rPr>
              <a:t>Ready</a:t>
            </a:r>
            <a:r>
              <a:rPr dirty="0" sz="2300" spc="-75" b="1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ECECE7"/>
                </a:solidFill>
                <a:latin typeface="Tahoma"/>
                <a:cs typeface="Tahoma"/>
              </a:rPr>
              <a:t>to</a:t>
            </a:r>
            <a:r>
              <a:rPr dirty="0" sz="2300" spc="-75" b="1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dirty="0" sz="2300" spc="75" b="1">
                <a:solidFill>
                  <a:srgbClr val="ECECE7"/>
                </a:solidFill>
                <a:latin typeface="Tahoma"/>
                <a:cs typeface="Tahoma"/>
              </a:rPr>
              <a:t>Transform</a:t>
            </a:r>
            <a:r>
              <a:rPr dirty="0" sz="2300" spc="-75" b="1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ECECE7"/>
                </a:solidFill>
                <a:latin typeface="Tahoma"/>
                <a:cs typeface="Tahoma"/>
              </a:rPr>
              <a:t>Your</a:t>
            </a:r>
            <a:r>
              <a:rPr dirty="0" sz="2300" spc="-75" b="1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ECECE7"/>
                </a:solidFill>
                <a:latin typeface="Tahoma"/>
                <a:cs typeface="Tahoma"/>
              </a:rPr>
              <a:t>Text</a:t>
            </a:r>
            <a:r>
              <a:rPr dirty="0" sz="2300" spc="-70" b="1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dirty="0" sz="2300" spc="100" b="1">
                <a:solidFill>
                  <a:srgbClr val="ECECE7"/>
                </a:solidFill>
                <a:latin typeface="Tahoma"/>
                <a:cs typeface="Tahoma"/>
              </a:rPr>
              <a:t>Analysis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78170" y="7048154"/>
            <a:ext cx="9909175" cy="26060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50" b="1">
                <a:solidFill>
                  <a:srgbClr val="C8C8BF"/>
                </a:solidFill>
                <a:latin typeface="Tahoma"/>
                <a:cs typeface="Tahoma"/>
              </a:rPr>
              <a:t>Proven</a:t>
            </a:r>
            <a:r>
              <a:rPr dirty="0" sz="1100" spc="-35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C8C8BF"/>
                </a:solidFill>
                <a:latin typeface="Tahoma"/>
                <a:cs typeface="Tahoma"/>
              </a:rPr>
              <a:t>Integration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Demonstrates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105">
                <a:solidFill>
                  <a:srgbClr val="C8C8BF"/>
                </a:solidFill>
                <a:latin typeface="Tahoma"/>
                <a:cs typeface="Tahoma"/>
              </a:rPr>
              <a:t>seamless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5">
                <a:solidFill>
                  <a:srgbClr val="C8C8BF"/>
                </a:solidFill>
                <a:latin typeface="Tahoma"/>
                <a:cs typeface="Tahoma"/>
              </a:rPr>
              <a:t>fusion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C8C8BF"/>
                </a:solidFill>
                <a:latin typeface="Tahoma"/>
                <a:cs typeface="Tahoma"/>
              </a:rPr>
              <a:t>of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C8C8BF"/>
                </a:solidFill>
                <a:latin typeface="Tahoma"/>
                <a:cs typeface="Tahoma"/>
              </a:rPr>
              <a:t>NLP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C8C8BF"/>
                </a:solidFill>
                <a:latin typeface="Tahoma"/>
                <a:cs typeface="Tahoma"/>
              </a:rPr>
              <a:t>capabilities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C8C8BF"/>
                </a:solidFill>
                <a:latin typeface="Tahoma"/>
                <a:cs typeface="Tahoma"/>
              </a:rPr>
              <a:t>with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95">
                <a:solidFill>
                  <a:srgbClr val="C8C8BF"/>
                </a:solidFill>
                <a:latin typeface="Tahoma"/>
                <a:cs typeface="Tahoma"/>
              </a:rPr>
              <a:t>modern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95">
                <a:solidFill>
                  <a:srgbClr val="C8C8BF"/>
                </a:solidFill>
                <a:latin typeface="Tahoma"/>
                <a:cs typeface="Tahoma"/>
              </a:rPr>
              <a:t>web</a:t>
            </a:r>
            <a:r>
              <a:rPr dirty="0" sz="1100" spc="-7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C8C8BF"/>
                </a:solidFill>
                <a:latin typeface="Tahoma"/>
                <a:cs typeface="Tahoma"/>
              </a:rPr>
              <a:t>technologies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1100" spc="55" b="1">
                <a:solidFill>
                  <a:srgbClr val="C8C8BF"/>
                </a:solidFill>
                <a:latin typeface="Tahoma"/>
                <a:cs typeface="Tahoma"/>
              </a:rPr>
              <a:t>Broad</a:t>
            </a:r>
            <a:r>
              <a:rPr dirty="0" sz="1100" spc="-35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C8C8BF"/>
                </a:solidFill>
                <a:latin typeface="Tahoma"/>
                <a:cs typeface="Tahoma"/>
              </a:rPr>
              <a:t>Applicability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1100" spc="60">
                <a:solidFill>
                  <a:srgbClr val="C8C8BF"/>
                </a:solidFill>
                <a:latin typeface="Tahoma"/>
                <a:cs typeface="Tahoma"/>
              </a:rPr>
              <a:t>Valuable</a:t>
            </a:r>
            <a:r>
              <a:rPr dirty="0" sz="1100" spc="-2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C8C8BF"/>
                </a:solidFill>
                <a:latin typeface="Tahoma"/>
                <a:cs typeface="Tahoma"/>
              </a:rPr>
              <a:t>for</a:t>
            </a:r>
            <a:r>
              <a:rPr dirty="0" sz="1100" spc="-2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5">
                <a:solidFill>
                  <a:srgbClr val="C8C8BF"/>
                </a:solidFill>
                <a:latin typeface="Tahoma"/>
                <a:cs typeface="Tahoma"/>
              </a:rPr>
              <a:t>academics,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1100" spc="70">
                <a:solidFill>
                  <a:srgbClr val="C8C8BF"/>
                </a:solidFill>
                <a:latin typeface="Tahoma"/>
                <a:cs typeface="Tahoma"/>
              </a:rPr>
              <a:t>researchers,</a:t>
            </a:r>
            <a:r>
              <a:rPr dirty="0" sz="11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5">
                <a:solidFill>
                  <a:srgbClr val="C8C8BF"/>
                </a:solidFill>
                <a:latin typeface="Tahoma"/>
                <a:cs typeface="Tahoma"/>
              </a:rPr>
              <a:t>content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C8C8BF"/>
                </a:solidFill>
                <a:latin typeface="Tahoma"/>
                <a:cs typeface="Tahoma"/>
              </a:rPr>
              <a:t>analysts,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1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95">
                <a:solidFill>
                  <a:srgbClr val="C8C8BF"/>
                </a:solidFill>
                <a:latin typeface="Tahoma"/>
                <a:cs typeface="Tahoma"/>
              </a:rPr>
              <a:t>business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C8C8BF"/>
                </a:solidFill>
                <a:latin typeface="Tahoma"/>
                <a:cs typeface="Tahoma"/>
              </a:rPr>
              <a:t>professionals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1100" spc="45" b="1">
                <a:solidFill>
                  <a:srgbClr val="C8C8BF"/>
                </a:solidFill>
                <a:latin typeface="Tahoma"/>
                <a:cs typeface="Tahoma"/>
              </a:rPr>
              <a:t>Production</a:t>
            </a:r>
            <a:r>
              <a:rPr dirty="0" sz="1100" spc="-35" b="1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35" b="1">
                <a:solidFill>
                  <a:srgbClr val="C8C8BF"/>
                </a:solidFill>
                <a:latin typeface="Tahoma"/>
                <a:cs typeface="Tahoma"/>
              </a:rPr>
              <a:t>Ready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100" spc="55">
                <a:solidFill>
                  <a:srgbClr val="C8C8BF"/>
                </a:solidFill>
                <a:latin typeface="Tahoma"/>
                <a:cs typeface="Tahoma"/>
              </a:rPr>
              <a:t>Fully</a:t>
            </a:r>
            <a:r>
              <a:rPr dirty="0" sz="11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C8C8BF"/>
                </a:solidFill>
                <a:latin typeface="Tahoma"/>
                <a:cs typeface="Tahoma"/>
              </a:rPr>
              <a:t>deployed</a:t>
            </a:r>
            <a:r>
              <a:rPr dirty="0" sz="11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1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5">
                <a:solidFill>
                  <a:srgbClr val="C8C8BF"/>
                </a:solidFill>
                <a:latin typeface="Tahoma"/>
                <a:cs typeface="Tahoma"/>
              </a:rPr>
              <a:t>accessible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C8C8BF"/>
                </a:solidFill>
                <a:latin typeface="Tahoma"/>
                <a:cs typeface="Tahoma"/>
              </a:rPr>
              <a:t>via</a:t>
            </a:r>
            <a:r>
              <a:rPr dirty="0" sz="11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C8C8BF"/>
                </a:solidFill>
                <a:latin typeface="Tahoma"/>
                <a:cs typeface="Tahoma"/>
              </a:rPr>
              <a:t>intuitive</a:t>
            </a:r>
            <a:r>
              <a:rPr dirty="0" sz="1100" spc="-8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95">
                <a:solidFill>
                  <a:srgbClr val="C8C8BF"/>
                </a:solidFill>
                <a:latin typeface="Tahoma"/>
                <a:cs typeface="Tahoma"/>
              </a:rPr>
              <a:t>web</a:t>
            </a:r>
            <a:r>
              <a:rPr dirty="0" sz="1100" spc="-8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C8C8BF"/>
                </a:solidFill>
                <a:latin typeface="Tahoma"/>
                <a:cs typeface="Tahoma"/>
              </a:rPr>
              <a:t>interface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79600"/>
              </a:lnSpc>
            </a:pPr>
            <a:r>
              <a:rPr dirty="0" sz="1100" spc="55">
                <a:solidFill>
                  <a:srgbClr val="C8C8BF"/>
                </a:solidFill>
                <a:latin typeface="Tahoma"/>
                <a:cs typeface="Tahoma"/>
              </a:rPr>
              <a:t>This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C8C8BF"/>
                </a:solidFill>
                <a:latin typeface="Tahoma"/>
                <a:cs typeface="Tahoma"/>
              </a:rPr>
              <a:t>platform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represents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C8C8BF"/>
                </a:solidFill>
                <a:latin typeface="Tahoma"/>
                <a:cs typeface="Tahoma"/>
              </a:rPr>
              <a:t>the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5">
                <a:solidFill>
                  <a:srgbClr val="C8C8BF"/>
                </a:solidFill>
                <a:latin typeface="Tahoma"/>
                <a:cs typeface="Tahoma"/>
              </a:rPr>
              <a:t>convergence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C8C8BF"/>
                </a:solidFill>
                <a:latin typeface="Tahoma"/>
                <a:cs typeface="Tahoma"/>
              </a:rPr>
              <a:t>of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C8C8BF"/>
                </a:solidFill>
                <a:latin typeface="Tahoma"/>
                <a:cs typeface="Tahoma"/>
              </a:rPr>
              <a:t>sophisticated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C8C8BF"/>
                </a:solidFill>
                <a:latin typeface="Tahoma"/>
                <a:cs typeface="Tahoma"/>
              </a:rPr>
              <a:t>NLP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5">
                <a:solidFill>
                  <a:srgbClr val="C8C8BF"/>
                </a:solidFill>
                <a:latin typeface="Tahoma"/>
                <a:cs typeface="Tahoma"/>
              </a:rPr>
              <a:t>algorithms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and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90">
                <a:solidFill>
                  <a:srgbClr val="C8C8BF"/>
                </a:solidFill>
                <a:latin typeface="Tahoma"/>
                <a:cs typeface="Tahoma"/>
              </a:rPr>
              <a:t>user-</a:t>
            </a:r>
            <a:r>
              <a:rPr dirty="0" sz="1100" spc="70">
                <a:solidFill>
                  <a:srgbClr val="C8C8BF"/>
                </a:solidFill>
                <a:latin typeface="Tahoma"/>
                <a:cs typeface="Tahoma"/>
              </a:rPr>
              <a:t>centred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C8C8BF"/>
                </a:solidFill>
                <a:latin typeface="Tahoma"/>
                <a:cs typeface="Tahoma"/>
              </a:rPr>
              <a:t>design,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5">
                <a:solidFill>
                  <a:srgbClr val="C8C8BF"/>
                </a:solidFill>
                <a:latin typeface="Tahoma"/>
                <a:cs typeface="Tahoma"/>
              </a:rPr>
              <a:t>making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C8C8BF"/>
                </a:solidFill>
                <a:latin typeface="Tahoma"/>
                <a:cs typeface="Tahoma"/>
              </a:rPr>
              <a:t>advanced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C8C8BF"/>
                </a:solidFill>
                <a:latin typeface="Tahoma"/>
                <a:cs typeface="Tahoma"/>
              </a:rPr>
              <a:t>text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75">
                <a:solidFill>
                  <a:srgbClr val="C8C8BF"/>
                </a:solidFill>
                <a:latin typeface="Tahoma"/>
                <a:cs typeface="Tahoma"/>
              </a:rPr>
              <a:t>analysis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85">
                <a:solidFill>
                  <a:srgbClr val="C8C8BF"/>
                </a:solidFill>
                <a:latin typeface="Tahoma"/>
                <a:cs typeface="Tahoma"/>
              </a:rPr>
              <a:t>accessible</a:t>
            </a:r>
            <a:r>
              <a:rPr dirty="0" sz="1100" spc="-65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C8C8BF"/>
                </a:solidFill>
                <a:latin typeface="Tahoma"/>
                <a:cs typeface="Tahoma"/>
              </a:rPr>
              <a:t>to </a:t>
            </a:r>
            <a:r>
              <a:rPr dirty="0" sz="1100" spc="50">
                <a:solidFill>
                  <a:srgbClr val="C8C8BF"/>
                </a:solidFill>
                <a:latin typeface="Tahoma"/>
                <a:cs typeface="Tahoma"/>
              </a:rPr>
              <a:t>everyone.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Bandarusaiakhiljayanth</dc:creator>
  <cp:keywords>DAG_JJ8sR_Q,BAGkxyfxcno,0</cp:keywords>
  <dc:title>Dynamic-AI-Text-Analysis-Platform-PPT-NEWpptx (1).pptx</dc:title>
  <dcterms:created xsi:type="dcterms:W3CDTF">2026-01-22T12:56:46Z</dcterms:created>
  <dcterms:modified xsi:type="dcterms:W3CDTF">2026-01-22T12:56:46Z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2026-01-22T00:00:00Z</vt:filetime>
  </property>
  <property fmtid="{D5CDD505-2E9C-101B-9397-08002B2CF9AE}" pid="3" name="Creator">
    <vt:lpwstr>Canva</vt:lpwstr>
  </property>
  <property fmtid="{D5CDD505-2E9C-101B-9397-08002B2CF9AE}" pid="4" name="LastSaved">
    <vt:filetime>2026-01-22T00:00:00Z</vt:filetime>
  </property>
  <property fmtid="{D5CDD505-2E9C-101B-9397-08002B2CF9AE}" pid="5" name="Producer">
    <vt:lpwstr>Canva</vt:lpwstr>
  </property>
</Properties>
</file>