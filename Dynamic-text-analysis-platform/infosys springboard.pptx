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7" r:id="rId2"/>
    <p:sldId id="259" r:id="rId3"/>
    <p:sldId id="263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5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6EB9C7-90A0-4800-83FC-4182811BD2F0}" v="4" dt="2026-01-22T11:52:23.1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ymavathi Menda" userId="b6e7c67350c7bcc9" providerId="LiveId" clId="{1EB7CC72-4BE8-4E18-A4C8-578AA33AE207}"/>
    <pc:docChg chg="custSel addSld modSld sldOrd">
      <pc:chgData name="Hymavathi Menda" userId="b6e7c67350c7bcc9" providerId="LiveId" clId="{1EB7CC72-4BE8-4E18-A4C8-578AA33AE207}" dt="2026-01-22T11:53:18.161" v="115" actId="1076"/>
      <pc:docMkLst>
        <pc:docMk/>
      </pc:docMkLst>
      <pc:sldChg chg="addSp modSp mod">
        <pc:chgData name="Hymavathi Menda" userId="b6e7c67350c7bcc9" providerId="LiveId" clId="{1EB7CC72-4BE8-4E18-A4C8-578AA33AE207}" dt="2026-01-22T11:43:23.518" v="99" actId="1076"/>
        <pc:sldMkLst>
          <pc:docMk/>
          <pc:sldMk cId="269597022" sldId="257"/>
        </pc:sldMkLst>
        <pc:spChg chg="mod">
          <ac:chgData name="Hymavathi Menda" userId="b6e7c67350c7bcc9" providerId="LiveId" clId="{1EB7CC72-4BE8-4E18-A4C8-578AA33AE207}" dt="2026-01-22T11:43:04.308" v="96" actId="1076"/>
          <ac:spMkLst>
            <pc:docMk/>
            <pc:sldMk cId="269597022" sldId="257"/>
            <ac:spMk id="2" creationId="{6178B974-6536-B32E-D000-9A5C0BC9C6BC}"/>
          </ac:spMkLst>
        </pc:spChg>
        <pc:spChg chg="mod">
          <ac:chgData name="Hymavathi Menda" userId="b6e7c67350c7bcc9" providerId="LiveId" clId="{1EB7CC72-4BE8-4E18-A4C8-578AA33AE207}" dt="2026-01-22T11:43:13.674" v="97" actId="1076"/>
          <ac:spMkLst>
            <pc:docMk/>
            <pc:sldMk cId="269597022" sldId="257"/>
            <ac:spMk id="3" creationId="{34AFD8F9-7815-4A31-9027-B51EF1E4D49D}"/>
          </ac:spMkLst>
        </pc:spChg>
        <pc:picChg chg="add mod">
          <ac:chgData name="Hymavathi Menda" userId="b6e7c67350c7bcc9" providerId="LiveId" clId="{1EB7CC72-4BE8-4E18-A4C8-578AA33AE207}" dt="2026-01-22T11:43:23.518" v="99" actId="1076"/>
          <ac:picMkLst>
            <pc:docMk/>
            <pc:sldMk cId="269597022" sldId="257"/>
            <ac:picMk id="5" creationId="{5024825B-FA0B-1F36-35B7-F4301AF66A99}"/>
          </ac:picMkLst>
        </pc:picChg>
      </pc:sldChg>
      <pc:sldChg chg="addSp delSp modSp mod">
        <pc:chgData name="Hymavathi Menda" userId="b6e7c67350c7bcc9" providerId="LiveId" clId="{1EB7CC72-4BE8-4E18-A4C8-578AA33AE207}" dt="2026-01-22T11:53:18.161" v="115" actId="1076"/>
        <pc:sldMkLst>
          <pc:docMk/>
          <pc:sldMk cId="3938811457" sldId="264"/>
        </pc:sldMkLst>
        <pc:spChg chg="mod">
          <ac:chgData name="Hymavathi Menda" userId="b6e7c67350c7bcc9" providerId="LiveId" clId="{1EB7CC72-4BE8-4E18-A4C8-578AA33AE207}" dt="2026-01-22T11:52:44.882" v="109" actId="14100"/>
          <ac:spMkLst>
            <pc:docMk/>
            <pc:sldMk cId="3938811457" sldId="264"/>
            <ac:spMk id="2" creationId="{B055263F-4E93-75C8-616B-D02A9D917802}"/>
          </ac:spMkLst>
        </pc:spChg>
        <pc:picChg chg="add del mod">
          <ac:chgData name="Hymavathi Menda" userId="b6e7c67350c7bcc9" providerId="LiveId" clId="{1EB7CC72-4BE8-4E18-A4C8-578AA33AE207}" dt="2026-01-22T11:45:32.683" v="105" actId="21"/>
          <ac:picMkLst>
            <pc:docMk/>
            <pc:sldMk cId="3938811457" sldId="264"/>
            <ac:picMk id="5" creationId="{864D2C90-D79D-38A8-5E7B-E237354DB41E}"/>
          </ac:picMkLst>
        </pc:picChg>
        <pc:picChg chg="add mod">
          <ac:chgData name="Hymavathi Menda" userId="b6e7c67350c7bcc9" providerId="LiveId" clId="{1EB7CC72-4BE8-4E18-A4C8-578AA33AE207}" dt="2026-01-22T11:53:18.161" v="115" actId="1076"/>
          <ac:picMkLst>
            <pc:docMk/>
            <pc:sldMk cId="3938811457" sldId="264"/>
            <ac:picMk id="7" creationId="{666F7FA0-188D-4E67-F047-2E7EE455E4EC}"/>
          </ac:picMkLst>
        </pc:picChg>
      </pc:sldChg>
      <pc:sldChg chg="addSp modSp new mod ord">
        <pc:chgData name="Hymavathi Menda" userId="b6e7c67350c7bcc9" providerId="LiveId" clId="{1EB7CC72-4BE8-4E18-A4C8-578AA33AE207}" dt="2026-01-21T11:51:16.716" v="16" actId="1076"/>
        <pc:sldMkLst>
          <pc:docMk/>
          <pc:sldMk cId="511470627" sldId="269"/>
        </pc:sldMkLst>
        <pc:spChg chg="add mod">
          <ac:chgData name="Hymavathi Menda" userId="b6e7c67350c7bcc9" providerId="LiveId" clId="{1EB7CC72-4BE8-4E18-A4C8-578AA33AE207}" dt="2026-01-21T11:51:16.716" v="16" actId="1076"/>
          <ac:spMkLst>
            <pc:docMk/>
            <pc:sldMk cId="511470627" sldId="269"/>
            <ac:spMk id="2" creationId="{90FBE6A4-BAFA-5306-414E-0128EE7CC9D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9DD6F3-9C36-44E2-A723-EB3818E38CC8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4610BC-5591-4B04-933E-2BD40CE06E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22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78B974-6536-B32E-D000-9A5C0BC9C6BC}"/>
              </a:ext>
            </a:extLst>
          </p:cNvPr>
          <p:cNvSpPr txBox="1"/>
          <p:nvPr/>
        </p:nvSpPr>
        <p:spPr>
          <a:xfrm>
            <a:off x="2443317" y="254699"/>
            <a:ext cx="700056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0" dirty="0">
                <a:latin typeface="Bahnschrift SemiBold" panose="020B0502040204020203" pitchFamily="34" charset="0"/>
              </a:rPr>
              <a:t>DATA LENS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AFD8F9-7815-4A31-9027-B51EF1E4D49D}"/>
              </a:ext>
            </a:extLst>
          </p:cNvPr>
          <p:cNvSpPr txBox="1"/>
          <p:nvPr/>
        </p:nvSpPr>
        <p:spPr>
          <a:xfrm>
            <a:off x="6415548" y="1885915"/>
            <a:ext cx="6341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Deep learning to analyse the texts…..!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24825B-FA0B-1F36-35B7-F4301AF66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3092014"/>
            <a:ext cx="7620000" cy="271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97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AC0B27-5347-F07D-A9FA-829338253236}"/>
              </a:ext>
            </a:extLst>
          </p:cNvPr>
          <p:cNvSpPr txBox="1"/>
          <p:nvPr/>
        </p:nvSpPr>
        <p:spPr>
          <a:xfrm>
            <a:off x="481781" y="1386348"/>
            <a:ext cx="2202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</a:t>
            </a:r>
            <a:r>
              <a:rPr lang="en-IN" sz="2400" b="1" u="sng" dirty="0"/>
              <a:t>OBJECTIVE: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EAD823-D0A5-BF90-3B08-C2ABF72A6068}"/>
              </a:ext>
            </a:extLst>
          </p:cNvPr>
          <p:cNvSpPr txBox="1"/>
          <p:nvPr/>
        </p:nvSpPr>
        <p:spPr>
          <a:xfrm>
            <a:off x="1730478" y="1848013"/>
            <a:ext cx="92521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To build an intelligent, user-friendly system that can understand any document, identify what it is about, analyze its sentiment, summarize it clearly, and present meaningful insights through simple </a:t>
            </a:r>
            <a:r>
              <a:rPr lang="en-US" b="1" dirty="0" err="1"/>
              <a:t>visualizations.In</a:t>
            </a:r>
            <a:r>
              <a:rPr lang="en-US" b="1" dirty="0"/>
              <a:t> simple words transforming the raw documents into </a:t>
            </a:r>
            <a:r>
              <a:rPr lang="en-US" b="1" dirty="0" err="1"/>
              <a:t>meaningful,easy</a:t>
            </a:r>
            <a:r>
              <a:rPr lang="en-US" b="1" dirty="0"/>
              <a:t> to understand insights using AI and NLP.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AC6AC3-E240-925C-7AE0-E21EEB6C8C87}"/>
              </a:ext>
            </a:extLst>
          </p:cNvPr>
          <p:cNvSpPr txBox="1"/>
          <p:nvPr/>
        </p:nvSpPr>
        <p:spPr>
          <a:xfrm>
            <a:off x="884905" y="3429000"/>
            <a:ext cx="1946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OUTCOMES: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C3F2CA-D6A2-A8B1-023D-0FEE6C1886B7}"/>
              </a:ext>
            </a:extLst>
          </p:cNvPr>
          <p:cNvSpPr txBox="1"/>
          <p:nvPr/>
        </p:nvSpPr>
        <p:spPr>
          <a:xfrm>
            <a:off x="1730478" y="4050890"/>
            <a:ext cx="87900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Documents are categorized without any manual effort.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To improve the reliability and transparency we compared two models for topic detection and captures the true meaning of the content and gives the accurate results.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It detects the sentiment of the content and the results are shown using the intuitive </a:t>
            </a:r>
            <a:r>
              <a:rPr lang="en-IN" b="1" dirty="0" err="1"/>
              <a:t>guage</a:t>
            </a:r>
            <a:r>
              <a:rPr lang="en-IN" b="1" dirty="0"/>
              <a:t> visualizations.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It gives clear and human readable summaries to help the users to save time and it leads to faster decision making and better comprehension</a:t>
            </a:r>
            <a:r>
              <a:rPr lang="en-IN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C5DAEB-81CD-74C3-C573-9C84E66C1BFA}"/>
              </a:ext>
            </a:extLst>
          </p:cNvPr>
          <p:cNvSpPr txBox="1"/>
          <p:nvPr/>
        </p:nvSpPr>
        <p:spPr>
          <a:xfrm>
            <a:off x="2831692" y="137579"/>
            <a:ext cx="55060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1742329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30BBDD-5F26-551D-A4D2-2F3C37D583AF}"/>
              </a:ext>
            </a:extLst>
          </p:cNvPr>
          <p:cNvSpPr txBox="1"/>
          <p:nvPr/>
        </p:nvSpPr>
        <p:spPr>
          <a:xfrm>
            <a:off x="3772310" y="104841"/>
            <a:ext cx="4368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/>
              <a:t>UNIQUENESS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304EB2-21D4-8B7B-9C60-005326DA1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8905" y="553085"/>
            <a:ext cx="7251065" cy="47301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8BD0A7-13DA-A7CB-7DAC-52C0A87D3AEA}"/>
              </a:ext>
            </a:extLst>
          </p:cNvPr>
          <p:cNvSpPr txBox="1"/>
          <p:nvPr/>
        </p:nvSpPr>
        <p:spPr>
          <a:xfrm>
            <a:off x="2324510" y="5012253"/>
            <a:ext cx="2895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Target Audience</a:t>
            </a:r>
            <a:r>
              <a:rPr lang="en-IN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Students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News analysts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Content and media analysts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357B9B-BD14-540A-4710-A72DE3A8D75B}"/>
              </a:ext>
            </a:extLst>
          </p:cNvPr>
          <p:cNvSpPr txBox="1"/>
          <p:nvPr/>
        </p:nvSpPr>
        <p:spPr>
          <a:xfrm>
            <a:off x="7244080" y="1310640"/>
            <a:ext cx="460248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Users can compare human-like understanding vs mathematical modeling.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Instead of trusting a single model:</a:t>
            </a:r>
          </a:p>
          <a:p>
            <a:r>
              <a:rPr lang="en-US" b="1" dirty="0"/>
              <a:t>Rule-based sentiment analysis</a:t>
            </a:r>
          </a:p>
          <a:p>
            <a:r>
              <a:rPr lang="en-US" b="1" dirty="0"/>
              <a:t>Neural network-based sentiment analysis</a:t>
            </a:r>
          </a:p>
          <a:p>
            <a:r>
              <a:rPr lang="en-US" b="1" dirty="0"/>
              <a:t>Results are visualized using real-time sentiment gauges.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Insights at a glance, even for non-technical users.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system shows </a:t>
            </a:r>
            <a:r>
              <a:rPr lang="en-US" b="1" i="1" dirty="0"/>
              <a:t>how</a:t>
            </a:r>
            <a:r>
              <a:rPr lang="en-US" b="1" dirty="0"/>
              <a:t> and </a:t>
            </a:r>
            <a:r>
              <a:rPr lang="en-US" b="1" i="1" dirty="0"/>
              <a:t>why</a:t>
            </a:r>
            <a:r>
              <a:rPr lang="en-US" b="1" dirty="0"/>
              <a:t> the result was produced.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Supports Real-World Documents.</a:t>
            </a:r>
          </a:p>
          <a:p>
            <a:r>
              <a:rPr lang="en-IN" b="1" dirty="0"/>
              <a:t>User-Friendly for Non-Technical Users</a:t>
            </a:r>
          </a:p>
        </p:txBody>
      </p:sp>
    </p:spTree>
    <p:extLst>
      <p:ext uri="{BB962C8B-B14F-4D97-AF65-F5344CB8AC3E}">
        <p14:creationId xmlns:p14="http://schemas.microsoft.com/office/powerpoint/2010/main" val="549057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F8A6C9-1C3F-E9C7-E4A0-C61BE8091E74}"/>
              </a:ext>
            </a:extLst>
          </p:cNvPr>
          <p:cNvSpPr txBox="1"/>
          <p:nvPr/>
        </p:nvSpPr>
        <p:spPr>
          <a:xfrm>
            <a:off x="3480619" y="157317"/>
            <a:ext cx="3893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/>
              <a:t>METHODOLOGY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37B750-61CA-FA9D-10F1-0F60ED345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57" y="803648"/>
            <a:ext cx="4610878" cy="62778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E1D722-FDA0-3899-FE5E-6EAAD849A951}"/>
              </a:ext>
            </a:extLst>
          </p:cNvPr>
          <p:cNvSpPr txBox="1"/>
          <p:nvPr/>
        </p:nvSpPr>
        <p:spPr>
          <a:xfrm>
            <a:off x="5059680" y="1037328"/>
            <a:ext cx="658368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u="sng" dirty="0"/>
              <a:t>User Input</a:t>
            </a:r>
          </a:p>
          <a:p>
            <a:r>
              <a:rPr lang="en-US" sz="1600" b="1" dirty="0"/>
              <a:t>The system accepts unstructured and structured data such as Text, PDF, CSV, and JSON files from users.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u="sng" dirty="0"/>
              <a:t>Text Preprocessing</a:t>
            </a:r>
          </a:p>
          <a:p>
            <a:r>
              <a:rPr lang="en-US" sz="1600" b="1" dirty="0"/>
              <a:t>Raw data is cleaned and prepared by removing noise, normalizing text, and extracting meaningful content for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u="sng" dirty="0"/>
              <a:t>Topic Detection</a:t>
            </a:r>
          </a:p>
          <a:p>
            <a:r>
              <a:rPr lang="en-US" sz="1600" b="1" dirty="0"/>
              <a:t>Advanced algorithms identify the core themes and dominant topics present in the 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u="sng" dirty="0"/>
              <a:t>Sentiment Analysis</a:t>
            </a:r>
          </a:p>
          <a:p>
            <a:r>
              <a:rPr lang="en-US" sz="1600" b="1" dirty="0"/>
              <a:t>The emotional tone of the content is analyzed and classified as Positive, Negative, or Neutral.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u="sng" dirty="0"/>
              <a:t>Summarization</a:t>
            </a:r>
          </a:p>
          <a:p>
            <a:r>
              <a:rPr lang="en-US" sz="1600" b="1" dirty="0"/>
              <a:t>Large volumes of text are condensed into short, clear, and meaningful summaries.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u="sng" dirty="0"/>
              <a:t>Insight Generation</a:t>
            </a:r>
          </a:p>
          <a:p>
            <a:r>
              <a:rPr lang="en-US" sz="1600" b="1" dirty="0"/>
              <a:t>Key interpretations and patterns are extracted to answer “What does this data mean?”.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u="sng" dirty="0"/>
              <a:t>Visualization Dashboard</a:t>
            </a:r>
          </a:p>
          <a:p>
            <a:r>
              <a:rPr lang="en-US" sz="1600" b="1" dirty="0"/>
              <a:t>Results are presented using interactive graphs and visual insights for easy understanding and decision-making.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746392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CBD32E-7535-FF09-3476-EB0AF072BA30}"/>
              </a:ext>
            </a:extLst>
          </p:cNvPr>
          <p:cNvSpPr txBox="1"/>
          <p:nvPr/>
        </p:nvSpPr>
        <p:spPr>
          <a:xfrm>
            <a:off x="3342967" y="373627"/>
            <a:ext cx="518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/>
              <a:t>DATA</a:t>
            </a:r>
            <a:r>
              <a:rPr lang="en-IN" sz="3600" b="1" dirty="0"/>
              <a:t> </a:t>
            </a:r>
            <a:r>
              <a:rPr lang="en-IN" sz="3600" b="1" u="sng" dirty="0"/>
              <a:t>PREPROCESSING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6D0DBF-5785-A17B-57F1-ADE3ED71C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212" y="696792"/>
            <a:ext cx="8996516" cy="32194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912A92-70D4-BA4E-5AD2-5A1E6D484D4D}"/>
              </a:ext>
            </a:extLst>
          </p:cNvPr>
          <p:cNvSpPr txBox="1"/>
          <p:nvPr/>
        </p:nvSpPr>
        <p:spPr>
          <a:xfrm>
            <a:off x="589935" y="3696929"/>
            <a:ext cx="1055001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Preprocessing is nothing but cleaning and preparing the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Converting the raw </a:t>
            </a:r>
            <a:r>
              <a:rPr lang="en-IN" b="1" dirty="0" err="1"/>
              <a:t>unstructure</a:t>
            </a:r>
            <a:r>
              <a:rPr lang="en-IN" b="1" dirty="0"/>
              <a:t> text into clean normalise and machine processable form which is suitable for NLP algorithms.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It improves topic quality and reduce the memory usage.</a:t>
            </a:r>
          </a:p>
          <a:p>
            <a:r>
              <a:rPr lang="en-IN" b="1" u="sng" dirty="0"/>
              <a:t>TOOLS USED FOR </a:t>
            </a:r>
            <a:r>
              <a:rPr lang="en-IN" b="1" u="sng" dirty="0" err="1"/>
              <a:t>PREPROCESSING</a:t>
            </a:r>
            <a:r>
              <a:rPr lang="en-IN" b="1" dirty="0" err="1"/>
              <a:t>:Custom</a:t>
            </a:r>
            <a:r>
              <a:rPr lang="en-IN" b="1" dirty="0"/>
              <a:t> pipeline,(NLTK),Regular expressions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I used </a:t>
            </a:r>
            <a:r>
              <a:rPr lang="en-IN" b="1" dirty="0" err="1"/>
              <a:t>wordNet</a:t>
            </a:r>
            <a:r>
              <a:rPr lang="en-IN" b="1" dirty="0"/>
              <a:t> for lemmatization here ,because it organises the words into </a:t>
            </a:r>
            <a:r>
              <a:rPr lang="en-IN" b="1" dirty="0" err="1"/>
              <a:t>synsets</a:t>
            </a:r>
            <a:r>
              <a:rPr lang="en-IN" b="1" dirty="0"/>
              <a:t>(sets of words with the same meaning) and it also used for Text </a:t>
            </a:r>
            <a:r>
              <a:rPr lang="en-IN" b="1" dirty="0" err="1"/>
              <a:t>Normalisation,Semantic</a:t>
            </a:r>
            <a:r>
              <a:rPr lang="en-IN" b="1" dirty="0"/>
              <a:t> </a:t>
            </a:r>
            <a:r>
              <a:rPr lang="en-IN" b="1" dirty="0" err="1"/>
              <a:t>Similarity,Wordsense</a:t>
            </a:r>
            <a:r>
              <a:rPr lang="en-IN" b="1" dirty="0"/>
              <a:t> Understanding.</a:t>
            </a:r>
          </a:p>
          <a:p>
            <a:r>
              <a:rPr lang="en-US" b="1" u="sng" dirty="0"/>
              <a:t>NLTK gives us language intelligence: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how to split words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which words are useless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how to find base word forms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19261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C6666-F2C7-CCA4-1FCB-EE012C2073AB}"/>
              </a:ext>
            </a:extLst>
          </p:cNvPr>
          <p:cNvSpPr txBox="1"/>
          <p:nvPr/>
        </p:nvSpPr>
        <p:spPr>
          <a:xfrm>
            <a:off x="3706760" y="294968"/>
            <a:ext cx="3618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/>
              <a:t>TOPIC DETECTION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26F56A-A639-3468-2928-F22AE404A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47" y="3264310"/>
            <a:ext cx="6127239" cy="3905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DD57E4-3C7E-CCBF-7D0C-0E15C4FB0574}"/>
              </a:ext>
            </a:extLst>
          </p:cNvPr>
          <p:cNvSpPr txBox="1"/>
          <p:nvPr/>
        </p:nvSpPr>
        <p:spPr>
          <a:xfrm>
            <a:off x="550606" y="1092056"/>
            <a:ext cx="109236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Machine learning:</a:t>
            </a:r>
          </a:p>
          <a:p>
            <a:r>
              <a:rPr lang="en-US" b="1" dirty="0"/>
              <a:t>A Document–Term Matrix is a vector-space representation of a text corpus where each document is represented as a numerical vector of term </a:t>
            </a:r>
            <a:r>
              <a:rPr lang="en-US" b="1" dirty="0" err="1"/>
              <a:t>weights.To</a:t>
            </a:r>
            <a:r>
              <a:rPr lang="en-US" b="1" dirty="0"/>
              <a:t> convert the text in to numbers we use  TF-IDF vectorizer which is present in Scikit-learn tool.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E112D8-318D-8FA7-D7FA-792FECE5A016}"/>
              </a:ext>
            </a:extLst>
          </p:cNvPr>
          <p:cNvSpPr txBox="1"/>
          <p:nvPr/>
        </p:nvSpPr>
        <p:spPr>
          <a:xfrm>
            <a:off x="550606" y="2428727"/>
            <a:ext cx="1037303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TF-IDF(TF*IDF):</a:t>
            </a:r>
          </a:p>
          <a:p>
            <a:r>
              <a:rPr lang="en-US" b="1" dirty="0"/>
              <a:t>How often a word appears inside on document and it penalizes words that appear in many documents</a:t>
            </a:r>
          </a:p>
          <a:p>
            <a:r>
              <a:rPr lang="en-US" b="1" dirty="0"/>
              <a:t>reduces weight of common words and increases weight of meaningful words.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54D887-0BFD-4668-8A67-5EF57A1E8F25}"/>
              </a:ext>
            </a:extLst>
          </p:cNvPr>
          <p:cNvSpPr txBox="1"/>
          <p:nvPr/>
        </p:nvSpPr>
        <p:spPr>
          <a:xfrm>
            <a:off x="7531510" y="3827353"/>
            <a:ext cx="46604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DTM treats all words as equally important.</a:t>
            </a:r>
          </a:p>
          <a:p>
            <a:r>
              <a:rPr lang="en-IN" b="1" dirty="0"/>
              <a:t>DTM Shape(3,4)[3 docs and 4 words]</a:t>
            </a:r>
            <a:endParaRPr lang="en-US" b="1" dirty="0"/>
          </a:p>
          <a:p>
            <a:endParaRPr lang="en-IN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9130769-C19E-7C76-A734-7C8875296B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288016"/>
              </p:ext>
            </p:extLst>
          </p:nvPr>
        </p:nvGraphicFramePr>
        <p:xfrm>
          <a:off x="5897612" y="4854746"/>
          <a:ext cx="6127240" cy="1463040"/>
        </p:xfrm>
        <a:graphic>
          <a:graphicData uri="http://schemas.openxmlformats.org/drawingml/2006/table">
            <a:tbl>
              <a:tblPr/>
              <a:tblGrid>
                <a:gridCol w="1225448">
                  <a:extLst>
                    <a:ext uri="{9D8B030D-6E8A-4147-A177-3AD203B41FA5}">
                      <a16:colId xmlns:a16="http://schemas.microsoft.com/office/drawing/2014/main" val="1448398528"/>
                    </a:ext>
                  </a:extLst>
                </a:gridCol>
                <a:gridCol w="1225448">
                  <a:extLst>
                    <a:ext uri="{9D8B030D-6E8A-4147-A177-3AD203B41FA5}">
                      <a16:colId xmlns:a16="http://schemas.microsoft.com/office/drawing/2014/main" val="1238329158"/>
                    </a:ext>
                  </a:extLst>
                </a:gridCol>
                <a:gridCol w="1225448">
                  <a:extLst>
                    <a:ext uri="{9D8B030D-6E8A-4147-A177-3AD203B41FA5}">
                      <a16:colId xmlns:a16="http://schemas.microsoft.com/office/drawing/2014/main" val="2841988342"/>
                    </a:ext>
                  </a:extLst>
                </a:gridCol>
                <a:gridCol w="1225448">
                  <a:extLst>
                    <a:ext uri="{9D8B030D-6E8A-4147-A177-3AD203B41FA5}">
                      <a16:colId xmlns:a16="http://schemas.microsoft.com/office/drawing/2014/main" val="2191000622"/>
                    </a:ext>
                  </a:extLst>
                </a:gridCol>
                <a:gridCol w="1225448">
                  <a:extLst>
                    <a:ext uri="{9D8B030D-6E8A-4147-A177-3AD203B41FA5}">
                      <a16:colId xmlns:a16="http://schemas.microsoft.com/office/drawing/2014/main" val="28078199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Document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word1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word2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word3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2765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doc1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0.3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0.0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0.5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149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doc2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0.0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0.6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0.1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622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doc3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0.4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0.2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0.0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396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5291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55263F-4E93-75C8-616B-D02A9D917802}"/>
              </a:ext>
            </a:extLst>
          </p:cNvPr>
          <p:cNvSpPr txBox="1"/>
          <p:nvPr/>
        </p:nvSpPr>
        <p:spPr>
          <a:xfrm>
            <a:off x="383458" y="324465"/>
            <a:ext cx="1115961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LDA: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LDA is a topic modeling algorithm which is a unsupervised ML type that automatically finds hidden topics in a large collection of documents.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LDA model learns latent topic distributions over words and topic mixtures over documents from the document–term matrix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Internally LDA stores as:</a:t>
            </a:r>
          </a:p>
          <a:p>
            <a:r>
              <a:rPr lang="en-US" b="1" dirty="0"/>
              <a:t>Topic 1 → [0.12, 0.01, 0.30, 0.22, ...]</a:t>
            </a:r>
          </a:p>
          <a:p>
            <a:r>
              <a:rPr lang="en-US" b="1" dirty="0"/>
              <a:t>Topic 2 → [0.03, 0.28, 0.05, 0.01, ...]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Convert those numbers in to text and print top words per topic and after that we should see something like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6F7FA0-188D-4E67-F047-2E7EE455E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82" y="3002121"/>
            <a:ext cx="9674940" cy="402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811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8AD148-D69E-FB7A-8B65-65E8BFF7A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25961" cy="40803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F6EF78-3A78-D3C9-4893-08AD41586A07}"/>
              </a:ext>
            </a:extLst>
          </p:cNvPr>
          <p:cNvSpPr txBox="1"/>
          <p:nvPr/>
        </p:nvSpPr>
        <p:spPr>
          <a:xfrm>
            <a:off x="117987" y="4080387"/>
            <a:ext cx="46998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/>
              <a:t>Perplexity and coherence graph and at  7 number of topics perplexity was min and coherence was max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FBC2E7-1AD3-A411-9DAC-D7713B2BD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11274"/>
            <a:ext cx="4925961" cy="23234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D99300-7050-C5C5-C937-AA3295BF1880}"/>
              </a:ext>
            </a:extLst>
          </p:cNvPr>
          <p:cNvSpPr txBox="1"/>
          <p:nvPr/>
        </p:nvSpPr>
        <p:spPr>
          <a:xfrm>
            <a:off x="5073444" y="49613"/>
            <a:ext cx="7118556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DEEP LEARNING:</a:t>
            </a:r>
            <a:r>
              <a:rPr lang="en-US" b="1" dirty="0"/>
              <a:t>Deep learning semantic topic finding is a modern way to discover topics by understanding meaning (semantics) instead of counting words</a:t>
            </a:r>
            <a:r>
              <a:rPr lang="en-US" sz="2400" b="1" dirty="0"/>
              <a:t>.</a:t>
            </a:r>
            <a:endParaRPr lang="en-IN" sz="2400" b="1" dirty="0"/>
          </a:p>
          <a:p>
            <a:r>
              <a:rPr lang="en-US" b="1" dirty="0"/>
              <a:t>Deep learning models (Transformers) learn: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Context of words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Sentence meaning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Relationships between ideas</a:t>
            </a:r>
          </a:p>
          <a:p>
            <a:r>
              <a:rPr lang="en-US" b="1" dirty="0"/>
              <a:t>They convert text into dense vectors (embeddings) where:</a:t>
            </a:r>
          </a:p>
          <a:p>
            <a:r>
              <a:rPr lang="en-US" b="1" dirty="0"/>
              <a:t>Similar meaning → vectors close together</a:t>
            </a:r>
          </a:p>
          <a:p>
            <a:r>
              <a:rPr lang="en-US" b="1" dirty="0"/>
              <a:t>Different meaning → vectors far apart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MiniLM-L6-v2 is a compact transformer-based sentence embedding model — meaning it converts text (sentences/paragraphs) into dense numerical vectors that capture semantic meaning.</a:t>
            </a:r>
            <a:endParaRPr lang="en-IN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9DF29A-A537-3295-0758-1B75B63CFE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155" y="3814916"/>
            <a:ext cx="7511845" cy="359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211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153501-C21C-2594-49A0-D4C86DE9840A}"/>
              </a:ext>
            </a:extLst>
          </p:cNvPr>
          <p:cNvSpPr txBox="1"/>
          <p:nvPr/>
        </p:nvSpPr>
        <p:spPr>
          <a:xfrm>
            <a:off x="2998839" y="186813"/>
            <a:ext cx="5889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/>
              <a:t>SENTIMENTAL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10E46C-737E-B3E8-0CC4-0D30A66FA045}"/>
              </a:ext>
            </a:extLst>
          </p:cNvPr>
          <p:cNvSpPr txBox="1"/>
          <p:nvPr/>
        </p:nvSpPr>
        <p:spPr>
          <a:xfrm>
            <a:off x="324465" y="1089898"/>
            <a:ext cx="3893574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Rules and heuristic(VADER):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Best for noisy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Handles emojis 😄🔥😡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 Handles CAPITAL words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 Handles punctuation !!!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Designed for social / real-world text</a:t>
            </a:r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BBEB41-A864-9EEF-ADA2-C834D78049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668670"/>
              </p:ext>
            </p:extLst>
          </p:nvPr>
        </p:nvGraphicFramePr>
        <p:xfrm>
          <a:off x="446139" y="2954234"/>
          <a:ext cx="3650226" cy="1463040"/>
        </p:xfrm>
        <a:graphic>
          <a:graphicData uri="http://schemas.openxmlformats.org/drawingml/2006/table">
            <a:tbl>
              <a:tblPr/>
              <a:tblGrid>
                <a:gridCol w="2124998">
                  <a:extLst>
                    <a:ext uri="{9D8B030D-6E8A-4147-A177-3AD203B41FA5}">
                      <a16:colId xmlns:a16="http://schemas.microsoft.com/office/drawing/2014/main" val="252628125"/>
                    </a:ext>
                  </a:extLst>
                </a:gridCol>
                <a:gridCol w="1525228">
                  <a:extLst>
                    <a:ext uri="{9D8B030D-6E8A-4147-A177-3AD203B41FA5}">
                      <a16:colId xmlns:a16="http://schemas.microsoft.com/office/drawing/2014/main" val="400576158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Compound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Sentiment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050246"/>
                  </a:ext>
                </a:extLst>
              </a:tr>
              <a:tr h="3421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≥ 0.05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Positive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1643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≤ -0.05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Negative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60005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Else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Neutral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4631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8450AA4-41FF-83F0-6D07-2A4E02C9735D}"/>
              </a:ext>
            </a:extLst>
          </p:cNvPr>
          <p:cNvSpPr txBox="1"/>
          <p:nvPr/>
        </p:nvSpPr>
        <p:spPr>
          <a:xfrm>
            <a:off x="324465" y="4501244"/>
            <a:ext cx="34904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For this we need to download the VADER dictionary which is a predefined emotion dictionary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compound = final emotional score(Quick Estimate)</a:t>
            </a:r>
          </a:p>
          <a:p>
            <a:r>
              <a:rPr lang="en-US" b="1" dirty="0"/>
              <a:t>Range: −1 to +1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5A2C42-942A-B212-5C8F-066692E4423D}"/>
              </a:ext>
            </a:extLst>
          </p:cNvPr>
          <p:cNvSpPr txBox="1"/>
          <p:nvPr/>
        </p:nvSpPr>
        <p:spPr>
          <a:xfrm>
            <a:off x="117988" y="6178702"/>
            <a:ext cx="7728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VADER compound is reliable for SHORT texts.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It becomes misleading for longer texts/documents</a:t>
            </a:r>
            <a:endParaRPr lang="en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6F5821-4C7D-443C-A8C6-845F88DACD0E}"/>
              </a:ext>
            </a:extLst>
          </p:cNvPr>
          <p:cNvSpPr txBox="1"/>
          <p:nvPr/>
        </p:nvSpPr>
        <p:spPr>
          <a:xfrm>
            <a:off x="4537587" y="1028343"/>
            <a:ext cx="239907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Machine Learning</a:t>
            </a:r>
            <a:r>
              <a:rPr lang="en-IN" sz="2000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Fast speed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Can’t handle Emojis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Medium accuracy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183A1D-B3E8-E6A0-6EDA-95CFCB7F3BE7}"/>
              </a:ext>
            </a:extLst>
          </p:cNvPr>
          <p:cNvSpPr txBox="1"/>
          <p:nvPr/>
        </p:nvSpPr>
        <p:spPr>
          <a:xfrm>
            <a:off x="4549877" y="2269982"/>
            <a:ext cx="65925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Logistic Regression is EXCELLENT as a classical ML baseline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Convert text → numbers (TF-IDF)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Train Logistic Regression on labeled data</a:t>
            </a:r>
          </a:p>
          <a:p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FCA923-2D07-5570-7781-D35C4949A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767" y="3263165"/>
            <a:ext cx="5106988" cy="283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919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211E5A-28E4-8152-98E3-067CB22E0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18" y="147485"/>
            <a:ext cx="5284045" cy="34642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2DABC9-3289-2437-A37A-DEF526998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3376" y="226374"/>
            <a:ext cx="6341806" cy="28462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FEBE39-23B9-13FB-37F4-EFE47D947F46}"/>
              </a:ext>
            </a:extLst>
          </p:cNvPr>
          <p:cNvSpPr txBox="1"/>
          <p:nvPr/>
        </p:nvSpPr>
        <p:spPr>
          <a:xfrm>
            <a:off x="393289" y="3631404"/>
            <a:ext cx="47588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It describes how many documents are positive and negative by </a:t>
            </a:r>
            <a:r>
              <a:rPr lang="en-IN" sz="1400" b="1" dirty="0" err="1"/>
              <a:t>DistiBert</a:t>
            </a:r>
            <a:endParaRPr lang="en-IN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A7B8C1-F015-2DC9-95FE-54F26B638386}"/>
              </a:ext>
            </a:extLst>
          </p:cNvPr>
          <p:cNvSpPr txBox="1"/>
          <p:nvPr/>
        </p:nvSpPr>
        <p:spPr>
          <a:xfrm>
            <a:off x="176818" y="4184121"/>
            <a:ext cx="11543234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DEEP LEARNING: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we use a model called DISTILBERT which is </a:t>
            </a:r>
            <a:r>
              <a:rPr lang="en-IN" b="1" dirty="0" err="1"/>
              <a:t>fast,lightweight,accurate</a:t>
            </a:r>
            <a:r>
              <a:rPr lang="en-IN" sz="2000" b="1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It was unable to understand the emojis  </a:t>
            </a:r>
            <a:r>
              <a:rPr lang="en-US" b="1" dirty="0"/>
              <a:t>But it still understands the sentiment of the text even if emojis are present.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distilbert-base-uncased-finetuned-sst-2-English this is the model we used </a:t>
            </a:r>
            <a:r>
              <a:rPr lang="en-IN" b="1" dirty="0" err="1"/>
              <a:t>here,it</a:t>
            </a:r>
            <a:r>
              <a:rPr lang="en-IN" b="1" dirty="0"/>
              <a:t> trained on plain English sentences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Emojis are tokenised as [UNK](unknown token).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model relies on semantic and contextual understanding of the text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It understands the meaning of the text.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14E3BF-1125-B51A-C352-EC1214C26876}"/>
              </a:ext>
            </a:extLst>
          </p:cNvPr>
          <p:cNvSpPr txBox="1"/>
          <p:nvPr/>
        </p:nvSpPr>
        <p:spPr>
          <a:xfrm>
            <a:off x="6096000" y="3167390"/>
            <a:ext cx="50706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VADER AND BERT SHOWING THAT THE GIVEN DOCUMENT IS NEGATIVE</a:t>
            </a:r>
          </a:p>
        </p:txBody>
      </p:sp>
    </p:spTree>
    <p:extLst>
      <p:ext uri="{BB962C8B-B14F-4D97-AF65-F5344CB8AC3E}">
        <p14:creationId xmlns:p14="http://schemas.microsoft.com/office/powerpoint/2010/main" val="1759389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440CEF-3CFE-5F93-8CFC-48F872CAE00A}"/>
              </a:ext>
            </a:extLst>
          </p:cNvPr>
          <p:cNvSpPr txBox="1"/>
          <p:nvPr/>
        </p:nvSpPr>
        <p:spPr>
          <a:xfrm>
            <a:off x="3529780" y="147484"/>
            <a:ext cx="42770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/>
              <a:t>SUMMARISATION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C756B6-4AB9-FC5A-851B-BF5D85142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690" y="501427"/>
            <a:ext cx="8908026" cy="42715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B4BAC1-1FC2-B757-60BE-AD687792A8DA}"/>
              </a:ext>
            </a:extLst>
          </p:cNvPr>
          <p:cNvSpPr txBox="1"/>
          <p:nvPr/>
        </p:nvSpPr>
        <p:spPr>
          <a:xfrm>
            <a:off x="521109" y="4249709"/>
            <a:ext cx="55748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What it does internally :</a:t>
            </a:r>
          </a:p>
          <a:p>
            <a:r>
              <a:rPr lang="en-US" b="1" dirty="0"/>
              <a:t>*</a:t>
            </a:r>
            <a:r>
              <a:rPr lang="en-US" b="1" dirty="0" err="1"/>
              <a:t>TextRank</a:t>
            </a:r>
            <a:r>
              <a:rPr lang="en-US" b="1" dirty="0"/>
              <a:t> is an ALGORITHM,</a:t>
            </a:r>
          </a:p>
          <a:p>
            <a:r>
              <a:rPr lang="en-US" b="1" dirty="0"/>
              <a:t> More precisely: a graph-based ranking algorithm</a:t>
            </a:r>
            <a:endParaRPr lang="en-US" b="1" u="sng" dirty="0"/>
          </a:p>
          <a:p>
            <a:r>
              <a:rPr lang="en-US" b="1" dirty="0"/>
              <a:t>* Split document into sentences</a:t>
            </a:r>
            <a:br>
              <a:rPr lang="en-US" b="1" dirty="0"/>
            </a:br>
            <a:r>
              <a:rPr lang="en-US" b="1" dirty="0"/>
              <a:t>* Find important words (frequency-based)</a:t>
            </a:r>
            <a:br>
              <a:rPr lang="en-US" b="1" dirty="0"/>
            </a:br>
            <a:r>
              <a:rPr lang="en-US" b="1" dirty="0"/>
              <a:t>*Score each sentence</a:t>
            </a:r>
            <a:br>
              <a:rPr lang="en-US" b="1" dirty="0"/>
            </a:br>
            <a:r>
              <a:rPr lang="en-US" b="1" dirty="0"/>
              <a:t>*Pick top N sentences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7D1A49-5A2C-0A4C-8240-7C323852C726}"/>
              </a:ext>
            </a:extLst>
          </p:cNvPr>
          <p:cNvSpPr txBox="1"/>
          <p:nvPr/>
        </p:nvSpPr>
        <p:spPr>
          <a:xfrm>
            <a:off x="6322142" y="4301044"/>
            <a:ext cx="517176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*BART is a deep neural network</a:t>
            </a:r>
          </a:p>
          <a:p>
            <a:r>
              <a:rPr lang="en-IN" b="1" dirty="0"/>
              <a:t>*Nearly 400 million parameters</a:t>
            </a:r>
          </a:p>
          <a:p>
            <a:r>
              <a:rPr lang="en-IN" b="1" dirty="0"/>
              <a:t>*Transformer-based (encoder–decoder)</a:t>
            </a:r>
          </a:p>
          <a:p>
            <a:r>
              <a:rPr lang="en-IN" b="1" dirty="0"/>
              <a:t>*Designed for semantic understanding + generation</a:t>
            </a:r>
          </a:p>
          <a:p>
            <a:r>
              <a:rPr lang="en-IN" b="1" dirty="0"/>
              <a:t>*I used DISTILBART  for summarisation it gives maximum of 220 words it is slow on CPU but gives very accurate results.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9268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583B0A-A143-F916-9FE6-09EACDA2136A}"/>
              </a:ext>
            </a:extLst>
          </p:cNvPr>
          <p:cNvSpPr txBox="1"/>
          <p:nvPr/>
        </p:nvSpPr>
        <p:spPr>
          <a:xfrm>
            <a:off x="1646994" y="49106"/>
            <a:ext cx="80919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/>
              <a:t>INSIGHTS AND VISUALIZATIONS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0E2119-3F7E-0663-4E81-FBB9FD8B2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73" y="777005"/>
            <a:ext cx="8588570" cy="33921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5560DA-4677-F16E-8A61-7862D0DD45D0}"/>
              </a:ext>
            </a:extLst>
          </p:cNvPr>
          <p:cNvSpPr txBox="1"/>
          <p:nvPr/>
        </p:nvSpPr>
        <p:spPr>
          <a:xfrm>
            <a:off x="196645" y="4189148"/>
            <a:ext cx="1179871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This project successfully demonstrates how Artificial Intelligence and Natural Language Processing can transform unstructured text into meaningful, human-understandable insights.</a:t>
            </a:r>
          </a:p>
          <a:p>
            <a:r>
              <a:rPr lang="en-US" b="1" dirty="0"/>
              <a:t>By combining semantic understanding (AI-based models) with statistical topic modeling (LDA), the system overcomes the limitations of traditional text analysis and delivers accurate, context-aware topic detection. The inclusion of both rule-based and neural network–based sentiment analysis ensures reliable emotional interpretation of content, while automatic summarization helps users quickly grasp the core meaning of large documents.</a:t>
            </a:r>
          </a:p>
          <a:p>
            <a:r>
              <a:rPr lang="en-US" b="1" dirty="0"/>
              <a:t>This project successfully demonstrates how Artificial Intelligence and Natural Language Processing can transform unstructured text into meaningful, human-understandable insights.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74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FBE6A4-BAFA-5306-414E-0128EE7CC9DE}"/>
              </a:ext>
            </a:extLst>
          </p:cNvPr>
          <p:cNvSpPr txBox="1"/>
          <p:nvPr/>
        </p:nvSpPr>
        <p:spPr>
          <a:xfrm>
            <a:off x="1798320" y="2474892"/>
            <a:ext cx="931672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114706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{C9056862-9D38-48A0-AD0B-9BCCCECA6413}TFb5ae2469-0bae-4978-b0e0-39dd046150ff9a115ede-a9c3cc5252b0</Template>
  <TotalTime>667</TotalTime>
  <Words>1219</Words>
  <Application>Microsoft Office PowerPoint</Application>
  <PresentationFormat>Widescreen</PresentationFormat>
  <Paragraphs>149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Bahnschrift SemiBold</vt:lpstr>
      <vt:lpstr>Calibri</vt:lpstr>
      <vt:lpstr>Calibri Light</vt:lpstr>
      <vt:lpstr>Wingdings</vt:lpstr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Hymavathi Menda</dc:creator>
  <cp:lastModifiedBy>Hymavathi Menda</cp:lastModifiedBy>
  <cp:revision>2</cp:revision>
  <dcterms:created xsi:type="dcterms:W3CDTF">2026-01-21T01:11:26Z</dcterms:created>
  <dcterms:modified xsi:type="dcterms:W3CDTF">2026-01-22T11:53:22Z</dcterms:modified>
</cp:coreProperties>
</file>